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embeddedFontLst>
    <p:embeddedFont>
      <p:font typeface="Montserrat" pitchFamily="2" charset="77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4"/>
    <p:restoredTop sz="94706"/>
  </p:normalViewPr>
  <p:slideViewPr>
    <p:cSldViewPr snapToGrid="0">
      <p:cViewPr varScale="1">
        <p:scale>
          <a:sx n="290" d="100"/>
          <a:sy n="290" d="100"/>
        </p:scale>
        <p:origin x="1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1508784-03E0-0852-E92B-2DB8F9B3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BD4433B-ABDB-0F36-9F34-6E0378233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C5F5BFDB-D750-3D11-0BEC-CB65D0E68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4140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12ECAF8-D405-5946-3A71-73D73C5B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3FAA4F2B-4836-3671-7E6D-A5CE1D0E65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37930796-6BE0-18EF-FC01-8EBD0EF8C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6133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3203846-B567-5DD7-426A-AF8622591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BC43393-28C6-3C98-86AF-25C006E76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5ADF28B5-600A-5EF2-6E37-B5E2C2E0A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9636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E1E551A-3B2A-8B03-2D1F-6FE09430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F870D056-B82E-425D-3030-91A085F2B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2A456F7A-A170-F747-F598-61892247E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2271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hyperlink" Target="https://blog.stackademic.com/beginners-guide-to-amazon-s3-supercharge-your-cloud-storage-skills-1ccc9dbbb2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dev.classmethod.jp/articles/glacier-instructions-001/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b.hatena.ne.jp/entry/s/dev.classmethod.jp/articles/zoom-out-or-split-aws-ebs-root-volume-in-windows-use-diskpart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бел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D382426-30CA-4FD9-AD51-B1218D04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291D0E-19A9-07D5-2459-FB502A69E287}"/>
              </a:ext>
            </a:extLst>
          </p:cNvPr>
          <p:cNvSpPr txBox="1"/>
          <p:nvPr/>
        </p:nvSpPr>
        <p:spPr>
          <a:xfrm>
            <a:off x="796802" y="1905506"/>
            <a:ext cx="10598395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600" b="1" dirty="0">
                <a:solidFill>
                  <a:schemeClr val="bg2"/>
                </a:solidFill>
                <a:latin typeface="Montserrat" pitchFamily="2" charset="77"/>
              </a:rPr>
              <a:t>AWS STORAGE:</a:t>
            </a:r>
          </a:p>
          <a:p>
            <a:pPr algn="ctr"/>
            <a:r>
              <a:rPr lang="en-US" sz="9600" b="1" dirty="0">
                <a:solidFill>
                  <a:schemeClr val="bg2"/>
                </a:solidFill>
                <a:latin typeface="Montserrat" pitchFamily="2" charset="77"/>
              </a:rPr>
              <a:t> S3 AND EBS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A78BA4-F686-1ACF-2947-85D1CCC7A761}"/>
              </a:ext>
            </a:extLst>
          </p:cNvPr>
          <p:cNvSpPr txBox="1"/>
          <p:nvPr/>
        </p:nvSpPr>
        <p:spPr>
          <a:xfrm>
            <a:off x="411061" y="892269"/>
            <a:ext cx="11115654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Introduction to AWS Storage Solutions.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Understanding Amazon S3 (Simple Storage Service).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Understanding Amazon EBS (Elastic Block Store).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Hands-on: Creating and Managing S3 Buckets and EBS Volumes.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different AWS storage options and their use cases.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how to store and retrieve data in S3.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how to create and attach EBS volumes to EC2 instances.</a:t>
            </a:r>
          </a:p>
        </p:txBody>
      </p:sp>
      <p:pic>
        <p:nvPicPr>
          <p:cNvPr id="13" name="Picture 12" descr="A green and white logo&#10;&#10;Description automatically generated">
            <a:extLst>
              <a:ext uri="{FF2B5EF4-FFF2-40B4-BE49-F238E27FC236}">
                <a16:creationId xmlns:a16="http://schemas.microsoft.com/office/drawing/2014/main" id="{EE88E8B2-52AC-3E94-20FD-0848C2BAFE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580199" y="4957958"/>
            <a:ext cx="2515368" cy="1320568"/>
          </a:xfrm>
          <a:prstGeom prst="rect">
            <a:avLst/>
          </a:prstGeom>
        </p:spPr>
      </p:pic>
      <p:pic>
        <p:nvPicPr>
          <p:cNvPr id="15" name="Picture 14" descr="A logo for a storage company&#10;&#10;Description automatically generated">
            <a:extLst>
              <a:ext uri="{FF2B5EF4-FFF2-40B4-BE49-F238E27FC236}">
                <a16:creationId xmlns:a16="http://schemas.microsoft.com/office/drawing/2014/main" id="{F94A3DB2-A1F3-C8AF-C963-349E62D199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11061" y="4957958"/>
            <a:ext cx="2515368" cy="1320568"/>
          </a:xfrm>
          <a:prstGeom prst="rect">
            <a:avLst/>
          </a:prstGeom>
        </p:spPr>
      </p:pic>
      <p:pic>
        <p:nvPicPr>
          <p:cNvPr id="17" name="Picture 16" descr="A logo for a company&#10;&#10;Description automatically generated">
            <a:extLst>
              <a:ext uri="{FF2B5EF4-FFF2-40B4-BE49-F238E27FC236}">
                <a16:creationId xmlns:a16="http://schemas.microsoft.com/office/drawing/2014/main" id="{49F7ACAA-F808-2CF1-3350-E44E3B21B3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322417" y="4957958"/>
            <a:ext cx="2515368" cy="1320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477498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AWS Storage Solutions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0639B-1387-9337-C3BD-88AA9F87C4F2}"/>
              </a:ext>
            </a:extLst>
          </p:cNvPr>
          <p:cNvSpPr txBox="1"/>
          <p:nvPr/>
        </p:nvSpPr>
        <p:spPr>
          <a:xfrm>
            <a:off x="411061" y="902902"/>
            <a:ext cx="11074156" cy="4530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Why Storage Matters in the Cloud?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Store and retrieve data efficiently at scale.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Improve performance and durability of applications.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Enable backup, disaster recovery, and cost optimization.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AWS Storage Types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Object Storage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Amazon S3 (scalable object storage for files and backups).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Block Storage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Amazon EBS (persistent block-level storage for EC2 instances).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File Storage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Amazon EFS (shared file system storage for Linux instances).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Cold Storage &amp; Archiving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Amazon Glacier (low-cost archival storage for long-term retention).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A87F35D-D6DB-10B3-2514-EC7C9AE9D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34949D86-EE74-1B87-59B0-7D950C8631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7F2C5819-D0BD-6215-EFC5-703D965303F6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0E646E6F-9C2F-1CBF-016B-EB1712B135C5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BB5991D-36CB-9ED4-9077-173656C0AD6C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Amazon S3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62667-F929-13B6-35B2-86FD84F0BDF8}"/>
              </a:ext>
            </a:extLst>
          </p:cNvPr>
          <p:cNvSpPr txBox="1"/>
          <p:nvPr/>
        </p:nvSpPr>
        <p:spPr>
          <a:xfrm>
            <a:off x="411060" y="853473"/>
            <a:ext cx="11100661" cy="4345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Amazon S3?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Scalable object storage service</a:t>
            </a:r>
            <a:r>
              <a:rPr lang="en-US" dirty="0"/>
              <a:t> designed for high durability (99.999999999%).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Stores files, backups, logs, and other unstructured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Supports </a:t>
            </a:r>
            <a:r>
              <a:rPr lang="en-US" b="1" dirty="0"/>
              <a:t>versioning, encryption, lifecycle policies, and access control.</a:t>
            </a: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S3 Storage Classes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Standard</a:t>
            </a:r>
            <a:r>
              <a:rPr lang="en-US" dirty="0"/>
              <a:t> - General-purpose storage with high durability and availability.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Standard-IA (Infrequent Access)</a:t>
            </a:r>
            <a:r>
              <a:rPr lang="en-US" dirty="0"/>
              <a:t> - Lower-cost storage for less-accessed data.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Glacier &amp; Glacier Deep Archive</a:t>
            </a:r>
            <a:r>
              <a:rPr lang="en-US" dirty="0"/>
              <a:t> - For long-term backups and archiving.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Working with S3 Buckets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Buckets</a:t>
            </a:r>
            <a:r>
              <a:rPr lang="en-US" dirty="0"/>
              <a:t>: Containers for storing objects.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Objects</a:t>
            </a:r>
            <a:r>
              <a:rPr lang="en-US" dirty="0"/>
              <a:t>: Files stored in buckets.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Lifecycle Policies</a:t>
            </a:r>
            <a:r>
              <a:rPr lang="en-US" dirty="0"/>
              <a:t>: Automate moving objects between storage classes.</a:t>
            </a:r>
          </a:p>
        </p:txBody>
      </p:sp>
    </p:spTree>
    <p:extLst>
      <p:ext uri="{BB962C8B-B14F-4D97-AF65-F5344CB8AC3E}">
        <p14:creationId xmlns:p14="http://schemas.microsoft.com/office/powerpoint/2010/main" val="289831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C276C61-5D92-0C7A-6E59-6657B4BF6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CC76DCAF-C1B9-C4F2-DD5C-CBBFCA9A22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71F934F8-6ECE-1FFB-5A89-EE314E61195C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7FDEC6A-46B4-B7D2-1341-63B99013EF9A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C3100D2-F698-F82B-4871-94A7DBCFFB73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Amazon EBS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6AB9E-3464-3EEE-8E60-5DB59BB137BD}"/>
              </a:ext>
            </a:extLst>
          </p:cNvPr>
          <p:cNvSpPr txBox="1"/>
          <p:nvPr/>
        </p:nvSpPr>
        <p:spPr>
          <a:xfrm>
            <a:off x="411061" y="853472"/>
            <a:ext cx="11118330" cy="402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Amazon EBS?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Persistent block storage</a:t>
            </a:r>
            <a:r>
              <a:rPr lang="en-US" dirty="0"/>
              <a:t> used for EC2 instances.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Designed for </a:t>
            </a:r>
            <a:r>
              <a:rPr lang="en-US" b="1" dirty="0"/>
              <a:t>high-performance and low-latency</a:t>
            </a:r>
            <a:r>
              <a:rPr lang="en-US" dirty="0"/>
              <a:t> workloads.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Volumes remain </a:t>
            </a:r>
            <a:r>
              <a:rPr lang="en-US" b="1" dirty="0"/>
              <a:t>independent of the EC2 instance’s lifecycle</a:t>
            </a:r>
            <a:r>
              <a:rPr lang="en-US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EBS Volume Types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General Purpose SSD (gp3, gp2)</a:t>
            </a:r>
            <a:r>
              <a:rPr lang="en-US" dirty="0"/>
              <a:t> - Balances price and performance.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Provisioned IOPS SSD (io1, io2)</a:t>
            </a:r>
            <a:r>
              <a:rPr lang="en-US" dirty="0"/>
              <a:t> - High-performance for intensive workloads.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Magnetic HDD (st1, sc1)</a:t>
            </a:r>
            <a:r>
              <a:rPr lang="en-US" dirty="0"/>
              <a:t> - Low-cost storage for sequential workloads.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EBS Snapshots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Create backups</a:t>
            </a:r>
            <a:r>
              <a:rPr lang="en-US" dirty="0"/>
              <a:t> of EBS volumes.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Restore volumes</a:t>
            </a:r>
            <a:r>
              <a:rPr lang="en-US" dirty="0"/>
              <a:t> from snapshots.</a:t>
            </a:r>
          </a:p>
        </p:txBody>
      </p:sp>
    </p:spTree>
    <p:extLst>
      <p:ext uri="{BB962C8B-B14F-4D97-AF65-F5344CB8AC3E}">
        <p14:creationId xmlns:p14="http://schemas.microsoft.com/office/powerpoint/2010/main" val="1540955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A627BA-8500-DC3E-6D81-40A53142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0D84BFFA-AE7B-7258-6053-4DA389BCFE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241F68BE-B0FE-8D1F-B6A7-D785733D1FB3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F2A5C0CA-F44C-7FAC-6827-5749B971A0C7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5C4FE01-A08F-38AE-E782-32A7575573A3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31656-0BAB-B533-9731-5026BDAA149C}"/>
              </a:ext>
            </a:extLst>
          </p:cNvPr>
          <p:cNvSpPr txBox="1"/>
          <p:nvPr/>
        </p:nvSpPr>
        <p:spPr>
          <a:xfrm>
            <a:off x="411061" y="898173"/>
            <a:ext cx="6097464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S3 Hands-on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an S3 bucket using the AWS CLI.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Upload a file to the bucket and set permissions.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Enable versioning and test object retrieval.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EBS Hands-on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an EBS volume.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Attach it to an EC2 instance.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Format and mount the volume for use.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Take an EBS snapshot and restore from it.</a:t>
            </a:r>
          </a:p>
        </p:txBody>
      </p:sp>
    </p:spTree>
    <p:extLst>
      <p:ext uri="{BB962C8B-B14F-4D97-AF65-F5344CB8AC3E}">
        <p14:creationId xmlns:p14="http://schemas.microsoft.com/office/powerpoint/2010/main" val="139231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CAB30E3-39C6-F3F0-776D-6A029F95C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85CB8F7D-4D96-CCA4-0D03-1FF9614E45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243341DB-82E3-66DC-CB56-913C014B1D35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1A15A453-659E-49F9-2970-E59681B42C7F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945D107-922D-93E6-2B69-19B07B2B201B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92A190-49AB-3AB5-9AE7-5B8316FBD51E}"/>
              </a:ext>
            </a:extLst>
          </p:cNvPr>
          <p:cNvSpPr txBox="1"/>
          <p:nvPr/>
        </p:nvSpPr>
        <p:spPr>
          <a:xfrm>
            <a:off x="411060" y="939632"/>
            <a:ext cx="11204157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Work with S3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an S3 bucket and enable lifecycle policies.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Upload files and move them between storage classes.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Work with EBS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and attach an EBS volume to your EC2 instance.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Snapshot your EBS volume and restore it.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Explore AWS CLI for Storage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AWS CLI to automate S3 and EBS tasks.</a:t>
            </a:r>
          </a:p>
        </p:txBody>
      </p:sp>
    </p:spTree>
    <p:extLst>
      <p:ext uri="{BB962C8B-B14F-4D97-AF65-F5344CB8AC3E}">
        <p14:creationId xmlns:p14="http://schemas.microsoft.com/office/powerpoint/2010/main" val="637291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2EF4175-80FB-49A1-A042-D35D0E8F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539</Words>
  <Application>Microsoft Macintosh PowerPoint</Application>
  <PresentationFormat>Widescreen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Varsenik</dc:creator>
  <cp:lastModifiedBy>Grigoryan, Grigor (external - Project)</cp:lastModifiedBy>
  <cp:revision>2</cp:revision>
  <dcterms:created xsi:type="dcterms:W3CDTF">2024-08-30T07:18:33Z</dcterms:created>
  <dcterms:modified xsi:type="dcterms:W3CDTF">2025-02-08T00:29:36Z</dcterms:modified>
</cp:coreProperties>
</file>