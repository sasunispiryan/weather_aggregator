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5" r:id="rId9"/>
    <p:sldId id="266" r:id="rId10"/>
    <p:sldId id="267" r:id="rId11"/>
    <p:sldId id="260" r:id="rId12"/>
    <p:sldId id="261" r:id="rId13"/>
  </p:sldIdLst>
  <p:sldSz cx="12192000" cy="6858000"/>
  <p:notesSz cx="6858000" cy="9144000"/>
  <p:embeddedFontLst>
    <p:embeddedFont>
      <p:font typeface="Montserrat" pitchFamily="2" charset="77"/>
      <p:regular r:id="rId15"/>
      <p:bold r:id="rId16"/>
      <p:italic r:id="rId17"/>
      <p:boldItalic r:id="rId18"/>
    </p:embeddedFont>
    <p:embeddedFont>
      <p:font typeface="Montserrat Black" panose="020F0502020204030204" pitchFamily="34" charset="0"/>
      <p:bold r:id="rId19"/>
      <p:italic r:id="rId20"/>
      <p:boldItalic r:id="rId21"/>
    </p:embeddedFont>
    <p:embeddedFont>
      <p:font typeface="Montserrat SemiBold" panose="020F0502020204030204" pitchFamily="34" charset="0"/>
      <p:regular r:id="rId22"/>
      <p:bold r:id="rId23"/>
      <p:italic r:id="rId24"/>
      <p:boldItalic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26" roundtripDataSignature="AMtx7mgNL8pbwwZrNCbTtm7lRLch0r2u/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860"/>
    <p:restoredTop sz="94676"/>
  </p:normalViewPr>
  <p:slideViewPr>
    <p:cSldViewPr snapToGrid="0">
      <p:cViewPr varScale="1">
        <p:scale>
          <a:sx n="290" d="100"/>
          <a:sy n="290" d="100"/>
        </p:scale>
        <p:origin x="133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26" Type="http://customschemas.google.com/relationships/presentationmetadata" Target="metadata"/><Relationship Id="rId3" Type="http://schemas.openxmlformats.org/officeDocument/2006/relationships/slide" Target="slides/slide2.xml"/><Relationship Id="rId21" Type="http://schemas.openxmlformats.org/officeDocument/2006/relationships/font" Target="fonts/font7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font" Target="fonts/font11.fntdata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0.fntdata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font" Target="fonts/font9.fntdata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font" Target="fonts/font8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8" name="Google Shape;8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0A4A6923-3BFE-8147-B503-5D3B3B7DFD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00AC3482-CC77-9FFD-4B56-81396F5B59D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10BE0F5C-EDD6-2A84-86ED-4761EC4BEA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5573617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D84C610F-A861-1B27-5D74-D531B9DF0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38A4907C-7628-7F18-D771-1D5F364ADB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C415F4E-29DE-9BBA-FB40-E16F3B650F1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4766793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466DA67D-4A26-BEA0-6400-DBD086B417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F2DA7270-2972-B309-5761-079FDEE6763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88D748EB-CCC7-A5C8-F34B-14E20DEDC8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79248937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35D4938B-9FB2-0844-A713-C9C2E9F176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D50177A1-8FB3-DB13-AC48-321817866C4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7C2F34C7-F593-6024-5598-9EB4D35DD9B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0466004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1435C176-FCAE-CFAF-0517-A7AB6900DF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56546A88-7544-3517-046D-407119C392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FCB5FBAF-3B4D-C9B4-6155-560F6ACF204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152357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99997EDF-4BCE-943D-377E-D8C8C739F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4:notes">
            <a:extLst>
              <a:ext uri="{FF2B5EF4-FFF2-40B4-BE49-F238E27FC236}">
                <a16:creationId xmlns:a16="http://schemas.microsoft.com/office/drawing/2014/main" id="{56F504F8-2CC7-06AA-5F21-ABED7061C24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4:notes">
            <a:extLst>
              <a:ext uri="{FF2B5EF4-FFF2-40B4-BE49-F238E27FC236}">
                <a16:creationId xmlns:a16="http://schemas.microsoft.com/office/drawing/2014/main" id="{81BB0542-4741-E8A2-7C66-D9AAB8ECDCA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41688094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" name="Google Shape;14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" name="Google Shape;15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" name="Google Shape;16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9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20" name="Google Shape;20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10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Google Shape;26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1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2" name="Google Shape;32;p11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3" name="Google Shape;33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12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9" name="Google Shape;39;p12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0" name="Google Shape;40;p12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1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1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1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5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15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58" name="Google Shape;58;p1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6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7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git-scm.com/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b="0" i="0" u="none" strike="noStrike" cap="none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85" name="Google Shape;85;p1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/>
          <p:nvPr/>
        </p:nvSpPr>
        <p:spPr>
          <a:xfrm>
            <a:off x="0" y="-26194"/>
            <a:ext cx="12192000" cy="228600"/>
          </a:xfrm>
          <a:prstGeom prst="rect">
            <a:avLst/>
          </a:prstGeom>
          <a:solidFill>
            <a:srgbClr val="7B8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2"/>
          <p:cNvSpPr txBox="1"/>
          <p:nvPr/>
        </p:nvSpPr>
        <p:spPr>
          <a:xfrm>
            <a:off x="407240" y="1351528"/>
            <a:ext cx="11377515" cy="41549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GIT BASICS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AND </a:t>
            </a: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800" dirty="0">
                <a:solidFill>
                  <a:srgbClr val="3A3E47"/>
                </a:solidFill>
                <a:latin typeface="Montserrat Black"/>
                <a:ea typeface="Montserrat Black"/>
                <a:cs typeface="Montserrat Black"/>
                <a:sym typeface="Montserrat Black"/>
              </a:rPr>
              <a:t>ADVANCED</a:t>
            </a:r>
            <a:endParaRPr dirty="0"/>
          </a:p>
        </p:txBody>
      </p:sp>
      <p:sp>
        <p:nvSpPr>
          <p:cNvPr id="92" name="Google Shape;92;p2"/>
          <p:cNvSpPr txBox="1"/>
          <p:nvPr/>
        </p:nvSpPr>
        <p:spPr>
          <a:xfrm>
            <a:off x="5282116" y="5965079"/>
            <a:ext cx="1885950" cy="5232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bdg.am</a:t>
            </a:r>
            <a:endParaRPr/>
          </a:p>
        </p:txBody>
      </p:sp>
      <p:pic>
        <p:nvPicPr>
          <p:cNvPr id="93" name="Google Shape;93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  <p:pic>
        <p:nvPicPr>
          <p:cNvPr id="94" name="Google Shape;94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510949" y="-673873"/>
            <a:ext cx="3170099" cy="31700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Google Shape;99;p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0" name="Google Shape;100;p3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1" name="Google Shape;101;p3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/>
          </a:p>
        </p:txBody>
      </p:sp>
      <p:sp>
        <p:nvSpPr>
          <p:cNvPr id="102" name="Google Shape;102;p3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Introduction to Git</a:t>
            </a:r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941511-8BBF-9E6D-2F21-0459035BF5D4}"/>
              </a:ext>
            </a:extLst>
          </p:cNvPr>
          <p:cNvSpPr txBox="1"/>
          <p:nvPr/>
        </p:nvSpPr>
        <p:spPr>
          <a:xfrm>
            <a:off x="411061" y="824219"/>
            <a:ext cx="11106862" cy="36995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2"/>
                </a:solidFill>
              </a:rPr>
              <a:t>What is Git?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Definition</a:t>
            </a:r>
            <a:r>
              <a:rPr lang="en-US" dirty="0"/>
              <a:t>: Git is a distributed version control system that helps developers track changes in their codebase and collaborate effectively.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Why Git?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Tracks file changes over time.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Enables collaboration with multiple contributors.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Ensures codebase stability with branching and merging.</a:t>
            </a:r>
          </a:p>
          <a:p>
            <a:pPr>
              <a:lnSpc>
                <a:spcPct val="150000"/>
              </a:lnSpc>
            </a:pPr>
            <a:r>
              <a:rPr lang="en-US" sz="1600" b="1" dirty="0">
                <a:solidFill>
                  <a:schemeClr val="bg2"/>
                </a:solidFill>
              </a:rPr>
              <a:t>Key Concepts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Version Control</a:t>
            </a:r>
            <a:r>
              <a:rPr lang="en-US" dirty="0"/>
              <a:t>: A system for managing changes to files.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Repository</a:t>
            </a:r>
            <a:r>
              <a:rPr lang="en-US" dirty="0"/>
              <a:t>: A storage space for your code.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Commit</a:t>
            </a:r>
            <a:r>
              <a:rPr lang="en-US" dirty="0"/>
              <a:t>: A snapshot of your changes.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b="1" dirty="0"/>
              <a:t> Branch</a:t>
            </a:r>
            <a:r>
              <a:rPr lang="en-US" dirty="0"/>
              <a:t>: A parallel line of development.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/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/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>
                <a:solidFill>
                  <a:schemeClr val="l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/>
          </a:p>
        </p:txBody>
      </p:sp>
      <p:sp>
        <p:nvSpPr>
          <p:cNvPr id="110" name="Google Shape;110;p4"/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Setting up Git</a:t>
            </a:r>
            <a:endParaRPr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19B82A9-9A8D-E4E1-BC8D-E803F5701DFB}"/>
              </a:ext>
            </a:extLst>
          </p:cNvPr>
          <p:cNvSpPr txBox="1"/>
          <p:nvPr/>
        </p:nvSpPr>
        <p:spPr>
          <a:xfrm>
            <a:off x="411060" y="905457"/>
            <a:ext cx="10966185" cy="41857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Installing 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Linux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your package manager: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Debian/Ubuntu: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apt</a:t>
            </a:r>
            <a:r>
              <a:rPr lang="en-US" dirty="0"/>
              <a:t> install git</a:t>
            </a:r>
          </a:p>
          <a:p>
            <a:pPr marL="1143000" lvl="2" indent="-228600">
              <a:buFont typeface="Arial" panose="020B0604020202020204" pitchFamily="34" charset="0"/>
              <a:buChar char="•"/>
            </a:pPr>
            <a:r>
              <a:rPr lang="en-US" dirty="0"/>
              <a:t>Red Hat/CentOS: </a:t>
            </a:r>
            <a:r>
              <a:rPr lang="en-US" dirty="0" err="1"/>
              <a:t>sudo</a:t>
            </a:r>
            <a:r>
              <a:rPr lang="en-US" dirty="0"/>
              <a:t> </a:t>
            </a:r>
            <a:r>
              <a:rPr lang="en-US" dirty="0">
                <a:solidFill>
                  <a:schemeClr val="accent6"/>
                </a:solidFill>
              </a:rPr>
              <a:t>yum</a:t>
            </a:r>
            <a:r>
              <a:rPr lang="en-US" dirty="0"/>
              <a:t> install 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Windows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Download and install from </a:t>
            </a:r>
            <a:r>
              <a:rPr lang="en-US" dirty="0">
                <a:hlinkClick r:id="rId4"/>
              </a:rPr>
              <a:t>git-scm.com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 MacOS</a:t>
            </a:r>
            <a:r>
              <a:rPr lang="en-US" dirty="0"/>
              <a:t>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Use Homebrew: </a:t>
            </a:r>
            <a:r>
              <a:rPr lang="en-US" dirty="0">
                <a:solidFill>
                  <a:schemeClr val="accent6"/>
                </a:solidFill>
              </a:rPr>
              <a:t>brew</a:t>
            </a:r>
            <a:r>
              <a:rPr lang="en-US" dirty="0"/>
              <a:t> install git.</a:t>
            </a:r>
          </a:p>
          <a:p>
            <a:endParaRPr lang="en-US" b="1" dirty="0"/>
          </a:p>
          <a:p>
            <a:r>
              <a:rPr lang="en-US" b="1" dirty="0"/>
              <a:t>Configuring Git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Set up your identity: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config </a:t>
            </a:r>
            <a:r>
              <a:rPr lang="en-US" dirty="0">
                <a:solidFill>
                  <a:schemeClr val="accent1"/>
                </a:solidFill>
              </a:rPr>
              <a:t>--global </a:t>
            </a:r>
            <a:r>
              <a:rPr lang="en-US" dirty="0" err="1"/>
              <a:t>user.name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"Your Name" </a:t>
            </a:r>
          </a:p>
          <a:p>
            <a:r>
              <a:rPr lang="en-US" dirty="0"/>
              <a:t>	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config </a:t>
            </a:r>
            <a:r>
              <a:rPr lang="en-US" dirty="0">
                <a:solidFill>
                  <a:schemeClr val="accent1"/>
                </a:solidFill>
              </a:rPr>
              <a:t>--global </a:t>
            </a:r>
            <a:r>
              <a:rPr lang="en-US" dirty="0" err="1"/>
              <a:t>user.email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"</a:t>
            </a:r>
            <a:r>
              <a:rPr lang="en-US" dirty="0" err="1">
                <a:solidFill>
                  <a:srgbClr val="FF0000"/>
                </a:solidFill>
              </a:rPr>
              <a:t>youremail@example.com</a:t>
            </a:r>
            <a:r>
              <a:rPr lang="en-US" dirty="0">
                <a:solidFill>
                  <a:srgbClr val="FF0000"/>
                </a:solidFill>
              </a:rPr>
              <a:t>"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Verify your configuration:</a:t>
            </a:r>
            <a:br>
              <a:rPr lang="en-US" dirty="0"/>
            </a:br>
            <a:r>
              <a:rPr lang="en-US" dirty="0"/>
              <a:t>	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config </a:t>
            </a:r>
            <a:r>
              <a:rPr lang="en-US" dirty="0">
                <a:solidFill>
                  <a:schemeClr val="accent1"/>
                </a:solidFill>
              </a:rPr>
              <a:t>--list</a:t>
            </a:r>
          </a:p>
          <a:p>
            <a:pPr lvl="1"/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 marL="457200" lvl="1"/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D3C2BA4-6ACC-06C2-875C-24765FCB5A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AE9C2F89-C715-9B6A-D702-07E2B4331E40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B7EBF5F4-67C4-166A-AB9A-106469FB5690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D9916E15-3087-B66D-7E85-0F94E97497EA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3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033AB50-40AA-5C37-2A6A-1D880D576148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Basic Git Commands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30D0FC5-51DA-5904-6BF2-9D3B61975673}"/>
              </a:ext>
            </a:extLst>
          </p:cNvPr>
          <p:cNvSpPr txBox="1"/>
          <p:nvPr/>
        </p:nvSpPr>
        <p:spPr>
          <a:xfrm>
            <a:off x="411060" y="824219"/>
            <a:ext cx="11080485" cy="437042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2"/>
                </a:solidFill>
              </a:rPr>
              <a:t>Initializing and Committing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Create a new repository:</a:t>
            </a:r>
          </a:p>
          <a:p>
            <a:r>
              <a:rPr lang="en-US" dirty="0">
                <a:solidFill>
                  <a:schemeClr val="accent6"/>
                </a:solidFill>
              </a:rPr>
              <a:t>  git</a:t>
            </a:r>
            <a:r>
              <a:rPr lang="en-US" dirty="0"/>
              <a:t> </a:t>
            </a:r>
            <a:r>
              <a:rPr lang="en-US" dirty="0" err="1"/>
              <a:t>init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Add files to the staging area:</a:t>
            </a:r>
          </a:p>
          <a:p>
            <a:r>
              <a:rPr lang="en-US" dirty="0">
                <a:solidFill>
                  <a:schemeClr val="accent6"/>
                </a:solidFill>
              </a:rPr>
              <a:t>  git</a:t>
            </a:r>
            <a:r>
              <a:rPr lang="en-US" dirty="0"/>
              <a:t> add </a:t>
            </a:r>
            <a:r>
              <a:rPr lang="en-US" dirty="0">
                <a:solidFill>
                  <a:srgbClr val="FF0000"/>
                </a:solidFill>
              </a:rPr>
              <a:t>&lt;file&gt;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Commit changes:</a:t>
            </a:r>
          </a:p>
          <a:p>
            <a:r>
              <a:rPr lang="en-US" dirty="0">
                <a:solidFill>
                  <a:schemeClr val="accent6"/>
                </a:solidFill>
              </a:rPr>
              <a:t>  git</a:t>
            </a:r>
            <a:r>
              <a:rPr lang="en-US" dirty="0"/>
              <a:t> commit </a:t>
            </a:r>
            <a:r>
              <a:rPr lang="en-US" dirty="0">
                <a:solidFill>
                  <a:schemeClr val="accent1"/>
                </a:solidFill>
              </a:rPr>
              <a:t>-m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"Commit message"</a:t>
            </a:r>
          </a:p>
          <a:p>
            <a:pPr algn="ctr"/>
            <a:r>
              <a:rPr lang="en-US" sz="1800" b="1" dirty="0">
                <a:solidFill>
                  <a:schemeClr val="bg2"/>
                </a:solidFill>
              </a:rPr>
              <a:t>Viewing Changes</a:t>
            </a:r>
            <a:br>
              <a:rPr lang="en-US" sz="1800" b="1" dirty="0">
                <a:solidFill>
                  <a:schemeClr val="bg2"/>
                </a:solidFill>
              </a:rPr>
            </a:br>
            <a:endParaRPr lang="en-US" sz="1800" b="1" dirty="0">
              <a:solidFill>
                <a:schemeClr val="bg2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Check the status of your repository:</a:t>
            </a:r>
          </a:p>
          <a:p>
            <a:r>
              <a:rPr lang="en-US" dirty="0">
                <a:solidFill>
                  <a:schemeClr val="accent6"/>
                </a:solidFill>
              </a:rPr>
              <a:t>  git</a:t>
            </a:r>
            <a:r>
              <a:rPr lang="en-US" dirty="0"/>
              <a:t> status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View the history of commits:</a:t>
            </a:r>
          </a:p>
          <a:p>
            <a:r>
              <a:rPr lang="en-US" dirty="0">
                <a:solidFill>
                  <a:schemeClr val="accent6"/>
                </a:solidFill>
              </a:rPr>
              <a:t>  git</a:t>
            </a:r>
            <a:r>
              <a:rPr lang="en-US" dirty="0"/>
              <a:t> log</a:t>
            </a:r>
            <a:br>
              <a:rPr lang="en-US" dirty="0"/>
            </a:b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Check differences in changes:</a:t>
            </a:r>
          </a:p>
          <a:p>
            <a:r>
              <a:rPr lang="en-US" dirty="0">
                <a:solidFill>
                  <a:schemeClr val="accent6"/>
                </a:solidFill>
              </a:rPr>
              <a:t>  git</a:t>
            </a:r>
            <a:r>
              <a:rPr lang="en-US" dirty="0"/>
              <a:t> diff</a:t>
            </a:r>
          </a:p>
        </p:txBody>
      </p:sp>
    </p:spTree>
    <p:extLst>
      <p:ext uri="{BB962C8B-B14F-4D97-AF65-F5344CB8AC3E}">
        <p14:creationId xmlns:p14="http://schemas.microsoft.com/office/powerpoint/2010/main" val="1916813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D8046BB5-ECC2-30DE-60D8-DEB695EC07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E124F5DB-7290-4579-FD67-B314B9383B5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7F2BA9B4-5680-792F-DE24-9B5C82A00A12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8616248A-3DC8-02C4-E1BB-7D6DB8FCC58A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4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F0053CD4-DB59-9CF6-2983-F9C1CB18F36E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Branching and Merging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CB5FCB5-783A-0B10-EE4F-72E061B04E3A}"/>
              </a:ext>
            </a:extLst>
          </p:cNvPr>
          <p:cNvSpPr txBox="1"/>
          <p:nvPr/>
        </p:nvSpPr>
        <p:spPr>
          <a:xfrm>
            <a:off x="411061" y="853472"/>
            <a:ext cx="11164012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2"/>
                </a:solidFill>
              </a:rPr>
              <a:t>Working with Branches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Create a new branch: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branch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branch_name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Switch to a branch: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checkout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branch_name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Combine branch creation and switching: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checkout </a:t>
            </a:r>
            <a:r>
              <a:rPr lang="en-US" dirty="0">
                <a:solidFill>
                  <a:schemeClr val="accent1"/>
                </a:solidFill>
              </a:rPr>
              <a:t>-b</a:t>
            </a:r>
            <a:r>
              <a:rPr lang="en-US" dirty="0"/>
              <a:t>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branch_name</a:t>
            </a:r>
            <a:r>
              <a:rPr lang="en-US" dirty="0">
                <a:solidFill>
                  <a:srgbClr val="FF0000"/>
                </a:solidFill>
              </a:rPr>
              <a:t>&gt;</a:t>
            </a:r>
          </a:p>
          <a:p>
            <a:pPr algn="ctr"/>
            <a:r>
              <a:rPr lang="en-US" sz="1800" b="1" dirty="0">
                <a:solidFill>
                  <a:schemeClr val="bg2"/>
                </a:solidFill>
              </a:rPr>
              <a:t>Merging Branches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Merge another branch into your current branch: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checkout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target_branch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br>
              <a:rPr lang="en-US" dirty="0">
                <a:solidFill>
                  <a:srgbClr val="FF0000"/>
                </a:solidFill>
              </a:rPr>
            </a:br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merge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branch_name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Resolving merge conflicts: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Open conflicting files and manually resolve issues.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dirty="0"/>
              <a:t>Mark the resolution and commit the changes.</a:t>
            </a:r>
          </a:p>
        </p:txBody>
      </p:sp>
    </p:spTree>
    <p:extLst>
      <p:ext uri="{BB962C8B-B14F-4D97-AF65-F5344CB8AC3E}">
        <p14:creationId xmlns:p14="http://schemas.microsoft.com/office/powerpoint/2010/main" val="249520674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4DB9E363-E198-5C76-CD72-6C6266C1D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F478FD8-340F-C92A-408B-E23A99ABD883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5C5E6C1B-7E5E-9EE7-F0A6-42A342B50460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2B3F595A-2288-A815-6B00-44C76C6054B3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5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107EDC1-DE88-3251-C88D-D60E8AEB8E95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Remote Repositories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288212D-3AB5-9BD6-EA08-1DDB30D88E67}"/>
              </a:ext>
            </a:extLst>
          </p:cNvPr>
          <p:cNvSpPr txBox="1"/>
          <p:nvPr/>
        </p:nvSpPr>
        <p:spPr>
          <a:xfrm>
            <a:off x="411060" y="853473"/>
            <a:ext cx="11027731" cy="30162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solidFill>
                  <a:schemeClr val="bg2"/>
                </a:solidFill>
              </a:rPr>
              <a:t>Connecting to Remote Repositories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Clone an existing repository: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clone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repository_url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Link a local repository to a remote one: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remote add origin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repository_url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 algn="ctr"/>
            <a:r>
              <a:rPr lang="en-US" sz="1800" b="1" dirty="0">
                <a:solidFill>
                  <a:schemeClr val="bg2"/>
                </a:solidFill>
              </a:rPr>
              <a:t>Pushing and Pulling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Push changes to the remote repository: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push origin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branch_name</a:t>
            </a:r>
            <a:r>
              <a:rPr lang="en-US" dirty="0">
                <a:solidFill>
                  <a:srgbClr val="FF0000"/>
                </a:solidFill>
              </a:rPr>
              <a:t>&gt;</a:t>
            </a:r>
            <a:br>
              <a:rPr lang="en-US" dirty="0">
                <a:solidFill>
                  <a:srgbClr val="FF0000"/>
                </a:solidFill>
              </a:rPr>
            </a:br>
            <a:endParaRPr lang="en-US" dirty="0">
              <a:solidFill>
                <a:srgbClr val="FF0000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 Pull changes from the remote repository:</a:t>
            </a:r>
          </a:p>
          <a:p>
            <a:r>
              <a:rPr lang="en-US" dirty="0"/>
              <a:t> 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pull origin </a:t>
            </a:r>
            <a:r>
              <a:rPr lang="en-US" dirty="0">
                <a:solidFill>
                  <a:srgbClr val="FF0000"/>
                </a:solidFill>
              </a:rPr>
              <a:t>&lt;</a:t>
            </a:r>
            <a:r>
              <a:rPr lang="en-US" dirty="0" err="1">
                <a:solidFill>
                  <a:srgbClr val="FF0000"/>
                </a:solidFill>
              </a:rPr>
              <a:t>branch_name</a:t>
            </a:r>
            <a:r>
              <a:rPr lang="en-US" dirty="0">
                <a:solidFill>
                  <a:srgbClr val="FF0000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1923327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B6BD7CAC-1AFA-0548-60C1-67D455D46D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E384A00A-746F-C55F-D295-CD0272BF644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E0D2E685-97A2-E573-CB48-350DA2EA0AEB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50997321-7891-0BB1-4073-567D40664ED8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6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26D4BA31-5496-41C3-059A-DB4991CFA838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Collaboration and workflow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AA7A08-0A01-B434-D970-FA0BDEB24788}"/>
              </a:ext>
            </a:extLst>
          </p:cNvPr>
          <p:cNvSpPr txBox="1"/>
          <p:nvPr/>
        </p:nvSpPr>
        <p:spPr>
          <a:xfrm>
            <a:off x="411060" y="903273"/>
            <a:ext cx="11005751" cy="28223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Collaborating in Teams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Fork a repository for independent development.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Use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fetch to retrieve updates without merging.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Review pull requests before merging.</a:t>
            </a:r>
          </a:p>
          <a:p>
            <a:pPr algn="ctr">
              <a:lnSpc>
                <a:spcPct val="150000"/>
              </a:lnSpc>
            </a:pPr>
            <a:r>
              <a:rPr lang="en-US" sz="1800" b="1" dirty="0">
                <a:solidFill>
                  <a:schemeClr val="bg2"/>
                </a:solidFill>
              </a:rPr>
              <a:t>Resolving Merge Conflicts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Identify conflicts with </a:t>
            </a:r>
            <a:r>
              <a:rPr lang="en-US" dirty="0">
                <a:solidFill>
                  <a:schemeClr val="accent6"/>
                </a:solidFill>
              </a:rPr>
              <a:t>git</a:t>
            </a:r>
            <a:r>
              <a:rPr lang="en-US" dirty="0"/>
              <a:t> status.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Resolve conflicts by editing files and staging them.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dirty="0"/>
              <a:t> Commit the resolved changes.</a:t>
            </a:r>
          </a:p>
        </p:txBody>
      </p:sp>
    </p:spTree>
    <p:extLst>
      <p:ext uri="{BB962C8B-B14F-4D97-AF65-F5344CB8AC3E}">
        <p14:creationId xmlns:p14="http://schemas.microsoft.com/office/powerpoint/2010/main" val="37318324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766F1E7C-6FC2-7657-FA55-911A1064C2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99C6E4ED-8324-A084-AC4B-D26B95E0EEBC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BA02C9DA-99A2-D4EA-3F04-E9420018EC4F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6B79A9E8-57EB-A0D5-D095-E7A5F3B73523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7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DCF8E2BA-1390-27F3-7248-6CD2F75F6592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Hands-On Activities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472906-507D-A6EA-BFC3-C9AEBE97CADC}"/>
              </a:ext>
            </a:extLst>
          </p:cNvPr>
          <p:cNvSpPr txBox="1"/>
          <p:nvPr/>
        </p:nvSpPr>
        <p:spPr>
          <a:xfrm>
            <a:off x="411061" y="900964"/>
            <a:ext cx="11164012" cy="48998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Setting Up Git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Install Git on your system.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Configure your user name and email.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Basic Commands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Initialize a repository in a new directory.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file, add it to the repository, and commit it.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Modify the file, check differences, and commit the changes.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Branching and Merging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Create a new branch and switch to it.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Make changes in the new branch and merge it back into main.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Resolve any merge conflicts if they occur.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b="1" dirty="0"/>
              <a:t> Remote Repositories</a:t>
            </a:r>
            <a:r>
              <a:rPr lang="en-US" dirty="0"/>
              <a:t>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Clone a repository from GitHub.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Make changes and push them to the remote repository.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Pull changes made by others and integrate them.</a:t>
            </a:r>
          </a:p>
        </p:txBody>
      </p:sp>
    </p:spTree>
    <p:extLst>
      <p:ext uri="{BB962C8B-B14F-4D97-AF65-F5344CB8AC3E}">
        <p14:creationId xmlns:p14="http://schemas.microsoft.com/office/powerpoint/2010/main" val="339634445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06C27639-CC49-3CD8-20EC-625EB796C6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7" name="Google Shape;107;p4">
            <a:extLst>
              <a:ext uri="{FF2B5EF4-FFF2-40B4-BE49-F238E27FC236}">
                <a16:creationId xmlns:a16="http://schemas.microsoft.com/office/drawing/2014/main" id="{BE4014B7-034E-FBC3-AA35-08E5305BA291}"/>
              </a:ext>
            </a:extLst>
          </p:cNvPr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1615218" y="0"/>
            <a:ext cx="576782" cy="68580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08" name="Google Shape;108;p4">
            <a:extLst>
              <a:ext uri="{FF2B5EF4-FFF2-40B4-BE49-F238E27FC236}">
                <a16:creationId xmlns:a16="http://schemas.microsoft.com/office/drawing/2014/main" id="{0E33A5FD-4FB8-CEA0-A42C-5999CB96B008}"/>
              </a:ext>
            </a:extLst>
          </p:cNvPr>
          <p:cNvCxnSpPr/>
          <p:nvPr/>
        </p:nvCxnSpPr>
        <p:spPr>
          <a:xfrm>
            <a:off x="411061" y="746620"/>
            <a:ext cx="4228051" cy="0"/>
          </a:xfrm>
          <a:prstGeom prst="straightConnector1">
            <a:avLst/>
          </a:prstGeom>
          <a:noFill/>
          <a:ln w="9525" cap="flat" cmpd="sng">
            <a:solidFill>
              <a:srgbClr val="3A3E47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09" name="Google Shape;109;p4">
            <a:extLst>
              <a:ext uri="{FF2B5EF4-FFF2-40B4-BE49-F238E27FC236}">
                <a16:creationId xmlns:a16="http://schemas.microsoft.com/office/drawing/2014/main" id="{78245768-944B-C872-B7C5-DB8661ECAABC}"/>
              </a:ext>
            </a:extLst>
          </p:cNvPr>
          <p:cNvSpPr/>
          <p:nvPr/>
        </p:nvSpPr>
        <p:spPr>
          <a:xfrm>
            <a:off x="411061" y="241183"/>
            <a:ext cx="427839" cy="427839"/>
          </a:xfrm>
          <a:prstGeom prst="ellipse">
            <a:avLst/>
          </a:prstGeom>
          <a:solidFill>
            <a:srgbClr val="3A3E4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chemeClr val="lt1"/>
                </a:solidFill>
                <a:latin typeface="Montserrat"/>
                <a:sym typeface="Montserrat"/>
              </a:rPr>
              <a:t>8</a:t>
            </a:r>
            <a:endParaRPr dirty="0"/>
          </a:p>
        </p:txBody>
      </p:sp>
      <p:sp>
        <p:nvSpPr>
          <p:cNvPr id="110" name="Google Shape;110;p4">
            <a:extLst>
              <a:ext uri="{FF2B5EF4-FFF2-40B4-BE49-F238E27FC236}">
                <a16:creationId xmlns:a16="http://schemas.microsoft.com/office/drawing/2014/main" id="{573DCEDC-EA62-96CC-C971-F4F92CFF58D2}"/>
              </a:ext>
            </a:extLst>
          </p:cNvPr>
          <p:cNvSpPr txBox="1"/>
          <p:nvPr/>
        </p:nvSpPr>
        <p:spPr>
          <a:xfrm>
            <a:off x="838900" y="270436"/>
            <a:ext cx="365759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dirty="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Homework</a:t>
            </a:r>
            <a:endParaRPr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AA4A9EA-28C7-DC86-052F-5BE0F2F0791F}"/>
              </a:ext>
            </a:extLst>
          </p:cNvPr>
          <p:cNvSpPr txBox="1"/>
          <p:nvPr/>
        </p:nvSpPr>
        <p:spPr>
          <a:xfrm>
            <a:off x="411060" y="1074756"/>
            <a:ext cx="10337535" cy="2960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Practice basic Git commands (</a:t>
            </a:r>
            <a:r>
              <a:rPr lang="en-US" dirty="0" err="1"/>
              <a:t>init</a:t>
            </a:r>
            <a:r>
              <a:rPr lang="en-US" dirty="0"/>
              <a:t>, add, commit, status, log).</a:t>
            </a: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Create a repository with multiple branches and practice merging them.</a:t>
            </a: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Work with a remote repository: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Clone a provided public repository from GitHub.</a:t>
            </a:r>
          </a:p>
          <a:p>
            <a:pPr marL="742950" lvl="1" indent="-28575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Make changes and create a pull request.</a:t>
            </a:r>
            <a:br>
              <a:rPr lang="en-US" dirty="0"/>
            </a:br>
            <a:endParaRPr lang="en-US" dirty="0"/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 Explore the git rebase command for advanced workflows.</a:t>
            </a:r>
          </a:p>
        </p:txBody>
      </p:sp>
    </p:spTree>
    <p:extLst>
      <p:ext uri="{BB962C8B-B14F-4D97-AF65-F5344CB8AC3E}">
        <p14:creationId xmlns:p14="http://schemas.microsoft.com/office/powerpoint/2010/main" val="474020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4092440" y="2007569"/>
            <a:ext cx="4007119" cy="4007119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5"/>
          <p:cNvSpPr txBox="1"/>
          <p:nvPr/>
        </p:nvSpPr>
        <p:spPr>
          <a:xfrm>
            <a:off x="3305261" y="843312"/>
            <a:ext cx="6342077" cy="6463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A3E47"/>
                </a:solidFill>
                <a:latin typeface="Montserrat"/>
                <a:ea typeface="Montserrat"/>
                <a:cs typeface="Montserrat"/>
                <a:sym typeface="Montserrat"/>
              </a:rPr>
              <a:t>Քո կարծիքը </a:t>
            </a:r>
            <a:r>
              <a:rPr lang="en-US" sz="3600">
                <a:solidFill>
                  <a:srgbClr val="3A3E47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կարևոր է</a:t>
            </a:r>
            <a:endParaRPr sz="3600">
              <a:solidFill>
                <a:srgbClr val="3A3E47"/>
              </a:solidFill>
              <a:latin typeface="Montserrat SemiBold"/>
              <a:ea typeface="Montserrat SemiBold"/>
              <a:cs typeface="Montserrat SemiBold"/>
              <a:sym typeface="Montserrat SemiBold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1" name="Google Shape;121;p6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1999" cy="685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721</Words>
  <Application>Microsoft Macintosh PowerPoint</Application>
  <PresentationFormat>Widescreen</PresentationFormat>
  <Paragraphs>115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Montserrat Black</vt:lpstr>
      <vt:lpstr>Montserrat SemiBold</vt:lpstr>
      <vt:lpstr>Arial</vt:lpstr>
      <vt:lpstr>Montserrat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Varsenik</dc:creator>
  <cp:lastModifiedBy>Grigoryan, Grigor (external - Project)</cp:lastModifiedBy>
  <cp:revision>1</cp:revision>
  <dcterms:created xsi:type="dcterms:W3CDTF">2024-08-30T07:18:33Z</dcterms:created>
  <dcterms:modified xsi:type="dcterms:W3CDTF">2025-01-08T14:07:15Z</dcterms:modified>
</cp:coreProperties>
</file>