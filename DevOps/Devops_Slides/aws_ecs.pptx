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0" r:id="rId11"/>
  </p:sldIdLst>
  <p:sldSz cx="12192000" cy="6858000"/>
  <p:notesSz cx="6858000" cy="9144000"/>
  <p:embeddedFontLst>
    <p:embeddedFont>
      <p:font typeface="Montserrat" pitchFamily="2" charset="77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iwkR7Rr2iGqBA2Q0lEScORMrWr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42"/>
    <p:restoredTop sz="94677"/>
  </p:normalViewPr>
  <p:slideViewPr>
    <p:cSldViewPr snapToGrid="0">
      <p:cViewPr varScale="1">
        <p:scale>
          <a:sx n="124" d="100"/>
          <a:sy n="124" d="100"/>
        </p:scale>
        <p:origin x="200" y="8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97890746-6AA0-05E7-63CE-AF93D43F5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7897980B-F4C5-0D7E-B068-C00E11CBF0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7294F754-C859-624C-B0F4-619843E0BD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564962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3DBF2A0F-DB72-034D-3610-4BA0B1C4A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31A3D7E7-05D6-05F3-F981-B568D6A867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6A36520A-5A9F-1A1F-9344-3D1D639FB7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075837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1A61E2A0-CA35-4E74-2D01-943F613BD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E6F3B19D-9AD1-13F8-4451-2B70B4A0AD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F22D1C87-3B09-2DAC-7611-E27A3D389D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741349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70DCB970-1558-0450-8219-8D68F3158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4590A671-982C-F2F4-2681-E7E149FDC7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547E9067-0842-B03E-90B5-C40E58E6B4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544697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B4F88056-DBDC-828A-D08F-9E7CAD0C4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E6C90154-4652-0CDA-78C0-77E63A866C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B0DE6009-85A0-44A7-7829-6E5E6F88EF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879337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showwcase.com/article/19178/aws-elastic-container-service" TargetMode="Externa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5282116" y="5965079"/>
            <a:ext cx="188595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bdg.am</a:t>
            </a:r>
            <a:endParaRPr/>
          </a:p>
        </p:txBody>
      </p:sp>
      <p:pic>
        <p:nvPicPr>
          <p:cNvPr id="85" name="Google Shape;85;p1"/>
          <p:cNvPicPr preferRelativeResize="0"/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снимок экрана, текст, белый,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1D382426-30CA-4FD9-AD51-B1218D04B5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4184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F4FF110-CCE3-EEB2-9CF8-FF48AF37B9FF}"/>
              </a:ext>
            </a:extLst>
          </p:cNvPr>
          <p:cNvSpPr txBox="1"/>
          <p:nvPr/>
        </p:nvSpPr>
        <p:spPr>
          <a:xfrm>
            <a:off x="473675" y="1720840"/>
            <a:ext cx="1124464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chemeClr val="bg2">
                    <a:lumMod val="75000"/>
                  </a:schemeClr>
                </a:solidFill>
                <a:latin typeface="Montserrat" pitchFamily="2" charset="77"/>
              </a:rPr>
              <a:t>AWS </a:t>
            </a:r>
          </a:p>
          <a:p>
            <a:pPr algn="ctr"/>
            <a:r>
              <a:rPr lang="en-US" sz="7200" b="1" dirty="0">
                <a:solidFill>
                  <a:schemeClr val="bg2">
                    <a:lumMod val="75000"/>
                  </a:schemeClr>
                </a:solidFill>
                <a:latin typeface="Montserrat" pitchFamily="2" charset="77"/>
              </a:rPr>
              <a:t>ELASTIC CONTAINER SERVICE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0" name="Google Shape;100;p3"/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1" name="Google Shape;101;p3"/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/>
          </a:p>
        </p:txBody>
      </p:sp>
      <p:sp>
        <p:nvSpPr>
          <p:cNvPr id="102" name="Google Shape;102;p3"/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Agenda and Objectives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9149A5-FD74-DDC1-E530-C3F52C94AEA6}"/>
              </a:ext>
            </a:extLst>
          </p:cNvPr>
          <p:cNvSpPr txBox="1"/>
          <p:nvPr/>
        </p:nvSpPr>
        <p:spPr>
          <a:xfrm>
            <a:off x="411061" y="853473"/>
            <a:ext cx="11034350" cy="3561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Agenda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Introduction to AWS ECS (Elastic Container Service).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ECS Architecture and Components.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Comparison: EC2 vs. </a:t>
            </a:r>
            <a:r>
              <a:rPr lang="en-US" dirty="0" err="1"/>
              <a:t>Fargate</a:t>
            </a:r>
            <a:r>
              <a:rPr lang="en-US" dirty="0"/>
              <a:t> Launch Types.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Deploying a Containerized Application with ECS.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Hands-on: Running a Service on ECS.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Objectives</a:t>
            </a:r>
            <a:endParaRPr lang="en-US" b="1" dirty="0">
              <a:solidFill>
                <a:schemeClr val="bg2"/>
              </a:solidFill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Understand the purpose and benefits of AWS ECS.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Learn how ECS manages containerized workloads.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Deploy and manage an application using ECS.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/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/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/>
          </a:p>
        </p:txBody>
      </p:sp>
      <p:sp>
        <p:nvSpPr>
          <p:cNvPr id="110" name="Google Shape;110;p4"/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Introduction to AWS ECS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8B8A1E-8859-C942-2B94-31CA090C37DE}"/>
              </a:ext>
            </a:extLst>
          </p:cNvPr>
          <p:cNvSpPr txBox="1"/>
          <p:nvPr/>
        </p:nvSpPr>
        <p:spPr>
          <a:xfrm>
            <a:off x="411060" y="914220"/>
            <a:ext cx="11088961" cy="3237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What is AWS ECS?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 Fully managed container orchestration service</a:t>
            </a:r>
            <a:r>
              <a:rPr lang="en-US" dirty="0"/>
              <a:t> that runs Docker containers on AWS.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Supports both </a:t>
            </a:r>
            <a:r>
              <a:rPr lang="en-US" b="1" dirty="0"/>
              <a:t>EC2 instances</a:t>
            </a:r>
            <a:r>
              <a:rPr lang="en-US" dirty="0"/>
              <a:t> and </a:t>
            </a:r>
            <a:r>
              <a:rPr lang="en-US" b="1" dirty="0"/>
              <a:t>serverless (</a:t>
            </a:r>
            <a:r>
              <a:rPr lang="en-US" b="1" dirty="0" err="1"/>
              <a:t>Fargate</a:t>
            </a:r>
            <a:r>
              <a:rPr lang="en-US" b="1" dirty="0"/>
              <a:t>)</a:t>
            </a:r>
            <a:r>
              <a:rPr lang="en-US" dirty="0"/>
              <a:t> execution models.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Integrates with other AWS services like </a:t>
            </a:r>
            <a:r>
              <a:rPr lang="en-US" b="1" dirty="0"/>
              <a:t>IAM, ALB, VPC, CloudWatch</a:t>
            </a:r>
            <a:r>
              <a:rPr lang="en-US" dirty="0"/>
              <a:t> for security, networking, and monitoring.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Why Use AWS ECS?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Eliminates the need to manage Kubernetes clusters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Scales seamlessly</a:t>
            </a:r>
            <a:r>
              <a:rPr lang="en-US" dirty="0"/>
              <a:t> with workload demands.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Deep integration</a:t>
            </a:r>
            <a:r>
              <a:rPr lang="en-US" dirty="0"/>
              <a:t> with AWS ecosystem (IAM, ECR, CloudWatch, etc.).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Supports both EC2 and </a:t>
            </a:r>
            <a:r>
              <a:rPr lang="en-US" b="1" dirty="0" err="1"/>
              <a:t>Fargate</a:t>
            </a:r>
            <a:r>
              <a:rPr lang="en-US" dirty="0"/>
              <a:t>, providing flexibility.</a:t>
            </a:r>
          </a:p>
        </p:txBody>
      </p:sp>
      <p:pic>
        <p:nvPicPr>
          <p:cNvPr id="5" name="Picture 4" descr="A logo of a company&#10;&#10;AI-generated content may be incorrect.">
            <a:extLst>
              <a:ext uri="{FF2B5EF4-FFF2-40B4-BE49-F238E27FC236}">
                <a16:creationId xmlns:a16="http://schemas.microsoft.com/office/drawing/2014/main" id="{50CA862F-C1B1-8A25-85CD-8918DD378E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7793805" y="2866670"/>
            <a:ext cx="3077110" cy="30771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30D58ED4-B128-79FE-FDB0-CF6046CBB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>
            <a:extLst>
              <a:ext uri="{FF2B5EF4-FFF2-40B4-BE49-F238E27FC236}">
                <a16:creationId xmlns:a16="http://schemas.microsoft.com/office/drawing/2014/main" id="{B5DE0961-17B7-88AF-09FB-0D3BF5FAB70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>
            <a:extLst>
              <a:ext uri="{FF2B5EF4-FFF2-40B4-BE49-F238E27FC236}">
                <a16:creationId xmlns:a16="http://schemas.microsoft.com/office/drawing/2014/main" id="{0A8D4B07-471A-86F3-2CF4-1865BA7703DB}"/>
              </a:ext>
            </a:extLst>
          </p:cNvPr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90C4B100-51DC-7DDC-1122-D293737D7D01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3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D5FFCEC5-CBB9-8C75-D8BA-0B59B048F9A5}"/>
              </a:ext>
            </a:extLst>
          </p:cNvPr>
          <p:cNvSpPr txBox="1"/>
          <p:nvPr/>
        </p:nvSpPr>
        <p:spPr>
          <a:xfrm>
            <a:off x="838900" y="270436"/>
            <a:ext cx="4326224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ECS Architecture and Components</a:t>
            </a:r>
            <a:endParaRPr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5C67AA2-21A9-9ACA-92AA-3DAE546E4F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5606652"/>
              </p:ext>
            </p:extLst>
          </p:nvPr>
        </p:nvGraphicFramePr>
        <p:xfrm>
          <a:off x="411061" y="4071916"/>
          <a:ext cx="812799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53067502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23131282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3441854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EKS (Kubernetes)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2938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Ease of 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Simple, Fully Managed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Setup Complexity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8281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AWS-managed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User-managed Clusters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4452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Scaling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Automatic Scaling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Requires Configuration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5392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Deep AWS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Works across Cloud Providers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247636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943E134-5274-FDDF-08CC-95CE2FE4730E}"/>
              </a:ext>
            </a:extLst>
          </p:cNvPr>
          <p:cNvSpPr txBox="1"/>
          <p:nvPr/>
        </p:nvSpPr>
        <p:spPr>
          <a:xfrm>
            <a:off x="411061" y="824219"/>
            <a:ext cx="1101482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bg2"/>
                </a:solidFill>
              </a:rPr>
              <a:t>Key Components of ECS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 Clusters</a:t>
            </a:r>
            <a:r>
              <a:rPr lang="en-US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Logical grouping of ECS resources.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Can be backed by EC2 instances or </a:t>
            </a:r>
            <a:r>
              <a:rPr lang="en-US" dirty="0" err="1"/>
              <a:t>Fargate</a:t>
            </a:r>
            <a:r>
              <a:rPr lang="en-US" dirty="0"/>
              <a:t>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 Tasks &amp; Task Definitions</a:t>
            </a:r>
            <a:r>
              <a:rPr lang="en-US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Define how containers should run in ECS.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Contains container image, CPU/memory settings, networking, and logging configurations.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 Services</a:t>
            </a:r>
            <a:r>
              <a:rPr lang="en-US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Maintain the desired count of tasks.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Can be integrated with an </a:t>
            </a:r>
            <a:r>
              <a:rPr lang="en-US" b="1" dirty="0"/>
              <a:t>Elastic Load Balancer (ALB, NLB)</a:t>
            </a:r>
            <a:r>
              <a:rPr lang="en-US" dirty="0"/>
              <a:t> for traffic distribution.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 Container Agent</a:t>
            </a:r>
            <a:r>
              <a:rPr lang="en-US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Runs on EC2 instances and communicates with ECS Control Plane.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ECS vs. Kubernetes (EKS)</a:t>
            </a:r>
          </a:p>
        </p:txBody>
      </p:sp>
    </p:spTree>
    <p:extLst>
      <p:ext uri="{BB962C8B-B14F-4D97-AF65-F5344CB8AC3E}">
        <p14:creationId xmlns:p14="http://schemas.microsoft.com/office/powerpoint/2010/main" val="19011860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6C88F5DD-E3CF-DA85-5143-46182990C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>
            <a:extLst>
              <a:ext uri="{FF2B5EF4-FFF2-40B4-BE49-F238E27FC236}">
                <a16:creationId xmlns:a16="http://schemas.microsoft.com/office/drawing/2014/main" id="{89434C43-B8D7-0A1A-ACDB-7522479B594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>
            <a:extLst>
              <a:ext uri="{FF2B5EF4-FFF2-40B4-BE49-F238E27FC236}">
                <a16:creationId xmlns:a16="http://schemas.microsoft.com/office/drawing/2014/main" id="{D2C81334-D6CF-90C1-9BBF-0534B4B962A3}"/>
              </a:ext>
            </a:extLst>
          </p:cNvPr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CC7C3B98-C128-72AC-7974-B3E371DDE992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4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5ABCEC11-A98A-6A46-84FC-B54E42CE5599}"/>
              </a:ext>
            </a:extLst>
          </p:cNvPr>
          <p:cNvSpPr txBox="1"/>
          <p:nvPr/>
        </p:nvSpPr>
        <p:spPr>
          <a:xfrm>
            <a:off x="838900" y="270436"/>
            <a:ext cx="415323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ECS Launch Types EC2 vs </a:t>
            </a:r>
            <a:r>
              <a:rPr lang="en-US" sz="1800" dirty="0" err="1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Fargate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182597-1E60-58AF-3399-EFE919B961E2}"/>
              </a:ext>
            </a:extLst>
          </p:cNvPr>
          <p:cNvSpPr txBox="1"/>
          <p:nvPr/>
        </p:nvSpPr>
        <p:spPr>
          <a:xfrm>
            <a:off x="411061" y="965537"/>
            <a:ext cx="11105436" cy="3237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EC2 Launch Type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Runs containers on </a:t>
            </a:r>
            <a:r>
              <a:rPr lang="en-US" b="1" dirty="0"/>
              <a:t>EC2 instances</a:t>
            </a:r>
            <a:r>
              <a:rPr lang="en-US" dirty="0"/>
              <a:t> within an ECS cluster.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Requires users to </a:t>
            </a:r>
            <a:r>
              <a:rPr lang="en-US" b="1" dirty="0"/>
              <a:t>manage EC2 instances, scaling, and networking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Best suited for </a:t>
            </a:r>
            <a:r>
              <a:rPr lang="en-US" b="1" dirty="0"/>
              <a:t>customizable environments and predictable workloads</a:t>
            </a:r>
            <a:r>
              <a:rPr lang="en-US" dirty="0"/>
              <a:t>.</a:t>
            </a:r>
          </a:p>
          <a:p>
            <a:pPr algn="ctr">
              <a:lnSpc>
                <a:spcPct val="150000"/>
              </a:lnSpc>
            </a:pPr>
            <a:r>
              <a:rPr lang="en-US" sz="2000" b="1" dirty="0" err="1">
                <a:solidFill>
                  <a:schemeClr val="bg2"/>
                </a:solidFill>
              </a:rPr>
              <a:t>Fargate</a:t>
            </a:r>
            <a:r>
              <a:rPr lang="en-US" sz="2000" b="1" dirty="0">
                <a:solidFill>
                  <a:schemeClr val="bg2"/>
                </a:solidFill>
              </a:rPr>
              <a:t> Launch Type </a:t>
            </a:r>
            <a:r>
              <a:rPr lang="en-US" sz="2000" b="1" i="1" dirty="0">
                <a:solidFill>
                  <a:schemeClr val="bg2"/>
                </a:solidFill>
              </a:rPr>
              <a:t>(Serverless Containers)</a:t>
            </a:r>
            <a:endParaRPr lang="en-US" sz="2000" b="1" dirty="0">
              <a:solidFill>
                <a:schemeClr val="bg2"/>
              </a:solidFill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Eliminates the need to manage EC2 instances.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AWS </a:t>
            </a:r>
            <a:r>
              <a:rPr lang="en-US" b="1" dirty="0"/>
              <a:t>automatically provisions and scales compute resources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Ideal for </a:t>
            </a:r>
            <a:r>
              <a:rPr lang="en-US" b="1" dirty="0"/>
              <a:t>serverless architectures and microservices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Comparison Table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2FC201C-5233-4885-10EF-F0EC6999BE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9058096"/>
              </p:ext>
            </p:extLst>
          </p:nvPr>
        </p:nvGraphicFramePr>
        <p:xfrm>
          <a:off x="411061" y="4203411"/>
          <a:ext cx="812799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86446278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47668005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8764998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Fargate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9508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Instance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User-managed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AWS-managed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54343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Scaling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Manual or Auto-Scaling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Fully Managed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18689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Pay per Instance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Pay per Task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78591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Persistent Workloads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Serverless/Microservices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89223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60358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01296132-1069-C0F5-1407-8053913D5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>
            <a:extLst>
              <a:ext uri="{FF2B5EF4-FFF2-40B4-BE49-F238E27FC236}">
                <a16:creationId xmlns:a16="http://schemas.microsoft.com/office/drawing/2014/main" id="{3B8D136C-EA2C-AB30-9345-A4FC62F4E21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>
            <a:extLst>
              <a:ext uri="{FF2B5EF4-FFF2-40B4-BE49-F238E27FC236}">
                <a16:creationId xmlns:a16="http://schemas.microsoft.com/office/drawing/2014/main" id="{5C371FBE-F071-BC10-0E3E-A8366DB165A0}"/>
              </a:ext>
            </a:extLst>
          </p:cNvPr>
          <p:cNvCxnSpPr>
            <a:cxnSpLocks/>
          </p:cNvCxnSpPr>
          <p:nvPr/>
        </p:nvCxnSpPr>
        <p:spPr>
          <a:xfrm>
            <a:off x="411061" y="746620"/>
            <a:ext cx="5025912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A93324AB-2876-A853-BBA8-6819531DEACC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5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C8D7F45E-A3A1-12DA-0D96-8BC26EA406CB}"/>
              </a:ext>
            </a:extLst>
          </p:cNvPr>
          <p:cNvSpPr txBox="1"/>
          <p:nvPr/>
        </p:nvSpPr>
        <p:spPr>
          <a:xfrm>
            <a:off x="838900" y="270436"/>
            <a:ext cx="4713403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Deploying a Containerized App to ECS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1636C1-0836-EEC8-E001-46F6D3053438}"/>
              </a:ext>
            </a:extLst>
          </p:cNvPr>
          <p:cNvSpPr txBox="1"/>
          <p:nvPr/>
        </p:nvSpPr>
        <p:spPr>
          <a:xfrm>
            <a:off x="411061" y="824219"/>
            <a:ext cx="1111367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chemeClr val="bg2"/>
                </a:solidFill>
              </a:rPr>
              <a:t>Prerequisites</a:t>
            </a:r>
            <a:endParaRPr lang="en-US" sz="1200" b="1" dirty="0">
              <a:solidFill>
                <a:schemeClr val="bg2"/>
              </a:solidFill>
            </a:endParaRPr>
          </a:p>
          <a:p>
            <a:pPr>
              <a:buFont typeface="+mj-lt"/>
              <a:buAutoNum type="arabicPeriod"/>
            </a:pPr>
            <a:r>
              <a:rPr lang="en-US" sz="1200" b="1" dirty="0"/>
              <a:t> Amazon Elastic Container Registry (ECR)</a:t>
            </a:r>
            <a:r>
              <a:rPr lang="en-US" sz="1200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200" dirty="0"/>
              <a:t>Stores Docker images for use in ECS.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200" dirty="0"/>
              <a:t>Push an image to ECR: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A7BFFB-8965-7913-136D-0B868A952D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900" y="1746477"/>
            <a:ext cx="4984722" cy="91431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1C99DC5-2A75-94C5-ED84-4A7DA5D5E6EE}"/>
              </a:ext>
            </a:extLst>
          </p:cNvPr>
          <p:cNvSpPr txBox="1"/>
          <p:nvPr/>
        </p:nvSpPr>
        <p:spPr>
          <a:xfrm>
            <a:off x="411061" y="2660794"/>
            <a:ext cx="6096000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2"/>
            </a:pPr>
            <a:r>
              <a:rPr lang="en-US" sz="1200" b="1" dirty="0"/>
              <a:t>Creating an ECS Cluster</a:t>
            </a:r>
            <a:r>
              <a:rPr lang="en-US" sz="1200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200" dirty="0"/>
              <a:t>Navigate to </a:t>
            </a:r>
            <a:r>
              <a:rPr lang="en-US" sz="1200" b="1" dirty="0"/>
              <a:t>ECS Dashboard → Create Cluster</a:t>
            </a:r>
            <a:r>
              <a:rPr lang="en-US" sz="1200" dirty="0"/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200" dirty="0"/>
              <a:t>Choose </a:t>
            </a:r>
            <a:r>
              <a:rPr lang="en-US" sz="1200" b="1" dirty="0" err="1"/>
              <a:t>Fargate</a:t>
            </a:r>
            <a:r>
              <a:rPr lang="en-US" sz="1200" dirty="0"/>
              <a:t> or </a:t>
            </a:r>
            <a:r>
              <a:rPr lang="en-US" sz="1200" b="1" dirty="0"/>
              <a:t>EC2</a:t>
            </a:r>
            <a:r>
              <a:rPr lang="en-US" sz="1200" dirty="0"/>
              <a:t> launch type.</a:t>
            </a:r>
          </a:p>
          <a:p>
            <a:pPr>
              <a:buFont typeface="+mj-lt"/>
              <a:buAutoNum type="arabicPeriod" startAt="2"/>
            </a:pPr>
            <a:r>
              <a:rPr lang="en-US" sz="1200" b="1" dirty="0"/>
              <a:t> Defining a Task in ECS</a:t>
            </a:r>
            <a:r>
              <a:rPr lang="en-US" sz="1200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200" dirty="0"/>
              <a:t>Create a </a:t>
            </a:r>
            <a:r>
              <a:rPr lang="en-US" sz="1200" b="1" dirty="0"/>
              <a:t>Task Definition</a:t>
            </a:r>
            <a:r>
              <a:rPr lang="en-US" sz="1200" dirty="0"/>
              <a:t> specifying container settings (CPU, memory, ports).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200" dirty="0"/>
              <a:t>Example Task Definition: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D5D41C6-31AC-69BF-1D20-E6B05041AD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900" y="4076566"/>
            <a:ext cx="4429897" cy="194366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5BDC5D0-4617-46EF-9C79-FB743EE3BE26}"/>
              </a:ext>
            </a:extLst>
          </p:cNvPr>
          <p:cNvSpPr txBox="1"/>
          <p:nvPr/>
        </p:nvSpPr>
        <p:spPr>
          <a:xfrm>
            <a:off x="411061" y="6033781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4"/>
            </a:pPr>
            <a:r>
              <a:rPr lang="en-US" sz="1200" b="1" dirty="0"/>
              <a:t>Creating an ECS Service</a:t>
            </a:r>
            <a:r>
              <a:rPr lang="en-US" sz="1200" dirty="0"/>
              <a:t>: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en-US" sz="1200" dirty="0"/>
              <a:t> Deploys and maintains a </a:t>
            </a:r>
            <a:r>
              <a:rPr lang="en-US" sz="1200" b="1" dirty="0"/>
              <a:t>desired count</a:t>
            </a:r>
            <a:r>
              <a:rPr lang="en-US" sz="1200" dirty="0"/>
              <a:t> of tasks.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en-US" sz="1200" dirty="0"/>
              <a:t> Can integrate with </a:t>
            </a:r>
            <a:r>
              <a:rPr lang="en-US" sz="1200" b="1" dirty="0"/>
              <a:t>ALB (Application Load Balancer)</a:t>
            </a:r>
            <a:r>
              <a:rPr lang="en-US" sz="1200" dirty="0"/>
              <a:t>.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en-US" sz="1200" dirty="0"/>
              <a:t> Ensures high availability and auto-scaling.</a:t>
            </a:r>
          </a:p>
        </p:txBody>
      </p:sp>
    </p:spTree>
    <p:extLst>
      <p:ext uri="{BB962C8B-B14F-4D97-AF65-F5344CB8AC3E}">
        <p14:creationId xmlns:p14="http://schemas.microsoft.com/office/powerpoint/2010/main" val="3855713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27AEF4B6-7186-0C61-C21D-6296E5E8C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>
            <a:extLst>
              <a:ext uri="{FF2B5EF4-FFF2-40B4-BE49-F238E27FC236}">
                <a16:creationId xmlns:a16="http://schemas.microsoft.com/office/drawing/2014/main" id="{0932FE50-E7F3-A187-3B51-607C40A60DB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>
            <a:extLst>
              <a:ext uri="{FF2B5EF4-FFF2-40B4-BE49-F238E27FC236}">
                <a16:creationId xmlns:a16="http://schemas.microsoft.com/office/drawing/2014/main" id="{DBDF787B-909A-B5A4-E36B-D1626801D2A2}"/>
              </a:ext>
            </a:extLst>
          </p:cNvPr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EAB7BDD2-9C63-8EF9-EFE0-53C5F36FCB1B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6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DB437989-18C2-7A25-E473-BA37D9182187}"/>
              </a:ext>
            </a:extLst>
          </p:cNvPr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Hands-On Activities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C791BB-E79D-D507-F02C-7B586DADDF7A}"/>
              </a:ext>
            </a:extLst>
          </p:cNvPr>
          <p:cNvSpPr txBox="1"/>
          <p:nvPr/>
        </p:nvSpPr>
        <p:spPr>
          <a:xfrm>
            <a:off x="411060" y="853473"/>
            <a:ext cx="11088961" cy="3607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Set Up an ECS Cluster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Create an ECS cluster using AWS Console.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Choose EC2 or </a:t>
            </a:r>
            <a:r>
              <a:rPr lang="en-US" dirty="0" err="1"/>
              <a:t>Fargate</a:t>
            </a:r>
            <a:r>
              <a:rPr lang="en-US" dirty="0"/>
              <a:t> launch type.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Deploy a Containerized App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Build and push a Docker image to </a:t>
            </a:r>
            <a:r>
              <a:rPr lang="en-US" b="1" dirty="0"/>
              <a:t>ECR</a:t>
            </a:r>
            <a:r>
              <a:rPr lang="en-US" dirty="0"/>
              <a:t>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Define an </a:t>
            </a:r>
            <a:r>
              <a:rPr lang="en-US" b="1" dirty="0"/>
              <a:t>ECS Task</a:t>
            </a:r>
            <a:r>
              <a:rPr lang="en-US" dirty="0"/>
              <a:t> using the uploaded image.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Create an </a:t>
            </a:r>
            <a:r>
              <a:rPr lang="en-US" b="1" dirty="0"/>
              <a:t>ECS Service</a:t>
            </a:r>
            <a:r>
              <a:rPr lang="en-US" dirty="0"/>
              <a:t> to run and manage the task.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Scaling and Monitoring ECS Services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Enable </a:t>
            </a:r>
            <a:r>
              <a:rPr lang="en-US" b="1" dirty="0"/>
              <a:t>Auto Scaling</a:t>
            </a:r>
            <a:r>
              <a:rPr lang="en-US" dirty="0"/>
              <a:t> for ECS Service.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Use </a:t>
            </a:r>
            <a:r>
              <a:rPr lang="en-US" b="1" dirty="0"/>
              <a:t>CloudWatch Metrics</a:t>
            </a:r>
            <a:r>
              <a:rPr lang="en-US" dirty="0"/>
              <a:t> to monitor task performance.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Scale the service manually and automatically.</a:t>
            </a:r>
          </a:p>
        </p:txBody>
      </p:sp>
    </p:spTree>
    <p:extLst>
      <p:ext uri="{BB962C8B-B14F-4D97-AF65-F5344CB8AC3E}">
        <p14:creationId xmlns:p14="http://schemas.microsoft.com/office/powerpoint/2010/main" val="21490608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FA28AF20-1CD9-C604-EEC8-FDD13AAC3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>
            <a:extLst>
              <a:ext uri="{FF2B5EF4-FFF2-40B4-BE49-F238E27FC236}">
                <a16:creationId xmlns:a16="http://schemas.microsoft.com/office/drawing/2014/main" id="{BF41265E-FACA-F967-C778-8B8135425BF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>
            <a:extLst>
              <a:ext uri="{FF2B5EF4-FFF2-40B4-BE49-F238E27FC236}">
                <a16:creationId xmlns:a16="http://schemas.microsoft.com/office/drawing/2014/main" id="{431EBBF2-0CAC-48FA-F7BC-B51D56864964}"/>
              </a:ext>
            </a:extLst>
          </p:cNvPr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CDF10812-10F2-E543-5992-43B66C3A9579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7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244C9087-EC97-DC8D-F404-13D4DD6E4AC2}"/>
              </a:ext>
            </a:extLst>
          </p:cNvPr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Homework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84B1EF-49D8-83BA-1270-E4DD9BA94102}"/>
              </a:ext>
            </a:extLst>
          </p:cNvPr>
          <p:cNvSpPr txBox="1"/>
          <p:nvPr/>
        </p:nvSpPr>
        <p:spPr>
          <a:xfrm>
            <a:off x="411061" y="933215"/>
            <a:ext cx="10932442" cy="4899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Deploy a Custom Application on ECS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Choose either EC2 or </a:t>
            </a:r>
            <a:r>
              <a:rPr lang="en-US" dirty="0" err="1"/>
              <a:t>Fargate</a:t>
            </a:r>
            <a:r>
              <a:rPr lang="en-US" dirty="0"/>
              <a:t>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Push an image to </a:t>
            </a:r>
            <a:r>
              <a:rPr lang="en-US" b="1" dirty="0"/>
              <a:t>ECR</a:t>
            </a:r>
            <a:r>
              <a:rPr lang="en-US" dirty="0"/>
              <a:t> and deploy a containerized app.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Experiment with ECS Scaling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Configure auto-scaling for an ECS service.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Set up </a:t>
            </a:r>
            <a:r>
              <a:rPr lang="en-US" b="1" dirty="0"/>
              <a:t>CloudWatch alarms</a:t>
            </a:r>
            <a:r>
              <a:rPr lang="en-US" dirty="0"/>
              <a:t> to trigger scaling events.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Use the AWS CLI for ECS Management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List running tasks: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Stop a Taks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Update a service</a:t>
            </a:r>
            <a:br>
              <a:rPr lang="en-US" dirty="0"/>
            </a:b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B37482-F3B5-3B1F-38B4-572E2AE330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0276" y="5589767"/>
            <a:ext cx="7772400" cy="5319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05C4357-3979-99E7-C58B-18FFEE10FB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0276" y="3610796"/>
            <a:ext cx="3681261" cy="5273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32F1EAC-3486-E12E-84C4-A62BD2BF6B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0276" y="4650643"/>
            <a:ext cx="3221681" cy="524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3441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Шрифт,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B2EF4175-80FB-49A1-A042-D35D0E8F15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700</Words>
  <Application>Microsoft Macintosh PowerPoint</Application>
  <PresentationFormat>Widescreen</PresentationFormat>
  <Paragraphs>123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Montserrat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Varsenik</dc:creator>
  <cp:lastModifiedBy>Grigoryan, Grigor (external - Project)</cp:lastModifiedBy>
  <cp:revision>2</cp:revision>
  <dcterms:created xsi:type="dcterms:W3CDTF">2024-08-30T07:18:33Z</dcterms:created>
  <dcterms:modified xsi:type="dcterms:W3CDTF">2025-02-15T07:20:01Z</dcterms:modified>
</cp:coreProperties>
</file>