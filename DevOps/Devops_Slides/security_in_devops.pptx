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0" r:id="rId11"/>
  </p:sldIdLst>
  <p:sldSz cx="12192000" cy="6858000"/>
  <p:notesSz cx="6858000" cy="9144000"/>
  <p:embeddedFontLst>
    <p:embeddedFont>
      <p:font typeface="Montserrat" pitchFamily="2" charset="77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wkR7Rr2iGqBA2Q0lEScORMrWr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54"/>
    <p:restoredTop sz="94719"/>
  </p:normalViewPr>
  <p:slideViewPr>
    <p:cSldViewPr snapToGrid="0">
      <p:cViewPr varScale="1">
        <p:scale>
          <a:sx n="148" d="100"/>
          <a:sy n="148" d="100"/>
        </p:scale>
        <p:origin x="10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7C34B437-8EE9-12E7-A006-95136F945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847944D1-1230-5D45-23D7-E14224E90A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F1063B0F-5371-F348-6D48-FB9F4F9623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2950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FDBA892C-0850-6815-AD6D-7105B77B6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EF674F32-3E9A-9F95-CA03-525AD6283A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4A668AF0-AB3E-7779-70B4-C3AB8DB917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9143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FD1F65E7-7240-3C7C-03FD-A941B74C5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F1743998-EE05-85D7-CC96-8A358ACD04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6C8ED210-303F-36C1-A614-DF589A4F30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0310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02D0DBE0-FC4E-1FF8-11DF-0E90002AA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8B376E85-CAC1-34E5-457C-646E6B65AA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216C96D9-8D98-987E-7BB0-59B3C31F1B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53922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AB01F8FB-8FD1-26DD-91D2-5A11A821E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866F27A6-BDBB-EB95-0C8D-B900DA7B33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659034B6-151C-BF43-F94D-C402C8FD20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40677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282116" y="5965079"/>
            <a:ext cx="18859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bdg.am</a:t>
            </a:r>
            <a:endParaRPr/>
          </a:p>
        </p:txBody>
      </p:sp>
      <p:pic>
        <p:nvPicPr>
          <p:cNvPr id="85" name="Google Shape;85;p1"/>
          <p:cNvPicPr preferRelativeResize="0"/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снимок экрана, текст, белый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1D382426-30CA-4FD9-AD51-B1218D04B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3D8DD4-8C07-167F-6E64-BB04F753EFB9}"/>
              </a:ext>
            </a:extLst>
          </p:cNvPr>
          <p:cNvSpPr txBox="1"/>
          <p:nvPr/>
        </p:nvSpPr>
        <p:spPr>
          <a:xfrm>
            <a:off x="328246" y="1720840"/>
            <a:ext cx="115355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2"/>
                </a:solidFill>
                <a:latin typeface="Montserrat" pitchFamily="2" charset="77"/>
              </a:rPr>
              <a:t>SECURITY </a:t>
            </a:r>
          </a:p>
          <a:p>
            <a:pPr algn="ctr"/>
            <a:r>
              <a:rPr lang="en-US" sz="7200" b="1" dirty="0">
                <a:solidFill>
                  <a:schemeClr val="bg2"/>
                </a:solidFill>
                <a:latin typeface="Montserrat" pitchFamily="2" charset="77"/>
              </a:rPr>
              <a:t>IN </a:t>
            </a:r>
          </a:p>
          <a:p>
            <a:pPr algn="ctr"/>
            <a:r>
              <a:rPr lang="en-US" sz="7200" b="1" dirty="0">
                <a:solidFill>
                  <a:schemeClr val="bg2"/>
                </a:solidFill>
                <a:latin typeface="Montserrat" pitchFamily="2" charset="77"/>
              </a:rPr>
              <a:t>DEVOPS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3"/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1" name="Google Shape;101;p3"/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Agenda and Objectives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9F9D73-C7DF-76C6-93A6-2CE60B9542D4}"/>
              </a:ext>
            </a:extLst>
          </p:cNvPr>
          <p:cNvSpPr txBox="1"/>
          <p:nvPr/>
        </p:nvSpPr>
        <p:spPr>
          <a:xfrm>
            <a:off x="411060" y="903243"/>
            <a:ext cx="11128843" cy="3561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Agenda</a:t>
            </a:r>
            <a:endParaRPr lang="en-US" b="1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Understanding Security in DevOps.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</a:t>
            </a:r>
            <a:r>
              <a:rPr lang="en-US" dirty="0" err="1"/>
              <a:t>DevSecOps</a:t>
            </a:r>
            <a:r>
              <a:rPr lang="en-US" dirty="0"/>
              <a:t>: Integrating Security into DevOps.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Managing Secrets and Secure Configurations.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Best Practices for Infrastructure Security.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Hands-on: Implementing Security Measures in DevOps Pipelines.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Objectives</a:t>
            </a:r>
            <a:endParaRPr lang="en-US" b="1" dirty="0">
              <a:solidFill>
                <a:schemeClr val="bg2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Learn how security integrates into DevOps workflows.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Explore tools for managing secrets and secure configurations.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Apply security best practices to infrastructure and CI/CD pipelines.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/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/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838900" y="270436"/>
            <a:ext cx="436614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Understanding Security in DevOps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853574-C2C3-6C1B-B2A3-F0FBA18B983F}"/>
              </a:ext>
            </a:extLst>
          </p:cNvPr>
          <p:cNvSpPr txBox="1"/>
          <p:nvPr/>
        </p:nvSpPr>
        <p:spPr>
          <a:xfrm>
            <a:off x="411060" y="894417"/>
            <a:ext cx="11128843" cy="3561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Why is Security Important in DevOps?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Security vulnerabilities can lead to </a:t>
            </a:r>
            <a:r>
              <a:rPr lang="en-US" b="1" dirty="0"/>
              <a:t>data breaches, financial loss, and compliance violations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DevOps introduces </a:t>
            </a:r>
            <a:r>
              <a:rPr lang="en-US" b="1" dirty="0"/>
              <a:t>automation and speed</a:t>
            </a:r>
            <a:r>
              <a:rPr lang="en-US" dirty="0"/>
              <a:t>, which can also introduce </a:t>
            </a:r>
            <a:r>
              <a:rPr lang="en-US" b="1" dirty="0"/>
              <a:t>risks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Security must be </a:t>
            </a:r>
            <a:r>
              <a:rPr lang="en-US" b="1" dirty="0"/>
              <a:t>continuous, automated, and proactive</a:t>
            </a:r>
            <a:r>
              <a:rPr lang="en-US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Common Security Challenges in DevOps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Misconfigurations</a:t>
            </a:r>
            <a:r>
              <a:rPr lang="en-US" dirty="0"/>
              <a:t>: Exposing services publicly by mistake.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Hardcoded Credentials</a:t>
            </a:r>
            <a:r>
              <a:rPr lang="en-US" dirty="0"/>
              <a:t>: Storing API keys in source code.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Unpatched Software</a:t>
            </a:r>
            <a:r>
              <a:rPr lang="en-US" dirty="0"/>
              <a:t>: Running outdated dependencies.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Insecure CI/CD Pipelines</a:t>
            </a:r>
            <a:r>
              <a:rPr lang="en-US" dirty="0"/>
              <a:t>: Lack of security controls in automated builds.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Lack of Monitoring and Auditing</a:t>
            </a:r>
            <a:r>
              <a:rPr lang="en-US" dirty="0"/>
              <a:t>: No real-time detection of attacks.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FDE8C84B-814C-5883-E080-11019FAF2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B66474B2-E8AD-75AD-2B38-C547FD3444D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F100EB94-7CE8-F6BB-8434-5BE022EB0BFC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1F9AA2FA-BF82-5FF5-1798-017E99FDFBC4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3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E7FF3E0A-3B27-03D8-AE62-084F42EFAA01}"/>
              </a:ext>
            </a:extLst>
          </p:cNvPr>
          <p:cNvSpPr txBox="1"/>
          <p:nvPr/>
        </p:nvSpPr>
        <p:spPr>
          <a:xfrm>
            <a:off x="838900" y="270436"/>
            <a:ext cx="436614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DevSecOps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6D5C14-9471-7752-5CB0-C095EECF7EB7}"/>
              </a:ext>
            </a:extLst>
          </p:cNvPr>
          <p:cNvSpPr txBox="1"/>
          <p:nvPr/>
        </p:nvSpPr>
        <p:spPr>
          <a:xfrm>
            <a:off x="411061" y="885658"/>
            <a:ext cx="11102466" cy="3237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</a:rPr>
              <a:t>What is </a:t>
            </a:r>
            <a:r>
              <a:rPr lang="en-US" sz="2000" b="1" dirty="0" err="1">
                <a:solidFill>
                  <a:schemeClr val="bg2"/>
                </a:solidFill>
              </a:rPr>
              <a:t>DevSecOps</a:t>
            </a:r>
            <a:r>
              <a:rPr lang="en-US" sz="2000" b="1" dirty="0">
                <a:solidFill>
                  <a:schemeClr val="bg2"/>
                </a:solidFill>
              </a:rPr>
              <a:t>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DevSecOps</a:t>
            </a:r>
            <a:r>
              <a:rPr lang="en-US" dirty="0"/>
              <a:t> = </a:t>
            </a:r>
            <a:r>
              <a:rPr lang="en-US" b="1" dirty="0"/>
              <a:t>Development + Security + Operations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Integrates </a:t>
            </a:r>
            <a:r>
              <a:rPr lang="en-US" b="1" dirty="0"/>
              <a:t>security automation</a:t>
            </a:r>
            <a:r>
              <a:rPr lang="en-US" dirty="0"/>
              <a:t> into CI/CD pipelines.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Ensures </a:t>
            </a:r>
            <a:r>
              <a:rPr lang="en-US" b="1" dirty="0"/>
              <a:t>security is applied from development to deployment</a:t>
            </a:r>
            <a:r>
              <a:rPr lang="en-US" dirty="0"/>
              <a:t>.</a:t>
            </a:r>
          </a:p>
          <a:p>
            <a:pPr algn="ctr">
              <a:lnSpc>
                <a:spcPct val="150000"/>
              </a:lnSpc>
            </a:pPr>
            <a:r>
              <a:rPr lang="en-US" sz="2000" b="1" dirty="0" err="1">
                <a:solidFill>
                  <a:schemeClr val="bg2"/>
                </a:solidFill>
              </a:rPr>
              <a:t>DevSecOps</a:t>
            </a:r>
            <a:r>
              <a:rPr lang="en-US" sz="2000" b="1" dirty="0">
                <a:solidFill>
                  <a:schemeClr val="bg2"/>
                </a:solidFill>
              </a:rPr>
              <a:t> Principles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Shift Left Security</a:t>
            </a:r>
            <a:r>
              <a:rPr lang="en-US" dirty="0"/>
              <a:t>: Security is implemented </a:t>
            </a:r>
            <a:r>
              <a:rPr lang="en-US" b="1" dirty="0"/>
              <a:t>early</a:t>
            </a:r>
            <a:r>
              <a:rPr lang="en-US" dirty="0"/>
              <a:t> in the development cycle.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Automated Security Checks</a:t>
            </a:r>
            <a:r>
              <a:rPr lang="en-US" dirty="0"/>
              <a:t>: Vulnerability scanning in CI/CD.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Least Privilege Access</a:t>
            </a:r>
            <a:r>
              <a:rPr lang="en-US" dirty="0"/>
              <a:t>: Restrict access to only what is necessary.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Continuous Monitoring</a:t>
            </a:r>
            <a:r>
              <a:rPr lang="en-US" dirty="0"/>
              <a:t>: Detect threats in real-time.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B045FD8-3D5A-E61B-C706-FBFE971B1E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277447"/>
              </p:ext>
            </p:extLst>
          </p:nvPr>
        </p:nvGraphicFramePr>
        <p:xfrm>
          <a:off x="411061" y="4123532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52650250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037182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Security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Tool 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0395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Code Scanning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SonarQube, </a:t>
                      </a:r>
                      <a:r>
                        <a:rPr lang="en-US" dirty="0" err="1"/>
                        <a:t>Semgrep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368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Secrets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HashiCorp</a:t>
                      </a:r>
                      <a:r>
                        <a:rPr lang="en-US" dirty="0"/>
                        <a:t> Vault, AWS Secrets Manager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4243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Container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Trivy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Anchore</a:t>
                      </a:r>
                      <a:r>
                        <a:rPr lang="en-US" dirty="0"/>
                        <a:t>, Clair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1272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Infrastructure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Terraform Sentinel, Open Policy Agent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3497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Runtime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Falco, </a:t>
                      </a:r>
                      <a:r>
                        <a:rPr lang="en-US" dirty="0" err="1"/>
                        <a:t>Sysdig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35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0423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1312FC4B-1991-258D-A7AB-ABCD991F5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DD6A7ECD-1C5A-CD88-7E37-2FD3AED46C6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30DEE32F-03FC-8355-3C1E-F751F146804B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95D073E7-3A56-0C8E-A1B8-CA917391F3A3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4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71B74D89-6D54-770E-CA5E-9F9BB643B9C6}"/>
              </a:ext>
            </a:extLst>
          </p:cNvPr>
          <p:cNvSpPr txBox="1"/>
          <p:nvPr/>
        </p:nvSpPr>
        <p:spPr>
          <a:xfrm>
            <a:off x="838900" y="270436"/>
            <a:ext cx="436614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Secret Management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F0C0DD-9279-345A-732D-A529586D27A2}"/>
              </a:ext>
            </a:extLst>
          </p:cNvPr>
          <p:cNvSpPr txBox="1"/>
          <p:nvPr/>
        </p:nvSpPr>
        <p:spPr>
          <a:xfrm>
            <a:off x="411060" y="853514"/>
            <a:ext cx="11084881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2"/>
                </a:solidFill>
              </a:rPr>
              <a:t>Why is Secret Management Important?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Avoid </a:t>
            </a:r>
            <a:r>
              <a:rPr lang="en-US" b="1" dirty="0"/>
              <a:t>hardcoding credentials</a:t>
            </a:r>
            <a:r>
              <a:rPr lang="en-US" dirty="0"/>
              <a:t> in code repositories.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Reduce the risk of </a:t>
            </a:r>
            <a:r>
              <a:rPr lang="en-US" b="1" dirty="0"/>
              <a:t>credential leaks and unauthorized access</a:t>
            </a:r>
            <a:r>
              <a:rPr lang="en-US" dirty="0"/>
              <a:t>.</a:t>
            </a:r>
          </a:p>
          <a:p>
            <a:pPr algn="ctr"/>
            <a:r>
              <a:rPr lang="en-US" sz="2000" b="1" dirty="0">
                <a:solidFill>
                  <a:schemeClr val="bg2"/>
                </a:solidFill>
              </a:rPr>
              <a:t>Tools for Secrets Management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</a:t>
            </a:r>
            <a:r>
              <a:rPr lang="en-US" b="1" dirty="0" err="1"/>
              <a:t>HashiCorp</a:t>
            </a:r>
            <a:r>
              <a:rPr lang="en-US" b="1" dirty="0"/>
              <a:t> Vault</a:t>
            </a:r>
            <a:r>
              <a:rPr lang="en-US" dirty="0"/>
              <a:t>: Securely stores API keys, tokens, passwords.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AWS Secrets Manager</a:t>
            </a:r>
            <a:r>
              <a:rPr lang="en-US" dirty="0"/>
              <a:t>: Encrypts and rotates AWS credentials.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Ansible Vault</a:t>
            </a:r>
            <a:r>
              <a:rPr lang="en-US" dirty="0"/>
              <a:t>: Encrypts sensitive configuration files in playbooks.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SOPS (Mozilla)</a:t>
            </a:r>
            <a:r>
              <a:rPr lang="en-US" dirty="0"/>
              <a:t>: Encrypts YAML/JSON configurations.</a:t>
            </a:r>
          </a:p>
          <a:p>
            <a:r>
              <a:rPr lang="en-US" b="1" dirty="0"/>
              <a:t>Example: Storing a Secret in </a:t>
            </a:r>
            <a:r>
              <a:rPr lang="en-US" b="1" dirty="0" err="1"/>
              <a:t>HashiCorp</a:t>
            </a:r>
            <a:r>
              <a:rPr lang="en-US" b="1" dirty="0"/>
              <a:t> Vault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3FD494-A098-E61F-B03C-F22AB8BC66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060" y="3069505"/>
            <a:ext cx="6540500" cy="558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C6A159-51C9-7058-56BF-2AEB54A412F7}"/>
              </a:ext>
            </a:extLst>
          </p:cNvPr>
          <p:cNvSpPr txBox="1"/>
          <p:nvPr/>
        </p:nvSpPr>
        <p:spPr>
          <a:xfrm>
            <a:off x="411061" y="3657425"/>
            <a:ext cx="60974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Using Secrets in Terraform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2EBDC2-C45E-5B2B-3F17-399AFD2B87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060" y="3994322"/>
            <a:ext cx="3505200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158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A067AE75-9BD7-FAB0-5793-018261108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CD67583C-E326-68F7-1000-8971C6814D9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4CF49FE7-1508-759F-ADBF-559D5BAA9784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C45408A0-2519-2DFD-66E3-AAB35E3349EB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5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162528FF-0095-1EDE-59B2-445922435899}"/>
              </a:ext>
            </a:extLst>
          </p:cNvPr>
          <p:cNvSpPr txBox="1"/>
          <p:nvPr/>
        </p:nvSpPr>
        <p:spPr>
          <a:xfrm>
            <a:off x="838900" y="270436"/>
            <a:ext cx="436614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Infrastructure Security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210A6A-9806-6937-DAAE-2CDDF555DE72}"/>
              </a:ext>
            </a:extLst>
          </p:cNvPr>
          <p:cNvSpPr txBox="1"/>
          <p:nvPr/>
        </p:nvSpPr>
        <p:spPr>
          <a:xfrm>
            <a:off x="411061" y="853514"/>
            <a:ext cx="11106862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2"/>
                </a:solidFill>
              </a:rPr>
              <a:t>Securing Cloud Resources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Use IAM Roles and Policies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Grant </a:t>
            </a:r>
            <a:r>
              <a:rPr lang="en-US" b="1" dirty="0"/>
              <a:t>least privilege access</a:t>
            </a:r>
            <a:r>
              <a:rPr lang="en-US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Avoid using </a:t>
            </a:r>
            <a:r>
              <a:rPr lang="en-US" b="1" dirty="0"/>
              <a:t>root credentials</a:t>
            </a:r>
            <a:r>
              <a:rPr lang="en-US" dirty="0"/>
              <a:t> for automation.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Enable Logging and Auditing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b="1" dirty="0"/>
              <a:t>AWS CloudTrail</a:t>
            </a:r>
            <a:r>
              <a:rPr lang="en-US" dirty="0"/>
              <a:t>, </a:t>
            </a:r>
            <a:r>
              <a:rPr lang="en-US" b="1" dirty="0"/>
              <a:t>Azure Monitor</a:t>
            </a:r>
            <a:r>
              <a:rPr lang="en-US" dirty="0"/>
              <a:t>, </a:t>
            </a:r>
            <a:r>
              <a:rPr lang="en-US" b="1" dirty="0"/>
              <a:t>GCP Audit Logs</a:t>
            </a:r>
            <a:r>
              <a:rPr lang="en-US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Implement </a:t>
            </a:r>
            <a:r>
              <a:rPr lang="en-US" b="1" dirty="0"/>
              <a:t>SIEM solutions</a:t>
            </a:r>
            <a:r>
              <a:rPr lang="en-US" dirty="0"/>
              <a:t> for log analysis.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Encrypt Data in Transit and at Rest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b="1" dirty="0"/>
              <a:t>TLS certificates</a:t>
            </a:r>
            <a:r>
              <a:rPr lang="en-US" dirty="0"/>
              <a:t> for securing communication.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Encrypt storage (EBS, S3, RDS) using </a:t>
            </a:r>
            <a:r>
              <a:rPr lang="en-US" b="1" dirty="0"/>
              <a:t>KMS keys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Secure CI/CD Pipelines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Scan images for vulnerabilities before deployment.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Apply </a:t>
            </a:r>
            <a:r>
              <a:rPr lang="en-US" b="1" dirty="0"/>
              <a:t>code signing</a:t>
            </a:r>
            <a:r>
              <a:rPr lang="en-US" dirty="0"/>
              <a:t> to prevent unauthorized code changes.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Restrict access to CI/CD runners and limit pipeline execution.</a:t>
            </a:r>
          </a:p>
          <a:p>
            <a:r>
              <a:rPr lang="en-US" b="1" dirty="0"/>
              <a:t>Example: Terraform Sentinel Policy for IAM Security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70A265-4D0C-9DB6-2F2A-00A155D540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061" y="4205263"/>
            <a:ext cx="7772400" cy="163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618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F79AC0D0-B6BE-1D24-62F3-339CE1618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C74955B2-AF3E-860C-A827-2E8D7E9790E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8DB03A8F-D4EE-1E83-B718-CB4A89BC3C80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B35DDB7D-DA75-AA27-6204-2EC413609FF4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6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F4B9EC73-7CC5-D208-FF95-FF9A6147BF80}"/>
              </a:ext>
            </a:extLst>
          </p:cNvPr>
          <p:cNvSpPr txBox="1"/>
          <p:nvPr/>
        </p:nvSpPr>
        <p:spPr>
          <a:xfrm>
            <a:off x="838900" y="270436"/>
            <a:ext cx="436614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Understanding Security in DevOps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10B2D1-A543-27A4-C92F-F2527B1A8414}"/>
              </a:ext>
            </a:extLst>
          </p:cNvPr>
          <p:cNvSpPr txBox="1"/>
          <p:nvPr/>
        </p:nvSpPr>
        <p:spPr>
          <a:xfrm>
            <a:off x="411061" y="909948"/>
            <a:ext cx="609746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Implement Security in CI/CD Pipelines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Run </a:t>
            </a:r>
            <a:r>
              <a:rPr lang="en-US" b="1" dirty="0" err="1"/>
              <a:t>Snyk</a:t>
            </a:r>
            <a:r>
              <a:rPr lang="en-US" b="1" dirty="0"/>
              <a:t> or </a:t>
            </a:r>
            <a:r>
              <a:rPr lang="en-US" b="1" dirty="0" err="1"/>
              <a:t>Trivy</a:t>
            </a:r>
            <a:r>
              <a:rPr lang="en-US" dirty="0"/>
              <a:t> in a GitHub Actions pipeline to scan container images.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Example GitHub Actions workflow: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218700-D3CB-BF1B-FA2B-F10FB43B0A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061" y="1702777"/>
            <a:ext cx="6248400" cy="2476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AE44E8-FBEA-9476-6236-AA95E7ED429B}"/>
              </a:ext>
            </a:extLst>
          </p:cNvPr>
          <p:cNvSpPr txBox="1"/>
          <p:nvPr/>
        </p:nvSpPr>
        <p:spPr>
          <a:xfrm>
            <a:off x="411061" y="4233442"/>
            <a:ext cx="60974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2. Use </a:t>
            </a:r>
            <a:r>
              <a:rPr lang="en-US" b="1" dirty="0" err="1"/>
              <a:t>HashiCorp</a:t>
            </a:r>
            <a:r>
              <a:rPr lang="en-US" b="1" dirty="0"/>
              <a:t> Vault for Secret Management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Store a </a:t>
            </a:r>
            <a:r>
              <a:rPr lang="en-US" b="1" dirty="0"/>
              <a:t>database password</a:t>
            </a:r>
            <a:r>
              <a:rPr lang="en-US" dirty="0"/>
              <a:t> securely.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Retrieve and use it in an Ansible playbook.</a:t>
            </a:r>
          </a:p>
          <a:p>
            <a:r>
              <a:rPr lang="en-US" b="1" dirty="0"/>
              <a:t>3. Apply IAM Best Practices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Create a </a:t>
            </a:r>
            <a:r>
              <a:rPr lang="en-US" b="1" dirty="0"/>
              <a:t>least privilege IAM role</a:t>
            </a:r>
            <a:r>
              <a:rPr lang="en-US" dirty="0"/>
              <a:t> for an EC2 instance.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Enable </a:t>
            </a:r>
            <a:r>
              <a:rPr lang="en-US" b="1" dirty="0"/>
              <a:t>AWS </a:t>
            </a:r>
            <a:r>
              <a:rPr lang="en-US" b="1" dirty="0" err="1"/>
              <a:t>GuardDuty</a:t>
            </a:r>
            <a:r>
              <a:rPr lang="en-US" dirty="0"/>
              <a:t> for threat detection.</a:t>
            </a:r>
          </a:p>
        </p:txBody>
      </p:sp>
    </p:spTree>
    <p:extLst>
      <p:ext uri="{BB962C8B-B14F-4D97-AF65-F5344CB8AC3E}">
        <p14:creationId xmlns:p14="http://schemas.microsoft.com/office/powerpoint/2010/main" val="1268306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BFF87714-CD4A-4470-30AB-5B098BD80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9700890A-CFA4-6E11-6950-17755FBBF3B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C1333814-93B8-8DD7-801A-85E671682FFA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A8583BA8-09EE-8DBD-FD11-82A2F09A062F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7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EB502F4D-9DAB-8339-C619-4C3DBAD3F230}"/>
              </a:ext>
            </a:extLst>
          </p:cNvPr>
          <p:cNvSpPr txBox="1"/>
          <p:nvPr/>
        </p:nvSpPr>
        <p:spPr>
          <a:xfrm>
            <a:off x="838900" y="270436"/>
            <a:ext cx="436614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Homework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FF1B79-7710-BBD2-1932-5578B122407B}"/>
              </a:ext>
            </a:extLst>
          </p:cNvPr>
          <p:cNvSpPr txBox="1"/>
          <p:nvPr/>
        </p:nvSpPr>
        <p:spPr>
          <a:xfrm>
            <a:off x="411061" y="916432"/>
            <a:ext cx="6097464" cy="3607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Secure a Cloud Resource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Apply </a:t>
            </a:r>
            <a:r>
              <a:rPr lang="en-US" b="1" dirty="0"/>
              <a:t>IAM least privilege</a:t>
            </a:r>
            <a:r>
              <a:rPr lang="en-US" dirty="0"/>
              <a:t> to an AWS EC2 instance.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Enable </a:t>
            </a:r>
            <a:r>
              <a:rPr lang="en-US" b="1" dirty="0"/>
              <a:t>logging and encryption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Automate Security Scanning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Add </a:t>
            </a:r>
            <a:r>
              <a:rPr lang="en-US" b="1" dirty="0"/>
              <a:t>SonarQube, </a:t>
            </a:r>
            <a:r>
              <a:rPr lang="en-US" b="1" dirty="0" err="1"/>
              <a:t>Trivy</a:t>
            </a:r>
            <a:r>
              <a:rPr lang="en-US" b="1" dirty="0"/>
              <a:t>, or </a:t>
            </a:r>
            <a:r>
              <a:rPr lang="en-US" b="1" dirty="0" err="1"/>
              <a:t>Checkov</a:t>
            </a:r>
            <a:r>
              <a:rPr lang="en-US" dirty="0"/>
              <a:t> to a GitHub Actions pipeline.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Review scan results and mitigate vulnerabilities.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Implement Secrets Management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Store a </a:t>
            </a:r>
            <a:r>
              <a:rPr lang="en-US" b="1" dirty="0"/>
              <a:t>secret in </a:t>
            </a:r>
            <a:r>
              <a:rPr lang="en-US" b="1" dirty="0" err="1"/>
              <a:t>HashiCorp</a:t>
            </a:r>
            <a:r>
              <a:rPr lang="en-US" b="1" dirty="0"/>
              <a:t> Vault</a:t>
            </a:r>
            <a:r>
              <a:rPr lang="en-US" dirty="0"/>
              <a:t> and retrieve it via Ansible.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Use AWS Secrets Manager to store and retrieve an RDS password.</a:t>
            </a:r>
          </a:p>
        </p:txBody>
      </p:sp>
    </p:spTree>
    <p:extLst>
      <p:ext uri="{BB962C8B-B14F-4D97-AF65-F5344CB8AC3E}">
        <p14:creationId xmlns:p14="http://schemas.microsoft.com/office/powerpoint/2010/main" val="813042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B2EF4175-80FB-49A1-A042-D35D0E8F1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686</Words>
  <Application>Microsoft Macintosh PowerPoint</Application>
  <PresentationFormat>Widescreen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Montserrat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Varsenik</dc:creator>
  <cp:lastModifiedBy>Grigoryan, Grigor (external - Project)</cp:lastModifiedBy>
  <cp:revision>3</cp:revision>
  <dcterms:created xsi:type="dcterms:W3CDTF">2024-08-30T07:18:33Z</dcterms:created>
  <dcterms:modified xsi:type="dcterms:W3CDTF">2025-03-08T13:00:10Z</dcterms:modified>
</cp:coreProperties>
</file>