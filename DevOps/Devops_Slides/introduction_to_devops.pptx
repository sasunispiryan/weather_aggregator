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</p:sldIdLst>
  <p:sldSz cx="12192000" cy="6858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Montserrat Black" panose="020F0502020204030204" pitchFamily="34" charset="0"/>
      <p:bold r:id="rId18"/>
      <p:italic r:id="rId19"/>
      <p:boldItalic r:id="rId20"/>
    </p:embeddedFont>
    <p:embeddedFont>
      <p:font typeface="Montserrat SemiBold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4"/>
    <p:restoredTop sz="94706"/>
  </p:normalViewPr>
  <p:slideViewPr>
    <p:cSldViewPr snapToGrid="0">
      <p:cViewPr>
        <p:scale>
          <a:sx n="200" d="100"/>
          <a:sy n="200" d="100"/>
        </p:scale>
        <p:origin x="3536" y="2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04BA4DB-A48E-F0F0-A3D5-C4CC315C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DD2913A-DFD2-6AFC-F3D8-4E5A7F94C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6FEE1DC-821B-4BD6-0DD4-77DEB4C69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812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A637DE-6D5C-BFCA-6975-9653E28C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AC8A67A-E99A-3C0C-068C-B0BFC4FBA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D26F2275-F023-4478-CFDC-7EC76CA30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313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D537A1-F9C1-886B-2CD6-11B5F558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EC83B31-4F94-FF5B-5047-961A4CFF1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C0D61B5-7DA5-B674-B802-96FC48E83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0557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36C2621-7591-AA9C-45C8-5EED090F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946D511-7579-9FFD-46E5-35A80752A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1D8ED084-D5A1-B989-DCDE-03A6609D1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9940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F110559-60A0-A91A-9F1C-757F3966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613D0A4-42C7-B2AF-4A95-54F5504A5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2BF84D2-BD3F-ACED-51AE-FA8078508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4709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cw.cs.pub.ro/courses/se/labs/07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hyperlink" Target="https://earlruby.org/2019/01/creating-aws-efs-elastic-filesystems-with-terrafor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academy.hsoub.com/questions/12096-%D9%85%D8%A7%D9%87%D9%8A-cicd/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07240" y="1366570"/>
            <a:ext cx="1137751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TO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DEVOPS CONCEPTS AND TOOLS</a:t>
            </a:r>
            <a:endParaRPr sz="1100"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>
            <a:cxnSpLocks/>
          </p:cNvCxnSpPr>
          <p:nvPr/>
        </p:nvCxnSpPr>
        <p:spPr>
          <a:xfrm>
            <a:off x="411061" y="746620"/>
            <a:ext cx="576113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5473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BC6CF-99CF-8AC1-74C4-0BA9ABDE071A}"/>
              </a:ext>
            </a:extLst>
          </p:cNvPr>
          <p:cNvSpPr txBox="1"/>
          <p:nvPr/>
        </p:nvSpPr>
        <p:spPr>
          <a:xfrm>
            <a:off x="411060" y="952838"/>
            <a:ext cx="10923689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Agenda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What is DevOps?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Key DevOps Principles and Practices.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Overview of Popular DevOps Tools.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Benefits and Challenges of Adopting DevOps.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the purpose and goals of DevOps.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Familiarize with core DevOps practices like CI/CD and </a:t>
            </a:r>
            <a:r>
              <a:rPr lang="en-US" dirty="0" err="1"/>
              <a:t>IaC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about commonly used DevOps tools.</a:t>
            </a:r>
          </a:p>
        </p:txBody>
      </p:sp>
      <p:pic>
        <p:nvPicPr>
          <p:cNvPr id="6" name="Picture 5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9E019A86-4CEC-AFCB-A691-6CB7685228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19600" y="0"/>
            <a:ext cx="7772400" cy="5450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What is DevOps?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6DC73-21AE-B3E9-6289-C8555A4D70ED}"/>
              </a:ext>
            </a:extLst>
          </p:cNvPr>
          <p:cNvSpPr txBox="1"/>
          <p:nvPr/>
        </p:nvSpPr>
        <p:spPr>
          <a:xfrm>
            <a:off x="411060" y="824219"/>
            <a:ext cx="10872889" cy="2914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Definition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DevOps</a:t>
            </a:r>
            <a:r>
              <a:rPr lang="en-US" dirty="0"/>
              <a:t>: A set of practices that combines software development (Dev) and IT operations (Ops) to shorten the development lifecycle and deliver high-quality software.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Goals of DevOps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Faster Delivery</a:t>
            </a:r>
            <a:r>
              <a:rPr lang="en-US" dirty="0"/>
              <a:t>: Accelerate development and deployment cycles.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Improved Collaboration</a:t>
            </a:r>
            <a:r>
              <a:rPr lang="en-US" dirty="0"/>
              <a:t>: Break silos between development and operations teams.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Higher Reliability</a:t>
            </a:r>
            <a:r>
              <a:rPr lang="en-US" dirty="0"/>
              <a:t>: Deliver stable, bug-free software consistently.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Scalability</a:t>
            </a:r>
            <a:r>
              <a:rPr lang="en-US" dirty="0"/>
              <a:t>: Automate processes to manage complex and growing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90BF59D-814D-44F9-1D0C-ACCF21B0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62D8C3AC-70F7-D921-C0EC-CB4BC73115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A7AFA624-25CE-BD4E-8D65-A534940C7054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79593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5C99A7D3-A346-5B48-9D01-C2B1B8AB12E1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E900D90-8348-D725-F9E0-229C2F9605B6}"/>
              </a:ext>
            </a:extLst>
          </p:cNvPr>
          <p:cNvSpPr txBox="1"/>
          <p:nvPr/>
        </p:nvSpPr>
        <p:spPr>
          <a:xfrm>
            <a:off x="838900" y="270436"/>
            <a:ext cx="4482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Key DevOps Principles and Practices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66BC5-C6E9-F2DE-512A-3ABD3A0345A5}"/>
              </a:ext>
            </a:extLst>
          </p:cNvPr>
          <p:cNvSpPr txBox="1"/>
          <p:nvPr/>
        </p:nvSpPr>
        <p:spPr>
          <a:xfrm>
            <a:off x="411060" y="853514"/>
            <a:ext cx="11031639" cy="346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Principles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Collaboration</a:t>
            </a:r>
            <a:r>
              <a:rPr lang="en-US" dirty="0"/>
              <a:t>: Foster a culture of shared responsibility.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Automation</a:t>
            </a:r>
            <a:r>
              <a:rPr lang="en-US" dirty="0"/>
              <a:t>: Reduce manual tasks for speed and consistency.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Improvement</a:t>
            </a:r>
            <a:r>
              <a:rPr lang="en-US" dirty="0"/>
              <a:t>: Emphasize feedback and iteration.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Monitoring and Feedback Loops</a:t>
            </a:r>
            <a:r>
              <a:rPr lang="en-US" dirty="0"/>
              <a:t>: Gain insights into performance and user behavior.</a:t>
            </a: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Practices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Integration (CI)</a:t>
            </a:r>
            <a:r>
              <a:rPr lang="en-US" dirty="0"/>
              <a:t>: Merge code changes frequently into a shared repository.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Deployment (CD)</a:t>
            </a:r>
            <a:r>
              <a:rPr lang="en-US" dirty="0"/>
              <a:t>: Automate the release process for faster delivery.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Infrastructure as Code (</a:t>
            </a:r>
            <a:r>
              <a:rPr lang="en-US" b="1" dirty="0" err="1"/>
              <a:t>IaC</a:t>
            </a:r>
            <a:r>
              <a:rPr lang="en-US" b="1" dirty="0"/>
              <a:t>)</a:t>
            </a:r>
            <a:r>
              <a:rPr lang="en-US" dirty="0"/>
              <a:t>: Manage infrastructure using code to ensure consistency.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Monitoring and Logging</a:t>
            </a:r>
            <a:r>
              <a:rPr lang="en-US" dirty="0"/>
              <a:t>: Track system performance and detect issues early.</a:t>
            </a:r>
          </a:p>
        </p:txBody>
      </p:sp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6A3BC8EB-1117-31D0-A7A5-5E089A8D3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1059" y="4536006"/>
            <a:ext cx="3572471" cy="1744135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599F40C-BBB0-88C0-8CC5-6C09A4418E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124859" y="4866780"/>
            <a:ext cx="4343400" cy="1524000"/>
          </a:xfrm>
          <a:prstGeom prst="rect">
            <a:avLst/>
          </a:prstGeom>
        </p:spPr>
      </p:pic>
      <p:pic>
        <p:nvPicPr>
          <p:cNvPr id="1028" name="Picture 4" descr="ELK Stack Architecture and How Does It Works | by KATHISH KUMARAN R |  YavarTechWorks | Medium">
            <a:extLst>
              <a:ext uri="{FF2B5EF4-FFF2-40B4-BE49-F238E27FC236}">
                <a16:creationId xmlns:a16="http://schemas.microsoft.com/office/drawing/2014/main" id="{21FB0F9D-7490-96C6-BE73-3483CB5AB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433" y="5118100"/>
            <a:ext cx="3334525" cy="122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57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8C80082-409A-ECA7-0A5E-684BD0F49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FB92C3AE-82FE-C2E2-A692-C1D71F92D6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D08572A3-C547-8CAA-A53D-70985E4F9366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56733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0008B2A-33CD-E2BB-8D5A-D9606588D2E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A7898E7-B6D3-378A-E551-9EDFD439A7E0}"/>
              </a:ext>
            </a:extLst>
          </p:cNvPr>
          <p:cNvSpPr txBox="1"/>
          <p:nvPr/>
        </p:nvSpPr>
        <p:spPr>
          <a:xfrm>
            <a:off x="838900" y="270436"/>
            <a:ext cx="422805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Overview of Popular DevOps Tools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6CC42-0E00-01A8-6062-C1EA5FDAFFD1}"/>
              </a:ext>
            </a:extLst>
          </p:cNvPr>
          <p:cNvSpPr txBox="1"/>
          <p:nvPr/>
        </p:nvSpPr>
        <p:spPr>
          <a:xfrm>
            <a:off x="411060" y="934929"/>
            <a:ext cx="11037989" cy="4530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Categories of Tools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Version Control Systems</a:t>
            </a:r>
            <a:r>
              <a:rPr lang="en-US" dirty="0"/>
              <a:t>: Git, GitHub, GitLab.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Integration/Continuous Deployment (CI/CD)</a:t>
            </a:r>
            <a:r>
              <a:rPr lang="en-US" dirty="0"/>
              <a:t>: Jenkins, GitHub Actions, GitLab CI/CD.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Containerization and Orchestration</a:t>
            </a:r>
            <a:r>
              <a:rPr lang="en-US" dirty="0"/>
              <a:t>: Docker, Kubernetes.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Infrastructure as Code</a:t>
            </a:r>
            <a:r>
              <a:rPr lang="en-US" dirty="0"/>
              <a:t>: Terraform, CloudFormation.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Configuration Management</a:t>
            </a:r>
            <a:r>
              <a:rPr lang="en-US" dirty="0"/>
              <a:t>: Ansible, Chef, Puppet.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Monitoring and Logging</a:t>
            </a:r>
            <a:r>
              <a:rPr lang="en-US" dirty="0"/>
              <a:t>: Prometheus, Grafana, ELK Stack (Elasticsearch, Logstash, Kibana).</a:t>
            </a:r>
          </a:p>
          <a:p>
            <a:pPr algn="ctr">
              <a:lnSpc>
                <a:spcPct val="150000"/>
              </a:lnSpc>
            </a:pPr>
            <a:endParaRPr lang="en-US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Example Workflow with Tools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Developer pushes code to GitHub.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CI/CD tool (e.g., Jenkins) builds and tests the application.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Docker containers are created and deployed.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Monitoring tools (e.g., Prometheus) track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1730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0DF57C8-8B07-70EF-5482-05FE9CA7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566FA17-EF9D-286C-D528-C33DA195C3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519DCC0-1E2A-9C67-30A9-B27AF7CAA10D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4668939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83C3A9F-C50A-9D7E-A058-C2D6078BA69E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6570D11-6BC2-24C2-69ED-9DCC6C6F8449}"/>
              </a:ext>
            </a:extLst>
          </p:cNvPr>
          <p:cNvSpPr txBox="1"/>
          <p:nvPr/>
        </p:nvSpPr>
        <p:spPr>
          <a:xfrm>
            <a:off x="838900" y="270436"/>
            <a:ext cx="4355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Benefits and Challenges of DevOps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629C34-B9AC-8E76-8189-A089E39AFA6B}"/>
              </a:ext>
            </a:extLst>
          </p:cNvPr>
          <p:cNvSpPr txBox="1"/>
          <p:nvPr/>
        </p:nvSpPr>
        <p:spPr>
          <a:xfrm>
            <a:off x="411060" y="908388"/>
            <a:ext cx="11101489" cy="392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Benefits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Faster delivery of features.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Improved collaboration and communication.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Higher software quality and reliability.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Better scalability and infrastructure management.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Challenges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Cultural shifts: Breaking silos and fostering collaboration.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Complexity of tools: Learning and integrating new technologies.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Continuous improvement: Adapting to changing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38693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FD3DC1A-AB61-8758-17D5-01A5023A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7EB1D72E-D8C0-86F7-FE5D-A4D71CEA39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2A3E1F8A-1371-AD82-789D-1A5473CDCBCD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D63B304-57F6-9C58-85C9-9D5FA547EA92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E8CD167-5A9E-C6FB-FC7D-2AA2E3AD1269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337DA-AD99-296C-352A-75F2FED57586}"/>
              </a:ext>
            </a:extLst>
          </p:cNvPr>
          <p:cNvSpPr txBox="1"/>
          <p:nvPr/>
        </p:nvSpPr>
        <p:spPr>
          <a:xfrm>
            <a:off x="411060" y="1022458"/>
            <a:ext cx="11114189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 DevOps Principles in Action</a:t>
            </a:r>
            <a:r>
              <a:rPr lang="en-US" sz="1600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Discuss how DevOps practices can be applied in your current workflows.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 Tool Exploration</a:t>
            </a:r>
            <a:r>
              <a:rPr lang="en-US" sz="1600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Set up a free GitHub repository.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Push a small project and explore GitHub Actions.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Write a simple CI/CD pipeline in GitHub Actions to build and test the code.</a:t>
            </a:r>
          </a:p>
        </p:txBody>
      </p:sp>
      <p:pic>
        <p:nvPicPr>
          <p:cNvPr id="2050" name="Picture 2" descr="Romano Roth on LinkedIn: #devops #meme">
            <a:extLst>
              <a:ext uri="{FF2B5EF4-FFF2-40B4-BE49-F238E27FC236}">
                <a16:creationId xmlns:a16="http://schemas.microsoft.com/office/drawing/2014/main" id="{9227C338-1AE9-0C2A-1439-CCC7E5C43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872" y="3429000"/>
            <a:ext cx="3158564" cy="315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04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4FAB47A-C924-9ADC-5BA0-263797B0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C6957AC-D397-3B45-9B1D-55A7FA138C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1AA059F3-975A-A85D-728D-F26AF64BF80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F91EF55D-CA08-F284-1955-A43DEA887056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CCB8D99-53BC-426B-4D2A-926112DBCADC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5EE97-061B-828E-72B3-5C7BEAD142B6}"/>
              </a:ext>
            </a:extLst>
          </p:cNvPr>
          <p:cNvSpPr txBox="1"/>
          <p:nvPr/>
        </p:nvSpPr>
        <p:spPr>
          <a:xfrm>
            <a:off x="411060" y="853473"/>
            <a:ext cx="11069739" cy="2949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Explore DevOps Tools: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Set up a personal project repository on GitHub or GitLab.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Implement a basic CI/CD pipeline using GitHub Actions or GitLab CI/CD.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Identify DevOps Practices: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Reflect on how DevOps principles could improve workflows in your projects or work.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Research Monitoring Tools: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Learn about Prometheus or Grafana, and list scenarios where monitoring is essential.</a:t>
            </a:r>
          </a:p>
        </p:txBody>
      </p:sp>
    </p:spTree>
    <p:extLst>
      <p:ext uri="{BB962C8B-B14F-4D97-AF65-F5344CB8AC3E}">
        <p14:creationId xmlns:p14="http://schemas.microsoft.com/office/powerpoint/2010/main" val="78843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Macintosh PowerPoint</Application>
  <PresentationFormat>Widescreen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Montserrat Black</vt:lpstr>
      <vt:lpstr>Calibri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1</cp:revision>
  <dcterms:created xsi:type="dcterms:W3CDTF">2024-08-30T07:18:33Z</dcterms:created>
  <dcterms:modified xsi:type="dcterms:W3CDTF">2025-01-18T07:18:39Z</dcterms:modified>
</cp:coreProperties>
</file>