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0" r:id="rId11"/>
  </p:sldIdLst>
  <p:sldSz cx="12192000" cy="6858000"/>
  <p:notesSz cx="6858000" cy="9144000"/>
  <p:embeddedFontLst>
    <p:embeddedFont>
      <p:font typeface="Montserrat" pitchFamily="2" charset="77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wkR7Rr2iGqBA2Q0lEScORMrWr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4"/>
    <p:restoredTop sz="94706"/>
  </p:normalViewPr>
  <p:slideViewPr>
    <p:cSldViewPr snapToGrid="0">
      <p:cViewPr varScale="1">
        <p:scale>
          <a:sx n="290" d="100"/>
          <a:sy n="290" d="100"/>
        </p:scale>
        <p:origin x="13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2E4BE6B-6A2D-5DD1-54C0-ECE5F97F9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BDCB1B2A-E5F1-B6D6-24BF-A3E7B06FD2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9048FD0B-0EEB-0267-96E7-22DA7E2567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358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C66892E-6EE7-0737-A3CA-A8EB34A6E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8BE72446-2CC6-5805-CC0F-532FFFB28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BF5B5FB6-CF3F-9CBC-592A-CC14AA01D7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766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CCC23ED-3E75-2746-C1F1-CF444F466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8E5ED744-BAD7-CB04-DD3D-396B85D951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74478A73-C9C2-606D-164C-D2DBCEA6B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7876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5228F30B-4445-E32E-63F9-CAB397F38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455595F6-F126-D3D5-BBB4-9540E63AA2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00BF12CC-B1A0-A57A-ED78-E1131A0861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6607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50C2A742-8A98-8E88-0D09-148BFC264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1DA0283E-30FD-73B7-33E4-6E7D77E0AB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F6E85D35-9F60-847D-FCA5-94A150C7B3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9979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www.ks7000.net.ve/2020/11/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текст, белый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D382426-30CA-4FD9-AD51-B1218D04B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34AD8E-4CA4-A0E4-A4AE-CF2719DA1E67}"/>
              </a:ext>
            </a:extLst>
          </p:cNvPr>
          <p:cNvSpPr txBox="1"/>
          <p:nvPr/>
        </p:nvSpPr>
        <p:spPr>
          <a:xfrm>
            <a:off x="290146" y="1437542"/>
            <a:ext cx="1179927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2"/>
                </a:solidFill>
                <a:latin typeface="Montserrat" pitchFamily="2" charset="77"/>
              </a:rPr>
              <a:t>CONFIGURATION MANAGEMENT </a:t>
            </a:r>
          </a:p>
          <a:p>
            <a:pPr algn="ctr"/>
            <a:r>
              <a:rPr lang="en-US" sz="6000" b="1" dirty="0">
                <a:solidFill>
                  <a:schemeClr val="bg2"/>
                </a:solidFill>
                <a:latin typeface="Montserrat" pitchFamily="2" charset="77"/>
              </a:rPr>
              <a:t>WITH </a:t>
            </a:r>
          </a:p>
          <a:p>
            <a:pPr algn="ctr"/>
            <a:r>
              <a:rPr lang="en-US" sz="6000" b="1" dirty="0">
                <a:solidFill>
                  <a:schemeClr val="bg2"/>
                </a:solidFill>
                <a:latin typeface="Montserrat" pitchFamily="2" charset="77"/>
              </a:rPr>
              <a:t>ANSIBLE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Agenda and Objectives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F0323F-C121-E963-FD11-B4BD55DF06F9}"/>
              </a:ext>
            </a:extLst>
          </p:cNvPr>
          <p:cNvSpPr txBox="1"/>
          <p:nvPr/>
        </p:nvSpPr>
        <p:spPr>
          <a:xfrm>
            <a:off x="411061" y="824219"/>
            <a:ext cx="11155220" cy="3561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Agenda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Introduction to Configuration Management.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What is Ansible and How It Works?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Setting Up Ansible.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Writing and Running Ansible Playbooks.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Hands-on: Configuring a Server with Ansible.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Objectives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Understand the need for configuration management.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Learn how Ansible automates infrastructure provisioning.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Write and execute Ansible playbooks.</a:t>
            </a:r>
          </a:p>
        </p:txBody>
      </p:sp>
      <p:pic>
        <p:nvPicPr>
          <p:cNvPr id="5" name="Picture 4" descr="A black circle with white letter a in it&#10;&#10;AI-generated content may be incorrect.">
            <a:extLst>
              <a:ext uri="{FF2B5EF4-FFF2-40B4-BE49-F238E27FC236}">
                <a16:creationId xmlns:a16="http://schemas.microsoft.com/office/drawing/2014/main" id="{BAB1B68F-8132-571D-DD18-3B579011F9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57887" y="4931099"/>
            <a:ext cx="1313470" cy="1616578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44E8569-D036-1B31-25A1-441BBF53E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178" y="5116284"/>
            <a:ext cx="2946400" cy="104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evOps Automation with Chef">
            <a:extLst>
              <a:ext uri="{FF2B5EF4-FFF2-40B4-BE49-F238E27FC236}">
                <a16:creationId xmlns:a16="http://schemas.microsoft.com/office/drawing/2014/main" id="{86DE281E-65BD-E7E0-8B89-F48426517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063" y="5114865"/>
            <a:ext cx="3542487" cy="1278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>
            <a:cxnSpLocks/>
          </p:cNvCxnSpPr>
          <p:nvPr/>
        </p:nvCxnSpPr>
        <p:spPr>
          <a:xfrm>
            <a:off x="411061" y="746620"/>
            <a:ext cx="5611670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550475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Configuration Management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B2B0D8-1301-2848-9E8C-B55D66F58B56}"/>
              </a:ext>
            </a:extLst>
          </p:cNvPr>
          <p:cNvSpPr txBox="1"/>
          <p:nvPr/>
        </p:nvSpPr>
        <p:spPr>
          <a:xfrm>
            <a:off x="411061" y="960457"/>
            <a:ext cx="11105078" cy="2453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Why is Configuration Management Important?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Ensures </a:t>
            </a:r>
            <a:r>
              <a:rPr lang="en-US" b="1" dirty="0"/>
              <a:t>consistency</a:t>
            </a:r>
            <a:r>
              <a:rPr lang="en-US" dirty="0"/>
              <a:t> across multiple servers.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Automates </a:t>
            </a:r>
            <a:r>
              <a:rPr lang="en-US" b="1" dirty="0"/>
              <a:t>manual configuration tasks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Reduces </a:t>
            </a:r>
            <a:r>
              <a:rPr lang="en-US" b="1" dirty="0"/>
              <a:t>human errors and deployment time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Supports </a:t>
            </a:r>
            <a:r>
              <a:rPr lang="en-US" b="1" dirty="0"/>
              <a:t>scalability</a:t>
            </a:r>
            <a:r>
              <a:rPr lang="en-US" dirty="0"/>
              <a:t> in cloud environments.</a:t>
            </a:r>
          </a:p>
          <a:p>
            <a:pPr>
              <a:lnSpc>
                <a:spcPct val="150000"/>
              </a:lnSpc>
            </a:pPr>
            <a:br>
              <a:rPr lang="en-US" b="1" dirty="0"/>
            </a:br>
            <a:r>
              <a:rPr lang="en-US" b="1" dirty="0"/>
              <a:t>Common Configuration Management Tools: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57AC79-9470-C891-A471-0420E5E1E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318215"/>
              </p:ext>
            </p:extLst>
          </p:nvPr>
        </p:nvGraphicFramePr>
        <p:xfrm>
          <a:off x="494992" y="3480904"/>
          <a:ext cx="8128000" cy="184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5282414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9573807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281343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16623099"/>
                    </a:ext>
                  </a:extLst>
                </a:gridCol>
              </a:tblGrid>
              <a:tr h="3630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Agent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Cloud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840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YAML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Multi-Cloud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018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Puppet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Multi-Cloud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300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Multi-Cloud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52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SaltStack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Yaml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Multi-Cloud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613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9040ED6-CCFC-B8E0-27E0-00B28DB01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85F06B16-3812-32D7-0D81-6BBCAD108C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07A07F92-1CC0-3B80-94AE-A6EB430186EE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DB9F99E5-3C72-4A91-1F31-E5095FA3C686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83F3625-85DF-F8E6-1CD1-F373D2D5FF66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What is Ansible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52DA8C-3578-FE59-F0BE-CEDC53BD1465}"/>
              </a:ext>
            </a:extLst>
          </p:cNvPr>
          <p:cNvSpPr txBox="1"/>
          <p:nvPr/>
        </p:nvSpPr>
        <p:spPr>
          <a:xfrm>
            <a:off x="411061" y="853473"/>
            <a:ext cx="11007896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What is Ansible?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Open-source </a:t>
            </a:r>
            <a:r>
              <a:rPr lang="en-US" b="1" dirty="0"/>
              <a:t>configuration management</a:t>
            </a:r>
            <a:r>
              <a:rPr lang="en-US" dirty="0"/>
              <a:t> and </a:t>
            </a:r>
            <a:r>
              <a:rPr lang="en-US" b="1" dirty="0"/>
              <a:t>automation</a:t>
            </a:r>
            <a:r>
              <a:rPr lang="en-US" dirty="0"/>
              <a:t> tool.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Uses </a:t>
            </a:r>
            <a:r>
              <a:rPr lang="en-US" b="1" dirty="0"/>
              <a:t>agentless architecture</a:t>
            </a:r>
            <a:r>
              <a:rPr lang="en-US" dirty="0"/>
              <a:t>, relying on SSH.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Uses </a:t>
            </a:r>
            <a:r>
              <a:rPr lang="en-US" b="1" dirty="0"/>
              <a:t>YAML-based playbooks</a:t>
            </a:r>
            <a:r>
              <a:rPr lang="en-US" dirty="0"/>
              <a:t> to define configurations.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Key Ansible Components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Inventory</a:t>
            </a:r>
            <a:r>
              <a:rPr lang="en-US" dirty="0"/>
              <a:t> - Defines managed hosts.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Playbooks</a:t>
            </a:r>
            <a:r>
              <a:rPr lang="en-US" dirty="0"/>
              <a:t> - Declarative configuration files.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Modules</a:t>
            </a:r>
            <a:r>
              <a:rPr lang="en-US" dirty="0"/>
              <a:t> - Pre-built automation tasks.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Tasks</a:t>
            </a:r>
            <a:r>
              <a:rPr lang="en-US" dirty="0"/>
              <a:t> - Individual automation actions.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Handlers</a:t>
            </a:r>
            <a:r>
              <a:rPr lang="en-US" dirty="0"/>
              <a:t> - Execute actions when triggered.</a:t>
            </a:r>
          </a:p>
          <a:p>
            <a:pPr>
              <a:lnSpc>
                <a:spcPct val="150000"/>
              </a:lnSpc>
            </a:pPr>
            <a:br>
              <a:rPr lang="en-US" b="1" dirty="0"/>
            </a:br>
            <a:r>
              <a:rPr lang="en-US" b="1" dirty="0"/>
              <a:t>How Ansible 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FA6713-56FE-188A-853C-274E7617E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26" y="5060843"/>
            <a:ext cx="4744034" cy="4027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A30B1D-21E1-5F52-8BC6-84D2DB5F723C}"/>
              </a:ext>
            </a:extLst>
          </p:cNvPr>
          <p:cNvSpPr txBox="1"/>
          <p:nvPr/>
        </p:nvSpPr>
        <p:spPr>
          <a:xfrm>
            <a:off x="503826" y="5588160"/>
            <a:ext cx="60974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 </a:t>
            </a:r>
            <a:r>
              <a:rPr lang="en-US" b="1" dirty="0"/>
              <a:t>control node</a:t>
            </a:r>
            <a:r>
              <a:rPr lang="en-US" dirty="0"/>
              <a:t> (Ansible host) runs playbooks.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Uses SSH to connect and apply configurations to remote hosts.</a:t>
            </a:r>
          </a:p>
        </p:txBody>
      </p:sp>
    </p:spTree>
    <p:extLst>
      <p:ext uri="{BB962C8B-B14F-4D97-AF65-F5344CB8AC3E}">
        <p14:creationId xmlns:p14="http://schemas.microsoft.com/office/powerpoint/2010/main" val="49176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69738E7-CC1E-19B9-8CD4-95C71096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B4CB3D6C-0765-56ED-2DD5-FF7971A45B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B2B0FC8B-C4A5-713A-ACAA-1CA1EAF26381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3EB94254-4521-98BC-8563-33BED4630ED8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3151FE2-A15D-45B5-17A4-29A6AC162E3F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Setting Up Ansible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99AD65-B6A1-5632-505E-2DB61A652E57}"/>
              </a:ext>
            </a:extLst>
          </p:cNvPr>
          <p:cNvSpPr txBox="1"/>
          <p:nvPr/>
        </p:nvSpPr>
        <p:spPr>
          <a:xfrm>
            <a:off x="411061" y="975924"/>
            <a:ext cx="6097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Installing Ansible (Linux/MacOS)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BB5EDB-9E0D-010E-A25B-6F70A2EB8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1" y="1281272"/>
            <a:ext cx="6162017" cy="6786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72DEDC-566F-B160-23EC-8AEA9355722F}"/>
              </a:ext>
            </a:extLst>
          </p:cNvPr>
          <p:cNvSpPr txBox="1"/>
          <p:nvPr/>
        </p:nvSpPr>
        <p:spPr>
          <a:xfrm>
            <a:off x="411061" y="2157694"/>
            <a:ext cx="6097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Configuring Ansible Inventory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90DA3F-3C58-440A-F318-9B51E9D74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061" y="2470227"/>
            <a:ext cx="4037252" cy="8715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8EB411-1332-4C25-7E2C-2D58C610EBD1}"/>
              </a:ext>
            </a:extLst>
          </p:cNvPr>
          <p:cNvSpPr txBox="1"/>
          <p:nvPr/>
        </p:nvSpPr>
        <p:spPr>
          <a:xfrm>
            <a:off x="411061" y="3404422"/>
            <a:ext cx="6097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Testing Ansible Connection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01D079-70D8-F4C3-17E2-6B40F4CC32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061" y="3712199"/>
            <a:ext cx="4744035" cy="4272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188ACB-C2B0-2DD5-2066-C4177F53ED2A}"/>
              </a:ext>
            </a:extLst>
          </p:cNvPr>
          <p:cNvSpPr txBox="1"/>
          <p:nvPr/>
        </p:nvSpPr>
        <p:spPr>
          <a:xfrm>
            <a:off x="411061" y="4139491"/>
            <a:ext cx="6097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Expected Output: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1B1E62-EBCB-B6E8-EB72-FDD58E0719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061" y="4447268"/>
            <a:ext cx="4744035" cy="45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14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E3F2468-0D68-40C3-1AC2-804144D7E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E00376CD-7A4B-2B8C-0D2B-1706CB545B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5F6149EA-B66E-F73E-02E3-BB5F2FCB6A2C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9F253B07-2C8C-0A03-52A7-6E76ECF8B5A4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60ECC55-DF69-2BF3-0207-B18FCE603EE6}"/>
              </a:ext>
            </a:extLst>
          </p:cNvPr>
          <p:cNvSpPr txBox="1"/>
          <p:nvPr/>
        </p:nvSpPr>
        <p:spPr>
          <a:xfrm>
            <a:off x="838900" y="270436"/>
            <a:ext cx="403203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Writing and Running Playbooks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69FB1-C29A-009D-B432-16F4CB382249}"/>
              </a:ext>
            </a:extLst>
          </p:cNvPr>
          <p:cNvSpPr txBox="1"/>
          <p:nvPr/>
        </p:nvSpPr>
        <p:spPr>
          <a:xfrm>
            <a:off x="411061" y="894547"/>
            <a:ext cx="1114925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2"/>
                </a:solidFill>
              </a:rPr>
              <a:t>What is a Playbook?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 </a:t>
            </a:r>
            <a:r>
              <a:rPr lang="en-US" b="1" dirty="0"/>
              <a:t>YAML-based script</a:t>
            </a:r>
            <a:r>
              <a:rPr lang="en-US" dirty="0"/>
              <a:t> defining automation tasks.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Describes </a:t>
            </a:r>
            <a:r>
              <a:rPr lang="en-US" b="1" dirty="0"/>
              <a:t>desired system state</a:t>
            </a:r>
            <a:r>
              <a:rPr lang="en-US" dirty="0"/>
              <a:t> rather than procedural steps.</a:t>
            </a:r>
          </a:p>
          <a:p>
            <a:br>
              <a:rPr lang="en-US" b="1" dirty="0"/>
            </a:br>
            <a:r>
              <a:rPr lang="en-US" b="1" dirty="0"/>
              <a:t>Sample Ansible Playbook: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321508-41A3-8035-2243-824A75466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1" y="2156431"/>
            <a:ext cx="5176939" cy="3130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01ECFB-A055-56FC-F4BA-0227978C1880}"/>
              </a:ext>
            </a:extLst>
          </p:cNvPr>
          <p:cNvSpPr txBox="1"/>
          <p:nvPr/>
        </p:nvSpPr>
        <p:spPr>
          <a:xfrm>
            <a:off x="340660" y="5286909"/>
            <a:ext cx="6097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Running an Ansible Playbook: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41B1C2-B263-750E-CD28-DBDEC4F2D4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061" y="5594686"/>
            <a:ext cx="5176939" cy="4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89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01F5FB7-6432-A35A-C296-D7D8BB2ED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165ED774-324E-6649-EB0C-F662C791A4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F1F9A68E-DFB6-330A-ADF3-1571E4A2F197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92ACB55E-D3CA-ECA2-478E-14FD42E9EB3F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B01C9923-C029-D66C-7A33-947A301D3750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with Ansible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BB49A-F575-FE04-4C97-F7D9859C5A5A}"/>
              </a:ext>
            </a:extLst>
          </p:cNvPr>
          <p:cNvSpPr txBox="1"/>
          <p:nvPr/>
        </p:nvSpPr>
        <p:spPr>
          <a:xfrm>
            <a:off x="411061" y="853473"/>
            <a:ext cx="6097464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Set Up Ansible Inventory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Define a new inventory file.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Add multiple hosts to different groups.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Run Basic Ansible Commands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Check connectivity with ansible all -m ping.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Gather system facts using ansible all -m setup.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Deploy a Web Server with Ansible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Write a playbook to install and start Nginx.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Configure firewall rules using Ansible.</a:t>
            </a:r>
          </a:p>
        </p:txBody>
      </p:sp>
    </p:spTree>
    <p:extLst>
      <p:ext uri="{BB962C8B-B14F-4D97-AF65-F5344CB8AC3E}">
        <p14:creationId xmlns:p14="http://schemas.microsoft.com/office/powerpoint/2010/main" val="2095196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1E88A21-DC33-06E0-135C-08C6908C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14905274-4991-711F-67DA-0D8479C258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2310B8D5-FDA8-2677-B603-A4E40ECC4D07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807EAB18-DE31-602D-C5B1-6E7AE77E783D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7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EAE9FEBF-89D1-B7F8-DBC3-D0ED267C56F1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F04EA-343F-84EC-861A-3235C4B371D9}"/>
              </a:ext>
            </a:extLst>
          </p:cNvPr>
          <p:cNvSpPr txBox="1"/>
          <p:nvPr/>
        </p:nvSpPr>
        <p:spPr>
          <a:xfrm>
            <a:off x="411061" y="853473"/>
            <a:ext cx="6097464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Expand Ansible Playbook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Add a task to create a new user.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Configure an SSH key for the new user.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Use Ansible Modules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Experiment with copy, file, and </a:t>
            </a:r>
            <a:r>
              <a:rPr lang="en-US" dirty="0" err="1"/>
              <a:t>cron</a:t>
            </a:r>
            <a:r>
              <a:rPr lang="en-US" dirty="0"/>
              <a:t> modules.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Apply changes to managed servers.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Set Up Ansible Vault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Encrypt a file containing sensitive data.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it in an Ansible playbook.</a:t>
            </a:r>
          </a:p>
        </p:txBody>
      </p:sp>
    </p:spTree>
    <p:extLst>
      <p:ext uri="{BB962C8B-B14F-4D97-AF65-F5344CB8AC3E}">
        <p14:creationId xmlns:p14="http://schemas.microsoft.com/office/powerpoint/2010/main" val="1509045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2EF4175-80FB-49A1-A042-D35D0E8F1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433</Words>
  <Application>Microsoft Macintosh PowerPoint</Application>
  <PresentationFormat>Widescreen</PresentationFormat>
  <Paragraphs>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Montserrat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Varsenik</dc:creator>
  <cp:lastModifiedBy>Grigoryan, Grigor (external - Project)</cp:lastModifiedBy>
  <cp:revision>2</cp:revision>
  <dcterms:created xsi:type="dcterms:W3CDTF">2024-08-30T07:18:33Z</dcterms:created>
  <dcterms:modified xsi:type="dcterms:W3CDTF">2025-03-01T07:24:00Z</dcterms:modified>
</cp:coreProperties>
</file>