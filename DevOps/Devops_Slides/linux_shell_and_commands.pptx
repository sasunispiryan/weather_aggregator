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0" r:id="rId12"/>
    <p:sldId id="261" r:id="rId13"/>
  </p:sldIdLst>
  <p:sldSz cx="12192000" cy="6858000"/>
  <p:notesSz cx="6858000" cy="9144000"/>
  <p:embeddedFontLst>
    <p:embeddedFont>
      <p:font typeface="Montserrat" pitchFamily="2" charset="77"/>
      <p:regular r:id="rId15"/>
      <p:bold r:id="rId16"/>
      <p:italic r:id="rId17"/>
      <p:boldItalic r:id="rId18"/>
    </p:embeddedFont>
    <p:embeddedFont>
      <p:font typeface="Montserrat Black" panose="020F0502020204030204" pitchFamily="34" charset="0"/>
      <p:bold r:id="rId19"/>
      <p:italic r:id="rId20"/>
      <p:boldItalic r:id="rId21"/>
    </p:embeddedFont>
    <p:embeddedFont>
      <p:font typeface="Montserrat SemiBold" panose="020F0502020204030204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gNL8pbwwZrNCbTtm7lRLch0r2u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34"/>
    <p:restoredTop sz="93387"/>
  </p:normalViewPr>
  <p:slideViewPr>
    <p:cSldViewPr snapToGrid="0">
      <p:cViewPr varScale="1">
        <p:scale>
          <a:sx n="153" d="100"/>
          <a:sy n="153" d="100"/>
        </p:scale>
        <p:origin x="2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C13A9711-3C16-AA10-FDBC-AC7484FD7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DC421F74-395D-D890-C0B5-93DA5B9778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43ABB442-2E76-49B5-09DD-359500C3CA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59690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38C8A804-2A2B-59C5-E2FF-EBFAF2C16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B5AA8BCB-D58E-387D-55A0-98BC09E28B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8170BBBA-9E08-2365-7607-7741EDC815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67237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8C3BF0F8-ECAB-55F1-BE88-7374AD96B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2121A62B-77FC-AD4D-78E0-CC7AA5999E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6B4CDE6B-F843-6FFF-2ACB-3A4BF2C035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2102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B270E9E0-8039-BA8C-CA8E-D72B2D91D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A126B88E-82A1-9DDB-F954-015661CC3F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960E99A8-646F-4655-AEDD-AC3EFE659E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51330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0BEB7908-EAA4-81B4-E17F-002FCF9AF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55AC8A84-6409-42BD-3122-3227AEF837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BEF8A4AE-4D89-E8D3-6B53-86F7786392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40352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A7F13881-1901-C4E7-CB0F-709183B54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19DD7EFD-9C90-0F65-7101-DB352C3340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02AFF2FC-F72F-576F-8769-BF4A79DCE9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65867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openclipart.org/detail/76135/linux-terminal-window" TargetMode="Externa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regextester.com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5282116" y="5965079"/>
            <a:ext cx="188595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bdg.am</a:t>
            </a:r>
            <a:endParaRPr/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/>
          <p:nvPr/>
        </p:nvSpPr>
        <p:spPr>
          <a:xfrm>
            <a:off x="0" y="-26194"/>
            <a:ext cx="12192000" cy="228600"/>
          </a:xfrm>
          <a:prstGeom prst="rect">
            <a:avLst/>
          </a:prstGeom>
          <a:solidFill>
            <a:srgbClr val="7B8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407240" y="1351528"/>
            <a:ext cx="11377515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dirty="0">
                <a:solidFill>
                  <a:srgbClr val="3A3E4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LINUX SHELL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dirty="0">
                <a:solidFill>
                  <a:srgbClr val="3A3E47"/>
                </a:solidFill>
                <a:latin typeface="Montserrat Black"/>
                <a:cs typeface="Montserrat Black"/>
                <a:sym typeface="Montserrat Black"/>
              </a:rPr>
              <a:t>AND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dirty="0">
                <a:solidFill>
                  <a:srgbClr val="3A3E47"/>
                </a:solidFill>
                <a:latin typeface="Montserrat Black"/>
                <a:cs typeface="Montserrat Black"/>
                <a:sym typeface="Montserrat Black"/>
              </a:rPr>
              <a:t>COMMANDS</a:t>
            </a:r>
            <a:endParaRPr dirty="0"/>
          </a:p>
        </p:txBody>
      </p:sp>
      <p:sp>
        <p:nvSpPr>
          <p:cNvPr id="92" name="Google Shape;92;p2"/>
          <p:cNvSpPr txBox="1"/>
          <p:nvPr/>
        </p:nvSpPr>
        <p:spPr>
          <a:xfrm>
            <a:off x="5282116" y="5965079"/>
            <a:ext cx="188595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bdg.am</a:t>
            </a:r>
            <a:endParaRPr/>
          </a:p>
        </p:txBody>
      </p:sp>
      <p:pic>
        <p:nvPicPr>
          <p:cNvPr id="93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0949" y="-673873"/>
            <a:ext cx="3170099" cy="317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0949" y="-673873"/>
            <a:ext cx="3170099" cy="3170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3"/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1" name="Google Shape;101;p3"/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Linux Shell and Commands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5D469F-7101-BE31-899C-E5494CBF3753}"/>
              </a:ext>
            </a:extLst>
          </p:cNvPr>
          <p:cNvSpPr txBox="1"/>
          <p:nvPr/>
        </p:nvSpPr>
        <p:spPr>
          <a:xfrm>
            <a:off x="444012" y="835269"/>
            <a:ext cx="10388111" cy="4161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chemeClr val="bg2"/>
                </a:solidFill>
              </a:rPr>
              <a:t>Introduction to the Shell</a:t>
            </a:r>
          </a:p>
          <a:p>
            <a:pPr>
              <a:lnSpc>
                <a:spcPct val="150000"/>
              </a:lnSpc>
            </a:pPr>
            <a:r>
              <a:rPr lang="en-US" b="1" dirty="0"/>
              <a:t>What is a Shell?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Definition</a:t>
            </a:r>
            <a:r>
              <a:rPr lang="en-US" dirty="0"/>
              <a:t>: A shell is a command-line interface that acts as an intermediary between the user and the operating system’s kernel.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Purpose</a:t>
            </a:r>
            <a:r>
              <a:rPr lang="en-US" dirty="0"/>
              <a:t>: Allows users to execute commands to perform operations like file manipulation, program execution, and process management.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Common Shells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Bash</a:t>
            </a:r>
            <a:r>
              <a:rPr lang="en-US" b="1" dirty="0"/>
              <a:t> (</a:t>
            </a:r>
            <a:r>
              <a:rPr lang="en-US" b="1" dirty="0" err="1"/>
              <a:t>Bourne</a:t>
            </a:r>
            <a:r>
              <a:rPr lang="en-US" b="1" dirty="0"/>
              <a:t> Again Shell)</a:t>
            </a:r>
            <a:r>
              <a:rPr lang="en-US" dirty="0"/>
              <a:t>: Most widely used.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6"/>
                </a:solidFill>
              </a:rPr>
              <a:t>Zsh</a:t>
            </a:r>
            <a:r>
              <a:rPr lang="en-US" b="1" dirty="0"/>
              <a:t> (Z Shell)</a:t>
            </a:r>
            <a:r>
              <a:rPr lang="en-US" dirty="0"/>
              <a:t>: Known for advanced features and scripting capabilities.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Fish</a:t>
            </a:r>
            <a:r>
              <a:rPr lang="en-US" b="1" dirty="0"/>
              <a:t> (Friendly Interactive Shell)</a:t>
            </a:r>
            <a:r>
              <a:rPr lang="en-US" dirty="0"/>
              <a:t>: User-friendly and interactive.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Shell vs Terminal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Terminal</a:t>
            </a:r>
            <a:r>
              <a:rPr lang="en-US" dirty="0"/>
              <a:t>: A program that opens a window for interacting with the shell.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Shell</a:t>
            </a:r>
            <a:r>
              <a:rPr lang="en-US" dirty="0"/>
              <a:t>: The interpreter that processes commands within the terminal.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0CA3CF8D-7D32-A866-A4C1-B66A8CC50E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t="5776"/>
          <a:stretch/>
        </p:blipFill>
        <p:spPr>
          <a:xfrm>
            <a:off x="6848853" y="2529401"/>
            <a:ext cx="4698559" cy="34933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/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/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/>
          </a:p>
        </p:txBody>
      </p:sp>
      <p:sp>
        <p:nvSpPr>
          <p:cNvPr id="110" name="Google Shape;110;p4"/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Linux Shell and Commands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BB3D57-8C5C-194A-861A-8DDF3211012E}"/>
              </a:ext>
            </a:extLst>
          </p:cNvPr>
          <p:cNvSpPr txBox="1"/>
          <p:nvPr/>
        </p:nvSpPr>
        <p:spPr>
          <a:xfrm>
            <a:off x="411061" y="757964"/>
            <a:ext cx="10976974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2"/>
                </a:solidFill>
              </a:rPr>
              <a:t>Basic Commands</a:t>
            </a:r>
          </a:p>
          <a:p>
            <a:r>
              <a:rPr lang="en-US" b="1" dirty="0"/>
              <a:t>File System Navigation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ls</a:t>
            </a:r>
            <a:r>
              <a:rPr lang="en-US" dirty="0"/>
              <a:t>: Lists files and directories.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dirty="0">
                <a:solidFill>
                  <a:schemeClr val="accent6"/>
                </a:solidFill>
              </a:rPr>
              <a:t>ls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-l</a:t>
            </a:r>
            <a:r>
              <a:rPr lang="en-US" dirty="0"/>
              <a:t> (detailed list with permissions).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cd</a:t>
            </a:r>
            <a:r>
              <a:rPr lang="en-US" dirty="0"/>
              <a:t>: Changes the current directory.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dirty="0">
                <a:solidFill>
                  <a:schemeClr val="accent6"/>
                </a:solidFill>
              </a:rPr>
              <a:t>cd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/home/user</a:t>
            </a:r>
            <a:r>
              <a:rPr lang="en-US" dirty="0"/>
              <a:t> (navigates to user’s home directory).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>
                <a:solidFill>
                  <a:schemeClr val="accent6"/>
                </a:solidFill>
              </a:rPr>
              <a:t>pwd</a:t>
            </a:r>
            <a:r>
              <a:rPr lang="en-US" dirty="0"/>
              <a:t>: Displays the current working directory.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File Manipulation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cp</a:t>
            </a:r>
            <a:r>
              <a:rPr lang="en-US" dirty="0"/>
              <a:t>: Copies files or directories.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dirty="0">
                <a:solidFill>
                  <a:schemeClr val="accent6"/>
                </a:solidFill>
              </a:rPr>
              <a:t>cp</a:t>
            </a:r>
            <a:r>
              <a:rPr lang="en-US" dirty="0"/>
              <a:t> </a:t>
            </a:r>
            <a:r>
              <a:rPr lang="en-US" dirty="0" err="1"/>
              <a:t>file.txt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/backup/</a:t>
            </a:r>
            <a:r>
              <a:rPr lang="en-US" dirty="0"/>
              <a:t> (copies </a:t>
            </a:r>
            <a:r>
              <a:rPr lang="en-US" dirty="0" err="1"/>
              <a:t>file.txt</a:t>
            </a:r>
            <a:r>
              <a:rPr lang="en-US" dirty="0"/>
              <a:t> to /backup/).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mv</a:t>
            </a:r>
            <a:r>
              <a:rPr lang="en-US" dirty="0"/>
              <a:t>: Moves or renames files.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dirty="0">
                <a:solidFill>
                  <a:schemeClr val="accent6"/>
                </a:solidFill>
              </a:rPr>
              <a:t>mv</a:t>
            </a:r>
            <a:r>
              <a:rPr lang="en-US" dirty="0"/>
              <a:t> </a:t>
            </a:r>
            <a:r>
              <a:rPr lang="en-US" dirty="0" err="1"/>
              <a:t>file.txt</a:t>
            </a:r>
            <a:r>
              <a:rPr lang="en-US" dirty="0"/>
              <a:t> </a:t>
            </a:r>
            <a:r>
              <a:rPr lang="en-US" dirty="0" err="1"/>
              <a:t>newfile.txt</a:t>
            </a:r>
            <a:r>
              <a:rPr lang="en-US" dirty="0"/>
              <a:t> (renames </a:t>
            </a:r>
            <a:r>
              <a:rPr lang="en-US" dirty="0" err="1"/>
              <a:t>file.txt</a:t>
            </a:r>
            <a:r>
              <a:rPr lang="en-US" dirty="0"/>
              <a:t> to </a:t>
            </a:r>
            <a:r>
              <a:rPr lang="en-US" dirty="0" err="1"/>
              <a:t>newfile.txt</a:t>
            </a:r>
            <a:r>
              <a:rPr lang="en-US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rm</a:t>
            </a:r>
            <a:r>
              <a:rPr lang="en-US" dirty="0"/>
              <a:t>: Deletes files or directories.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dirty="0">
                <a:solidFill>
                  <a:schemeClr val="accent6"/>
                </a:solidFill>
              </a:rPr>
              <a:t>rm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-r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/folder</a:t>
            </a:r>
            <a:r>
              <a:rPr lang="en-US" dirty="0"/>
              <a:t> (removes a folder recursively).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>
                <a:solidFill>
                  <a:schemeClr val="accent6"/>
                </a:solidFill>
              </a:rPr>
              <a:t>mkdir</a:t>
            </a:r>
            <a:r>
              <a:rPr lang="en-US" dirty="0"/>
              <a:t>: Creates a new directory.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dirty="0" err="1">
                <a:solidFill>
                  <a:schemeClr val="accent6"/>
                </a:solidFill>
              </a:rPr>
              <a:t>mkdir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project</a:t>
            </a:r>
            <a:r>
              <a:rPr lang="en-US" dirty="0"/>
              <a:t> (creates a folder named ‘project’).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Viewing Files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cat</a:t>
            </a:r>
            <a:r>
              <a:rPr lang="en-US" dirty="0"/>
              <a:t>: Displays file contents.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dirty="0">
                <a:solidFill>
                  <a:schemeClr val="accent6"/>
                </a:solidFill>
              </a:rPr>
              <a:t>cat</a:t>
            </a:r>
            <a:r>
              <a:rPr lang="en-US" dirty="0"/>
              <a:t> </a:t>
            </a:r>
            <a:r>
              <a:rPr lang="en-US" dirty="0" err="1"/>
              <a:t>file.txt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less/more</a:t>
            </a:r>
            <a:r>
              <a:rPr lang="en-US" dirty="0"/>
              <a:t>: Displays file content page by page.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dirty="0">
                <a:solidFill>
                  <a:schemeClr val="accent6"/>
                </a:solidFill>
              </a:rPr>
              <a:t>less</a:t>
            </a:r>
            <a:r>
              <a:rPr lang="en-US" dirty="0"/>
              <a:t> </a:t>
            </a:r>
            <a:r>
              <a:rPr lang="en-US" dirty="0" err="1"/>
              <a:t>file.txt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head</a:t>
            </a:r>
            <a:r>
              <a:rPr lang="en-US" dirty="0"/>
              <a:t>: Displays the first few lines of a file.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dirty="0">
                <a:solidFill>
                  <a:schemeClr val="accent6"/>
                </a:solidFill>
              </a:rPr>
              <a:t>head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-n</a:t>
            </a:r>
            <a:r>
              <a:rPr lang="en-US" dirty="0"/>
              <a:t> 10 </a:t>
            </a:r>
            <a:r>
              <a:rPr lang="en-US" dirty="0" err="1"/>
              <a:t>file.txt</a:t>
            </a:r>
            <a:r>
              <a:rPr lang="en-US" dirty="0"/>
              <a:t> (shows first 10 lines).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tail</a:t>
            </a:r>
            <a:r>
              <a:rPr lang="en-US" dirty="0"/>
              <a:t>: Displays the last few lines of a file.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dirty="0">
                <a:solidFill>
                  <a:schemeClr val="accent6"/>
                </a:solidFill>
              </a:rPr>
              <a:t>tail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-n</a:t>
            </a:r>
            <a:r>
              <a:rPr lang="en-US" dirty="0"/>
              <a:t> 5 </a:t>
            </a:r>
            <a:r>
              <a:rPr lang="en-US" dirty="0" err="1"/>
              <a:t>file.txt</a:t>
            </a:r>
            <a:r>
              <a:rPr lang="en-US" dirty="0"/>
              <a:t> (shows last 5 lines).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4F2C3092-15F9-0EF6-D30D-919E66231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2B411660-B740-BFE0-C63D-50D51F493B9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56B2DA0B-F614-FB8D-B541-7F419FC33754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CE996E6D-739C-AA3A-2498-6B0CE1FC6B6B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3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DE3A83BC-FE39-2031-78F4-634C3DD75DFF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Linux Shell and Commands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6C7C72-301F-7AF7-9136-AB7525BB7F39}"/>
              </a:ext>
            </a:extLst>
          </p:cNvPr>
          <p:cNvSpPr txBox="1"/>
          <p:nvPr/>
        </p:nvSpPr>
        <p:spPr>
          <a:xfrm>
            <a:off x="411060" y="824218"/>
            <a:ext cx="11087409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2"/>
                </a:solidFill>
              </a:rPr>
              <a:t>Pipes and Redirection</a:t>
            </a:r>
          </a:p>
          <a:p>
            <a:r>
              <a:rPr lang="en-US" b="1" dirty="0"/>
              <a:t>Pipes ( </a:t>
            </a:r>
            <a:r>
              <a:rPr lang="en-US" b="1" dirty="0">
                <a:solidFill>
                  <a:srgbClr val="FF0000"/>
                </a:solidFill>
              </a:rPr>
              <a:t>| </a:t>
            </a:r>
            <a:r>
              <a:rPr lang="en-US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Definition</a:t>
            </a:r>
            <a:r>
              <a:rPr lang="en-US" dirty="0"/>
              <a:t>: Pipes combine multiple commands by passing the output of one command as input to another.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dirty="0">
                <a:solidFill>
                  <a:schemeClr val="accent6"/>
                </a:solidFill>
              </a:rPr>
              <a:t>ls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|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grep .txt</a:t>
            </a:r>
            <a:r>
              <a:rPr lang="en-US" dirty="0"/>
              <a:t> (lists files ending with .txt).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Input and Output Redirection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Output Redirection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&gt;</a:t>
            </a:r>
            <a:r>
              <a:rPr lang="en-US" dirty="0"/>
              <a:t>: Writes output to a file, overwriting if the file exists.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dirty="0">
                <a:solidFill>
                  <a:schemeClr val="accent6"/>
                </a:solidFill>
              </a:rPr>
              <a:t>echo</a:t>
            </a:r>
            <a:r>
              <a:rPr lang="en-US" dirty="0"/>
              <a:t> "Hello" </a:t>
            </a:r>
            <a:r>
              <a:rPr lang="en-US" dirty="0">
                <a:solidFill>
                  <a:srgbClr val="FF0000"/>
                </a:solidFill>
              </a:rPr>
              <a:t>&gt;</a:t>
            </a:r>
            <a:r>
              <a:rPr lang="en-US" dirty="0"/>
              <a:t> </a:t>
            </a:r>
            <a:r>
              <a:rPr lang="en-US" dirty="0" err="1"/>
              <a:t>hello.txt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&gt;&gt;</a:t>
            </a:r>
            <a:r>
              <a:rPr lang="en-US" dirty="0"/>
              <a:t>: Appends output to a file.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dirty="0">
                <a:solidFill>
                  <a:schemeClr val="accent6"/>
                </a:solidFill>
              </a:rPr>
              <a:t>echo</a:t>
            </a:r>
            <a:r>
              <a:rPr lang="en-US" dirty="0"/>
              <a:t> "World" </a:t>
            </a:r>
            <a:r>
              <a:rPr lang="en-US" dirty="0">
                <a:solidFill>
                  <a:srgbClr val="FF0000"/>
                </a:solidFill>
              </a:rPr>
              <a:t>&gt;&gt;</a:t>
            </a:r>
            <a:r>
              <a:rPr lang="en-US" dirty="0"/>
              <a:t> </a:t>
            </a:r>
            <a:r>
              <a:rPr lang="en-US" dirty="0" err="1"/>
              <a:t>hello.txt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Input Redirection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&lt;</a:t>
            </a:r>
            <a:r>
              <a:rPr lang="en-US" dirty="0"/>
              <a:t>: Reads input from a file.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dirty="0">
                <a:solidFill>
                  <a:schemeClr val="accent6"/>
                </a:solidFill>
              </a:rPr>
              <a:t>sort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&lt;</a:t>
            </a:r>
            <a:r>
              <a:rPr lang="en-US" dirty="0"/>
              <a:t> </a:t>
            </a:r>
            <a:r>
              <a:rPr lang="en-US" dirty="0" err="1"/>
              <a:t>names.txt</a:t>
            </a:r>
            <a:r>
              <a:rPr lang="en-US" dirty="0"/>
              <a:t>.</a:t>
            </a:r>
          </a:p>
        </p:txBody>
      </p:sp>
      <p:pic>
        <p:nvPicPr>
          <p:cNvPr id="7" name="Picture 6" descr="A computer screen shot of a computer code&#10;&#10;Description automatically generated">
            <a:extLst>
              <a:ext uri="{FF2B5EF4-FFF2-40B4-BE49-F238E27FC236}">
                <a16:creationId xmlns:a16="http://schemas.microsoft.com/office/drawing/2014/main" id="{4F8ABD71-1E55-216F-F5DA-A78475476B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211181"/>
            <a:ext cx="4305300" cy="1384300"/>
          </a:xfrm>
          <a:prstGeom prst="rect">
            <a:avLst/>
          </a:prstGeom>
        </p:spPr>
      </p:pic>
      <p:pic>
        <p:nvPicPr>
          <p:cNvPr id="11" name="Picture 10" descr="A computer screen with white text&#10;&#10;Description automatically generated">
            <a:extLst>
              <a:ext uri="{FF2B5EF4-FFF2-40B4-BE49-F238E27FC236}">
                <a16:creationId xmlns:a16="http://schemas.microsoft.com/office/drawing/2014/main" id="{B38E3EF8-3E05-17FA-42FB-7C76BD6D16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086650"/>
            <a:ext cx="43942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211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A9CAB746-EC80-C249-C06A-D526B40FF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E45255A7-D667-E100-725B-83DA2BA6564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4AA556B3-079F-AAAF-F180-A6C8A6BD1789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2C1DADA7-3388-FA12-6397-C5ADC5E60104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4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D41C7032-C0D0-B7D4-BE39-7D529A1E91E3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Linux Shell and Commands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0A2C13-0634-8063-667F-7010F55B017B}"/>
              </a:ext>
            </a:extLst>
          </p:cNvPr>
          <p:cNvSpPr txBox="1"/>
          <p:nvPr/>
        </p:nvSpPr>
        <p:spPr>
          <a:xfrm>
            <a:off x="411060" y="824218"/>
            <a:ext cx="11144835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2"/>
                </a:solidFill>
              </a:rPr>
              <a:t>File Searching and Sorting</a:t>
            </a:r>
          </a:p>
          <a:p>
            <a:r>
              <a:rPr lang="en-US" b="1" dirty="0"/>
              <a:t>Searching for Files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find</a:t>
            </a:r>
            <a:r>
              <a:rPr lang="en-US" dirty="0"/>
              <a:t>: Searches for files and directories.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dirty="0">
                <a:solidFill>
                  <a:schemeClr val="accent6"/>
                </a:solidFill>
              </a:rPr>
              <a:t>find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/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-name</a:t>
            </a:r>
            <a:r>
              <a:rPr lang="en-US" dirty="0"/>
              <a:t> "</a:t>
            </a:r>
            <a:r>
              <a:rPr lang="en-US" dirty="0" err="1"/>
              <a:t>file.txt</a:t>
            </a:r>
            <a:r>
              <a:rPr lang="en-US" dirty="0"/>
              <a:t>" (searches for </a:t>
            </a:r>
            <a:r>
              <a:rPr lang="en-US" dirty="0" err="1"/>
              <a:t>file.txt</a:t>
            </a:r>
            <a:r>
              <a:rPr lang="en-US" dirty="0"/>
              <a:t> from the root).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locate</a:t>
            </a:r>
            <a:r>
              <a:rPr lang="en-US" dirty="0"/>
              <a:t>: Quickly finds files using an indexed database.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dirty="0">
                <a:solidFill>
                  <a:schemeClr val="accent6"/>
                </a:solidFill>
              </a:rPr>
              <a:t>locate</a:t>
            </a:r>
            <a:r>
              <a:rPr lang="en-US" dirty="0"/>
              <a:t> </a:t>
            </a:r>
            <a:r>
              <a:rPr lang="en-US" dirty="0" err="1"/>
              <a:t>file.txt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Searching Within Files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grep</a:t>
            </a:r>
            <a:r>
              <a:rPr lang="en-US" dirty="0"/>
              <a:t>: Searches for patterns in files.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dirty="0">
                <a:solidFill>
                  <a:schemeClr val="accent6"/>
                </a:solidFill>
              </a:rPr>
              <a:t>grep</a:t>
            </a:r>
            <a:r>
              <a:rPr lang="en-US" dirty="0"/>
              <a:t> "error" </a:t>
            </a:r>
            <a:r>
              <a:rPr lang="en-US" dirty="0" err="1"/>
              <a:t>logfile.txt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>
                <a:solidFill>
                  <a:schemeClr val="accent6"/>
                </a:solidFill>
              </a:rPr>
              <a:t>egrep</a:t>
            </a:r>
            <a:r>
              <a:rPr lang="en-US" dirty="0"/>
              <a:t>: Extended version of grep with more advanced pattern matching.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dirty="0" err="1">
                <a:solidFill>
                  <a:schemeClr val="accent6"/>
                </a:solidFill>
              </a:rPr>
              <a:t>egrep</a:t>
            </a:r>
            <a:r>
              <a:rPr lang="en-US" dirty="0"/>
              <a:t> "(</a:t>
            </a:r>
            <a:r>
              <a:rPr lang="en-US" dirty="0" err="1"/>
              <a:t>error|warning</a:t>
            </a:r>
            <a:r>
              <a:rPr lang="en-US" dirty="0"/>
              <a:t>)" </a:t>
            </a:r>
            <a:r>
              <a:rPr lang="en-US" dirty="0" err="1"/>
              <a:t>logfile.txt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Sorting and Filtering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sort</a:t>
            </a:r>
            <a:r>
              <a:rPr lang="en-US" dirty="0"/>
              <a:t>: Sorts lines in a file.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dirty="0">
                <a:solidFill>
                  <a:schemeClr val="accent6"/>
                </a:solidFill>
              </a:rPr>
              <a:t>sort</a:t>
            </a:r>
            <a:r>
              <a:rPr lang="en-US" dirty="0"/>
              <a:t> </a:t>
            </a:r>
            <a:r>
              <a:rPr lang="en-US" dirty="0" err="1"/>
              <a:t>names.txt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>
                <a:solidFill>
                  <a:schemeClr val="accent6"/>
                </a:solidFill>
              </a:rPr>
              <a:t>uniq</a:t>
            </a:r>
            <a:r>
              <a:rPr lang="en-US" dirty="0"/>
              <a:t>: Removes duplicate lines.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dirty="0">
                <a:solidFill>
                  <a:schemeClr val="accent6"/>
                </a:solidFill>
              </a:rPr>
              <a:t>sort</a:t>
            </a:r>
            <a:r>
              <a:rPr lang="en-US" dirty="0"/>
              <a:t> </a:t>
            </a:r>
            <a:r>
              <a:rPr lang="en-US" dirty="0" err="1"/>
              <a:t>names.txt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|</a:t>
            </a:r>
            <a:r>
              <a:rPr lang="en-US" dirty="0"/>
              <a:t> </a:t>
            </a:r>
            <a:r>
              <a:rPr lang="en-US" dirty="0" err="1">
                <a:solidFill>
                  <a:schemeClr val="accent6"/>
                </a:solidFill>
              </a:rPr>
              <a:t>uniq</a:t>
            </a:r>
            <a:r>
              <a:rPr lang="en-US" dirty="0"/>
              <a:t> (sorts and removes duplicates).</a:t>
            </a:r>
          </a:p>
        </p:txBody>
      </p:sp>
    </p:spTree>
    <p:extLst>
      <p:ext uri="{BB962C8B-B14F-4D97-AF65-F5344CB8AC3E}">
        <p14:creationId xmlns:p14="http://schemas.microsoft.com/office/powerpoint/2010/main" val="1820440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D2BB07C6-E63D-7A48-B086-00B25FC8D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3875B387-0BD3-66FD-63CA-EA15501545D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DCD0C5C7-B95C-DDED-B11B-7C33A79ED5AC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009C098C-7FA7-B68B-8FD7-B048CEEE1A23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5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B743C4CC-9AE8-0E83-4052-19AB6288AC96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Linux Shell and Commands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3D9E81-22C0-67A1-A237-D752FCC7C7B2}"/>
              </a:ext>
            </a:extLst>
          </p:cNvPr>
          <p:cNvSpPr txBox="1"/>
          <p:nvPr/>
        </p:nvSpPr>
        <p:spPr>
          <a:xfrm>
            <a:off x="411061" y="824218"/>
            <a:ext cx="1109182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2"/>
                </a:solidFill>
              </a:rPr>
              <a:t>Wildcards and </a:t>
            </a:r>
            <a:r>
              <a:rPr lang="en-US" sz="2400" b="1" dirty="0" err="1">
                <a:solidFill>
                  <a:schemeClr val="bg2"/>
                </a:solidFill>
              </a:rPr>
              <a:t>Globbing</a:t>
            </a:r>
            <a:endParaRPr lang="en-US" sz="2400" b="1" dirty="0">
              <a:solidFill>
                <a:schemeClr val="bg2"/>
              </a:solidFill>
            </a:endParaRPr>
          </a:p>
          <a:p>
            <a:r>
              <a:rPr lang="en-US" b="1" dirty="0"/>
              <a:t>What are Wildcards?</a:t>
            </a:r>
            <a:br>
              <a:rPr lang="en-US" b="1" dirty="0"/>
            </a:br>
            <a:endParaRPr lang="en-US" b="1" dirty="0"/>
          </a:p>
          <a:p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*</a:t>
            </a:r>
            <a:r>
              <a:rPr lang="en-US" dirty="0"/>
              <a:t>: Matches zero or more characters.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ls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*</a:t>
            </a:r>
            <a:r>
              <a:rPr lang="en-US" dirty="0"/>
              <a:t>.txt (lists all .txt files).</a:t>
            </a:r>
            <a:br>
              <a:rPr lang="en-US" dirty="0"/>
            </a:br>
            <a:endParaRPr lang="en-US" dirty="0"/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?</a:t>
            </a:r>
            <a:r>
              <a:rPr lang="en-US" dirty="0"/>
              <a:t>: Matches exactly one character.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dirty="0">
                <a:solidFill>
                  <a:schemeClr val="accent6"/>
                </a:solidFill>
              </a:rPr>
              <a:t>ls</a:t>
            </a:r>
            <a:r>
              <a:rPr lang="en-US" dirty="0"/>
              <a:t> </a:t>
            </a:r>
            <a:r>
              <a:rPr lang="en-US" dirty="0" err="1"/>
              <a:t>file</a:t>
            </a:r>
            <a:r>
              <a:rPr lang="en-US" dirty="0" err="1">
                <a:solidFill>
                  <a:srgbClr val="FF0000"/>
                </a:solidFill>
              </a:rPr>
              <a:t>?</a:t>
            </a:r>
            <a:r>
              <a:rPr lang="en-US" dirty="0" err="1"/>
              <a:t>.txt</a:t>
            </a:r>
            <a:r>
              <a:rPr lang="en-US" dirty="0"/>
              <a:t> (matches file1.txt, file2.txt, etc.).</a:t>
            </a:r>
            <a:br>
              <a:rPr lang="en-US" dirty="0"/>
            </a:br>
            <a:endParaRPr lang="en-US" dirty="0"/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[ ]: </a:t>
            </a:r>
            <a:r>
              <a:rPr lang="en-US" dirty="0"/>
              <a:t>Matches any one of the enclosed characters.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dirty="0">
                <a:solidFill>
                  <a:schemeClr val="accent6"/>
                </a:solidFill>
              </a:rPr>
              <a:t>ls</a:t>
            </a:r>
            <a:r>
              <a:rPr lang="en-US" dirty="0"/>
              <a:t> file</a:t>
            </a:r>
            <a:r>
              <a:rPr lang="en-US" dirty="0">
                <a:solidFill>
                  <a:srgbClr val="FF0000"/>
                </a:solidFill>
              </a:rPr>
              <a:t>[1-3]</a:t>
            </a:r>
            <a:r>
              <a:rPr lang="en-US" dirty="0"/>
              <a:t>.txt (matches file1.txt, file2.txt, file3.txt).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BB260A-E142-3063-572F-04024E43EA22}"/>
              </a:ext>
            </a:extLst>
          </p:cNvPr>
          <p:cNvSpPr txBox="1"/>
          <p:nvPr/>
        </p:nvSpPr>
        <p:spPr>
          <a:xfrm>
            <a:off x="0" y="5621851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/>
            <a:r>
              <a:rPr lang="en-US" dirty="0">
                <a:hlinkClick r:id="rId4"/>
              </a:rPr>
              <a:t>Wildcard Tester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064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E154EA36-166F-A25A-C2E3-9E0F01FEA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E4A9266B-2906-1EE9-F0F1-A65B36E40B4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0592012C-533E-31A4-730C-224ED6DF2247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D7D6C15E-BD32-004F-A697-3281AE6C19C0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6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D377C851-BEF6-6054-DED7-18CBC2B6C513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Linux Shell and Commands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5381BD-B100-5852-5CB7-992EB0D0F87D}"/>
              </a:ext>
            </a:extLst>
          </p:cNvPr>
          <p:cNvSpPr txBox="1"/>
          <p:nvPr/>
        </p:nvSpPr>
        <p:spPr>
          <a:xfrm>
            <a:off x="411061" y="853472"/>
            <a:ext cx="1113158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2"/>
                </a:solidFill>
              </a:rPr>
              <a:t>Combining Commands</a:t>
            </a:r>
            <a:br>
              <a:rPr lang="en-US" b="1" dirty="0"/>
            </a:br>
            <a:endParaRPr lang="en-US" b="1" dirty="0"/>
          </a:p>
          <a:p>
            <a:r>
              <a:rPr lang="en-US" b="1" dirty="0"/>
              <a:t>Using Operators</a:t>
            </a:r>
            <a:br>
              <a:rPr lang="en-US" b="1" dirty="0"/>
            </a:b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&amp;&amp;</a:t>
            </a:r>
            <a:r>
              <a:rPr lang="en-US" dirty="0"/>
              <a:t> : Runs the next command only if the previous one succeeds.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dirty="0" err="1">
                <a:solidFill>
                  <a:schemeClr val="accent6"/>
                </a:solidFill>
              </a:rPr>
              <a:t>mkdir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test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&amp;&amp;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cd</a:t>
            </a:r>
            <a:r>
              <a:rPr lang="en-US" dirty="0"/>
              <a:t> test.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||</a:t>
            </a:r>
            <a:r>
              <a:rPr lang="en-US" dirty="0"/>
              <a:t> : Runs the next command only if the previous one fails.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dirty="0" err="1">
                <a:solidFill>
                  <a:schemeClr val="accent6"/>
                </a:solidFill>
              </a:rPr>
              <a:t>mkdir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test</a:t>
            </a:r>
            <a:r>
              <a:rPr lang="en-US" dirty="0"/>
              <a:t> || </a:t>
            </a:r>
            <a:r>
              <a:rPr lang="en-US" dirty="0">
                <a:solidFill>
                  <a:schemeClr val="accent6"/>
                </a:solidFill>
              </a:rPr>
              <a:t>echo</a:t>
            </a:r>
            <a:r>
              <a:rPr lang="en-US" dirty="0"/>
              <a:t> "Failed to create directory".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;</a:t>
            </a:r>
            <a:r>
              <a:rPr lang="en-US" dirty="0"/>
              <a:t> : Runs commands sequentially regardless of success.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dirty="0" err="1">
                <a:solidFill>
                  <a:schemeClr val="accent6"/>
                </a:solidFill>
              </a:rPr>
              <a:t>mkdir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test</a:t>
            </a:r>
            <a:r>
              <a:rPr lang="en-US" dirty="0"/>
              <a:t>; </a:t>
            </a:r>
            <a:r>
              <a:rPr lang="en-US" dirty="0">
                <a:solidFill>
                  <a:schemeClr val="accent6"/>
                </a:solidFill>
              </a:rPr>
              <a:t>cd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test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Background Processes</a:t>
            </a:r>
            <a:br>
              <a:rPr lang="en-US" b="1" dirty="0"/>
            </a:b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&amp;</a:t>
            </a:r>
            <a:r>
              <a:rPr lang="en-US" dirty="0"/>
              <a:t> : Runs a command in the background.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dirty="0">
                <a:solidFill>
                  <a:schemeClr val="accent6"/>
                </a:solidFill>
              </a:rPr>
              <a:t>sleep</a:t>
            </a:r>
            <a:r>
              <a:rPr lang="en-US" dirty="0"/>
              <a:t> 10 </a:t>
            </a:r>
            <a:r>
              <a:rPr lang="en-US" dirty="0">
                <a:solidFill>
                  <a:srgbClr val="FF0000"/>
                </a:solidFill>
              </a:rPr>
              <a:t>&amp;.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jobs</a:t>
            </a:r>
            <a:r>
              <a:rPr lang="en-US" dirty="0"/>
              <a:t> : Displays background jobs.</a:t>
            </a:r>
          </a:p>
        </p:txBody>
      </p:sp>
    </p:spTree>
    <p:extLst>
      <p:ext uri="{BB962C8B-B14F-4D97-AF65-F5344CB8AC3E}">
        <p14:creationId xmlns:p14="http://schemas.microsoft.com/office/powerpoint/2010/main" val="1444423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A3616730-164B-5619-2E5E-4EE22491E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C50DF2CF-B78E-B9B6-1838-7DD7528DA3E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FF32720C-E1F2-DA3E-F5E7-3724A96A07B3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EACE4732-5CEC-B6FD-2AA8-219E704CB06F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7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B90BCBB5-6BDF-2ED7-C3DF-0CAA081F0CEF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Linux Shell and Commands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AF3C4A-D730-8D75-ACD0-1B7A331A07E0}"/>
              </a:ext>
            </a:extLst>
          </p:cNvPr>
          <p:cNvSpPr txBox="1"/>
          <p:nvPr/>
        </p:nvSpPr>
        <p:spPr>
          <a:xfrm>
            <a:off x="411060" y="824219"/>
            <a:ext cx="11113913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2"/>
                </a:solidFill>
              </a:rPr>
              <a:t>Hands-on Activities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Navigation and File Manipulation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Navigate to a specific directory using </a:t>
            </a:r>
            <a:r>
              <a:rPr lang="en-US" dirty="0">
                <a:solidFill>
                  <a:schemeClr val="accent6"/>
                </a:solidFill>
              </a:rPr>
              <a:t>cd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Create files and directories using </a:t>
            </a:r>
            <a:r>
              <a:rPr lang="en-US" dirty="0">
                <a:solidFill>
                  <a:schemeClr val="accent6"/>
                </a:solidFill>
              </a:rPr>
              <a:t>touch</a:t>
            </a:r>
            <a:r>
              <a:rPr lang="en-US" dirty="0"/>
              <a:t> and </a:t>
            </a:r>
            <a:r>
              <a:rPr lang="en-US" dirty="0" err="1">
                <a:solidFill>
                  <a:schemeClr val="accent6"/>
                </a:solidFill>
              </a:rPr>
              <a:t>mkdir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Move and rename files using </a:t>
            </a:r>
            <a:r>
              <a:rPr lang="en-US" dirty="0">
                <a:solidFill>
                  <a:schemeClr val="accent6"/>
                </a:solidFill>
              </a:rPr>
              <a:t>mv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Copy files to another directory using </a:t>
            </a:r>
            <a:r>
              <a:rPr lang="en-US" dirty="0">
                <a:solidFill>
                  <a:schemeClr val="accent6"/>
                </a:solidFill>
              </a:rPr>
              <a:t>cp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 Using Pipes and Redirection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List all .txt files in the home directory and save them to </a:t>
            </a:r>
            <a:r>
              <a:rPr lang="en-US" dirty="0" err="1"/>
              <a:t>files.txt</a:t>
            </a:r>
            <a:r>
              <a:rPr lang="en-US" dirty="0"/>
              <a:t>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ls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~</a:t>
            </a:r>
            <a:r>
              <a:rPr lang="en-US" dirty="0"/>
              <a:t> | </a:t>
            </a:r>
            <a:r>
              <a:rPr lang="en-US">
                <a:solidFill>
                  <a:schemeClr val="accent6"/>
                </a:solidFill>
              </a:rPr>
              <a:t>grep</a:t>
            </a:r>
            <a:r>
              <a:rPr lang="en-US"/>
              <a:t> </a:t>
            </a:r>
            <a:r>
              <a:rPr lang="en-US" dirty="0"/>
              <a:t>\</a:t>
            </a:r>
            <a:r>
              <a:rPr lang="en-US"/>
              <a:t>.</a:t>
            </a:r>
            <a:r>
              <a:rPr lang="en-US" dirty="0"/>
              <a:t>txt &gt; </a:t>
            </a:r>
            <a:r>
              <a:rPr lang="en-US" dirty="0" err="1"/>
              <a:t>files.txt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 Search and Sort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Find all </a:t>
            </a:r>
            <a:r>
              <a:rPr lang="en-US" b="1" dirty="0"/>
              <a:t>.log </a:t>
            </a:r>
            <a:r>
              <a:rPr lang="en-US" dirty="0"/>
              <a:t>files in </a:t>
            </a:r>
            <a:r>
              <a:rPr lang="en-US" dirty="0">
                <a:solidFill>
                  <a:schemeClr val="accent1"/>
                </a:solidFill>
              </a:rPr>
              <a:t>/var/log</a:t>
            </a:r>
            <a:r>
              <a:rPr lang="en-US" dirty="0"/>
              <a:t>, sort them, and save to a file: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find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/var/log </a:t>
            </a:r>
            <a:r>
              <a:rPr lang="en-US" dirty="0">
                <a:solidFill>
                  <a:srgbClr val="FF0000"/>
                </a:solidFill>
              </a:rPr>
              <a:t>-name</a:t>
            </a:r>
            <a:r>
              <a:rPr lang="en-US" dirty="0"/>
              <a:t> "*.log" | </a:t>
            </a:r>
            <a:r>
              <a:rPr lang="en-US" dirty="0">
                <a:solidFill>
                  <a:schemeClr val="accent6"/>
                </a:solidFill>
              </a:rPr>
              <a:t>sort</a:t>
            </a:r>
            <a:r>
              <a:rPr lang="en-US" dirty="0"/>
              <a:t> &gt; </a:t>
            </a:r>
            <a:r>
              <a:rPr lang="en-US" dirty="0" err="1"/>
              <a:t>logs.txt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 Wildcards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Delete all files that start with ‘temp’ and end with ‘.log’: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rm</a:t>
            </a:r>
            <a:r>
              <a:rPr lang="en-US" dirty="0"/>
              <a:t> temp*.log.</a:t>
            </a:r>
          </a:p>
        </p:txBody>
      </p:sp>
    </p:spTree>
    <p:extLst>
      <p:ext uri="{BB962C8B-B14F-4D97-AF65-F5344CB8AC3E}">
        <p14:creationId xmlns:p14="http://schemas.microsoft.com/office/powerpoint/2010/main" val="3227577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6B1B5DC8-08F3-A112-E9DE-4D940D09C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879F8BFD-2689-EEF7-45C5-94F61EBCE76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1E363637-2AB8-28BC-003D-BC59B2AAD071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3D4D9699-C9A1-DD8C-7B75-8D6DAFD22F6E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8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F5E36B40-67FB-F4FC-126E-AA04AC8066A7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Linux Shell and Commands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49E927-FD18-0131-623E-29A462E0AD1A}"/>
              </a:ext>
            </a:extLst>
          </p:cNvPr>
          <p:cNvSpPr txBox="1"/>
          <p:nvPr/>
        </p:nvSpPr>
        <p:spPr>
          <a:xfrm>
            <a:off x="411061" y="921363"/>
            <a:ext cx="1110507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2"/>
                </a:solidFill>
              </a:rPr>
              <a:t>Homework</a:t>
            </a:r>
            <a:br>
              <a:rPr lang="en-US" sz="2400" b="1" dirty="0">
                <a:solidFill>
                  <a:schemeClr val="bg2"/>
                </a:solidFill>
              </a:rPr>
            </a:br>
            <a:endParaRPr lang="en-US" sz="2400" b="1" dirty="0">
              <a:solidFill>
                <a:schemeClr val="bg2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1600" dirty="0"/>
              <a:t>Practice basic commands by creating, renaming, and deleting files and directories.</a:t>
            </a:r>
            <a:br>
              <a:rPr lang="en-US" sz="1600" dirty="0"/>
            </a:br>
            <a:endParaRPr lang="en-US" sz="1600" dirty="0"/>
          </a:p>
          <a:p>
            <a:pPr>
              <a:buFont typeface="+mj-lt"/>
              <a:buAutoNum type="arabicPeriod"/>
            </a:pPr>
            <a:r>
              <a:rPr lang="en-US" sz="1600" dirty="0"/>
              <a:t>Write a script that: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Finds all .txt files in a directory.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Sorts them by size.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Saves the result to a file named </a:t>
            </a:r>
            <a:r>
              <a:rPr lang="en-US" sz="1600" dirty="0" err="1">
                <a:solidFill>
                  <a:schemeClr val="bg2"/>
                </a:solidFill>
              </a:rPr>
              <a:t>sorted_files.txt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30272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92440" y="2007569"/>
            <a:ext cx="4007119" cy="400711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 txBox="1"/>
          <p:nvPr/>
        </p:nvSpPr>
        <p:spPr>
          <a:xfrm>
            <a:off x="3305261" y="843312"/>
            <a:ext cx="634207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Քո կարծիքը </a:t>
            </a:r>
            <a:r>
              <a:rPr lang="en-US" sz="3600">
                <a:solidFill>
                  <a:srgbClr val="3A3E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կարևոր է</a:t>
            </a:r>
            <a:endParaRPr sz="3600">
              <a:solidFill>
                <a:srgbClr val="3A3E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1404</TotalTime>
  <Words>1048</Words>
  <Application>Microsoft Macintosh PowerPoint</Application>
  <PresentationFormat>Widescreen</PresentationFormat>
  <Paragraphs>129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Montserrat SemiBold</vt:lpstr>
      <vt:lpstr>Montserrat Black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Varsenik</dc:creator>
  <cp:lastModifiedBy>Grigoryan, Grigor (external - Project)</cp:lastModifiedBy>
  <cp:revision>5</cp:revision>
  <dcterms:created xsi:type="dcterms:W3CDTF">2024-08-30T07:18:33Z</dcterms:created>
  <dcterms:modified xsi:type="dcterms:W3CDTF">2024-12-26T10:52:04Z</dcterms:modified>
</cp:coreProperties>
</file>