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0" r:id="rId10"/>
    <p:sldId id="261" r:id="rId11"/>
  </p:sldIdLst>
  <p:sldSz cx="12192000" cy="6858000"/>
  <p:notesSz cx="6858000" cy="9144000"/>
  <p:embeddedFontLst>
    <p:embeddedFont>
      <p:font typeface="Montserrat" pitchFamily="2" charset="77"/>
      <p:regular r:id="rId13"/>
      <p:bold r:id="rId14"/>
      <p:italic r:id="rId15"/>
      <p:boldItalic r:id="rId16"/>
    </p:embeddedFont>
    <p:embeddedFont>
      <p:font typeface="Montserrat Black" panose="020F0502020204030204" pitchFamily="34" charset="0"/>
      <p:bold r:id="rId17"/>
      <p:italic r:id="rId18"/>
      <p:boldItalic r:id="rId19"/>
    </p:embeddedFont>
    <p:embeddedFont>
      <p:font typeface="Montserrat SemiBold" panose="020F050202020403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gNL8pbwwZrNCbTtm7lRLch0r2u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2"/>
    <p:restoredTop sz="94677"/>
  </p:normalViewPr>
  <p:slideViewPr>
    <p:cSldViewPr snapToGrid="0">
      <p:cViewPr varScale="1">
        <p:scale>
          <a:sx n="155" d="100"/>
          <a:sy n="155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00B8658E-7D96-4EA2-7D6B-7CB5CD1DB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011F423C-A38F-2D54-535D-3ADA8A4285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BEF87950-933C-2019-423C-F64F3AF65F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2431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8DBEE5A1-786B-51D7-E95F-D0DEB1B3C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6B5BDE76-52C9-6E01-ECC1-78385982D6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9939F69C-5615-A8BD-A618-6CED20A613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11880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E90467A8-6034-EE80-A2B4-B8887D47E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2597F143-9D3E-83C7-6BBD-207D456FC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966D05CA-BF63-5858-FD01-E0071F0BD1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4184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596204FF-7D32-8111-1EA3-EB764218D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C6A79AAE-CEEE-0633-2B5C-7E931FC648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C62D94F7-024A-DBAB-F386-B2EFC0FF24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20476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0" y="-26194"/>
            <a:ext cx="12192000" cy="228600"/>
          </a:xfrm>
          <a:prstGeom prst="rect">
            <a:avLst/>
          </a:prstGeom>
          <a:solidFill>
            <a:srgbClr val="7B8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459350" y="2274838"/>
            <a:ext cx="11377515" cy="280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dirty="0">
                <a:solidFill>
                  <a:srgbClr val="3A3E4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CI/CD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dirty="0">
                <a:solidFill>
                  <a:srgbClr val="3A3E4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BASICS</a:t>
            </a:r>
            <a:endParaRPr dirty="0"/>
          </a:p>
        </p:txBody>
      </p:sp>
      <p:sp>
        <p:nvSpPr>
          <p:cNvPr id="92" name="Google Shape;92;p2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0949" y="-673873"/>
            <a:ext cx="3170099" cy="317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0949" y="-673873"/>
            <a:ext cx="3170099" cy="317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Agenda and Objectives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8EB9E2-DEAA-0B36-3D21-733E515A0A44}"/>
              </a:ext>
            </a:extLst>
          </p:cNvPr>
          <p:cNvSpPr txBox="1"/>
          <p:nvPr/>
        </p:nvSpPr>
        <p:spPr>
          <a:xfrm>
            <a:off x="411061" y="853473"/>
            <a:ext cx="11097198" cy="32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Agenda</a:t>
            </a:r>
            <a:endParaRPr lang="en-US" b="1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What is CI/CD?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Key Concepts: Continuous Integration, Delivery, and Deployment.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Setting Up a Basic Pipeline.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</a:t>
            </a:r>
            <a:r>
              <a:rPr lang="en-US"/>
              <a:t>Hands-on with </a:t>
            </a:r>
            <a:r>
              <a:rPr lang="en-US" dirty="0"/>
              <a:t>GitHub Actions.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Objectives</a:t>
            </a:r>
            <a:endParaRPr lang="en-US" b="1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Understand the purpose and benefits of CI/CD.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Learn the key stages of a CI/CD pipeline.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Set up and explore a basic CI/CD workflow.</a:t>
            </a:r>
          </a:p>
        </p:txBody>
      </p:sp>
      <p:pic>
        <p:nvPicPr>
          <p:cNvPr id="1026" name="Picture 2" descr="The Role of the CI/CD Pipeline in Cloud Computing - Civo.com">
            <a:extLst>
              <a:ext uri="{FF2B5EF4-FFF2-40B4-BE49-F238E27FC236}">
                <a16:creationId xmlns:a16="http://schemas.microsoft.com/office/drawing/2014/main" id="{ED06F8BD-37E7-4B68-3F02-0A3A95009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135" y="4091347"/>
            <a:ext cx="5198724" cy="2208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What is CI/CD?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80F00F-63DB-D028-44E9-1501834F8D78}"/>
              </a:ext>
            </a:extLst>
          </p:cNvPr>
          <p:cNvSpPr txBox="1"/>
          <p:nvPr/>
        </p:nvSpPr>
        <p:spPr>
          <a:xfrm>
            <a:off x="411060" y="938302"/>
            <a:ext cx="11088961" cy="32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Definition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Continuous Integration (CI)</a:t>
            </a:r>
            <a:r>
              <a:rPr lang="en-US" dirty="0"/>
              <a:t>: Automating the integration of code changes into a shared repository.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Continuous Delivery (CD)</a:t>
            </a:r>
            <a:r>
              <a:rPr lang="en-US" dirty="0"/>
              <a:t>: Ensuring code is always in a deployable state.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Continuous Deployment</a:t>
            </a:r>
            <a:r>
              <a:rPr lang="en-US" dirty="0"/>
              <a:t>: Automatically deploy code to production after passing all tests.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Why we need CI/CD?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Faster Feedback</a:t>
            </a:r>
            <a:r>
              <a:rPr lang="en-US" dirty="0"/>
              <a:t>: Identify issues early in the development cycle.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Improved Collaboration</a:t>
            </a:r>
            <a:r>
              <a:rPr lang="en-US" dirty="0"/>
              <a:t>: Automate merging and testing for better team productivity.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Higher Quality</a:t>
            </a:r>
            <a:r>
              <a:rPr lang="en-US" dirty="0"/>
              <a:t>: Ensure consistent testing and deployments.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Reduced Risk</a:t>
            </a:r>
            <a:r>
              <a:rPr lang="en-US" dirty="0"/>
              <a:t>: Minimize manual errors with automation.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C9D5C64A-61D1-3728-159A-3FB1A509C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CA96FED5-5D42-0E14-7EF0-2421EA6A72C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D72B3DA6-D393-5E7D-A728-2436954C8078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FD6004AB-1A86-CB93-B81E-328D16DF031F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3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666277CC-7710-DC4F-A1A4-0472AAD80EF0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Key Stages of a CI/CD Pipeline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45BB1D-5492-7CCA-D34D-24858B228704}"/>
              </a:ext>
            </a:extLst>
          </p:cNvPr>
          <p:cNvSpPr txBox="1"/>
          <p:nvPr/>
        </p:nvSpPr>
        <p:spPr>
          <a:xfrm>
            <a:off x="411060" y="853472"/>
            <a:ext cx="11072485" cy="5361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Typical CI/CD Pipeline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Source Code Management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Tools: GitHub, GitLab, Bitbucket.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Trigger: Code push or pull request.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Build Stage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Compile code and generate artifacts (e.g., JAR, Docker images).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Tools: Maven, </a:t>
            </a:r>
            <a:r>
              <a:rPr lang="en-US" dirty="0" err="1"/>
              <a:t>npm</a:t>
            </a:r>
            <a:r>
              <a:rPr lang="en-US" dirty="0"/>
              <a:t>, Docker.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Testing Stage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Run automated tests (unit, integration, functional).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Tools: JUnit, Selenium, </a:t>
            </a:r>
            <a:r>
              <a:rPr lang="en-US" dirty="0" err="1"/>
              <a:t>Pytest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Deployment Stage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Deploy to staging or production environments.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Tools: Argo CD, Ansible, Helm, Docker.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Monitoring and Feedback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Monitor performance and errors.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Tools: Prometheus, Grafana, ELK Stack.</a:t>
            </a:r>
          </a:p>
        </p:txBody>
      </p:sp>
    </p:spTree>
    <p:extLst>
      <p:ext uri="{BB962C8B-B14F-4D97-AF65-F5344CB8AC3E}">
        <p14:creationId xmlns:p14="http://schemas.microsoft.com/office/powerpoint/2010/main" val="3123830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236D34F7-AFBB-786D-21C6-C5903432C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89C6D077-6142-7154-D477-BFE8A7718E1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F07EDE3E-1262-731B-13BC-ABB1BC63D037}"/>
              </a:ext>
            </a:extLst>
          </p:cNvPr>
          <p:cNvCxnSpPr>
            <a:cxnSpLocks/>
          </p:cNvCxnSpPr>
          <p:nvPr/>
        </p:nvCxnSpPr>
        <p:spPr>
          <a:xfrm>
            <a:off x="411061" y="746620"/>
            <a:ext cx="4449263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8ACD9578-182B-3D3F-FA4A-F39AA23A5F3D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4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2CC5DD29-E962-A606-AE3D-6A8634FCE56D}"/>
              </a:ext>
            </a:extLst>
          </p:cNvPr>
          <p:cNvSpPr txBox="1"/>
          <p:nvPr/>
        </p:nvSpPr>
        <p:spPr>
          <a:xfrm>
            <a:off x="838900" y="270436"/>
            <a:ext cx="414499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Benefits and Challenges of CI/CD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420B6D-C994-1987-B2BB-D6500EC7A294}"/>
              </a:ext>
            </a:extLst>
          </p:cNvPr>
          <p:cNvSpPr txBox="1"/>
          <p:nvPr/>
        </p:nvSpPr>
        <p:spPr>
          <a:xfrm>
            <a:off x="411060" y="824219"/>
            <a:ext cx="11072485" cy="3561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Benefits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Faster delivery of features and fixes.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Higher confidence in code quality.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Streamlined collaboration between teams.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Better scalability and reproducibility.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Challenges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Initial setup complexity.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Integration with legacy systems.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Skill gaps in implementing CI/CD.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Managing pipeline failures effectively.</a:t>
            </a:r>
          </a:p>
        </p:txBody>
      </p:sp>
    </p:spTree>
    <p:extLst>
      <p:ext uri="{BB962C8B-B14F-4D97-AF65-F5344CB8AC3E}">
        <p14:creationId xmlns:p14="http://schemas.microsoft.com/office/powerpoint/2010/main" val="3896047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C69798FC-50B7-E5C2-8CFA-D0ED21852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69EB22E5-3409-006B-DD47-57E7B4421C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71FBE424-F067-3675-27FE-A0EFEF3ECAD5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371B3EF7-1147-0CA4-6F74-02707F2B2F5B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5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4413BD32-9ACE-81C4-2223-CDBF9C078394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Hands-On Activities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69B87-F569-0B3B-73B5-5F83311EBA39}"/>
              </a:ext>
            </a:extLst>
          </p:cNvPr>
          <p:cNvSpPr txBox="1"/>
          <p:nvPr/>
        </p:nvSpPr>
        <p:spPr>
          <a:xfrm>
            <a:off x="411061" y="853473"/>
            <a:ext cx="1109719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2"/>
                </a:solidFill>
              </a:rPr>
              <a:t>Activity 1: Setting Up a Basic Pipeline</a:t>
            </a:r>
          </a:p>
          <a:p>
            <a:pPr>
              <a:buFont typeface="+mj-lt"/>
              <a:buAutoNum type="arabicPeriod"/>
            </a:pPr>
            <a:r>
              <a:rPr lang="en-US" dirty="0"/>
              <a:t> Use GitHub Actions or Jenkins to set up a simple pipeline.</a:t>
            </a:r>
          </a:p>
          <a:p>
            <a:pPr>
              <a:buFont typeface="+mj-lt"/>
              <a:buAutoNum type="arabicPeriod"/>
            </a:pPr>
            <a:r>
              <a:rPr lang="en-US" dirty="0"/>
              <a:t> Trigger pipeline on code push.</a:t>
            </a:r>
          </a:p>
          <a:p>
            <a:pPr>
              <a:buFont typeface="+mj-lt"/>
              <a:buAutoNum type="arabicPeriod"/>
            </a:pPr>
            <a:r>
              <a:rPr lang="en-US" dirty="0"/>
              <a:t> Add stages for: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Build</a:t>
            </a:r>
            <a:r>
              <a:rPr lang="en-US" dirty="0"/>
              <a:t>: Compile code or create a Docker image.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Test</a:t>
            </a:r>
            <a:r>
              <a:rPr lang="en-US" dirty="0"/>
              <a:t>: Run basic unit tests.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Deploy</a:t>
            </a:r>
            <a:r>
              <a:rPr lang="en-US" dirty="0"/>
              <a:t>: Deploy to a test environment (e.g., run a container).</a:t>
            </a:r>
            <a:br>
              <a:rPr lang="en-US" dirty="0"/>
            </a:br>
            <a:endParaRPr lang="en-US" dirty="0"/>
          </a:p>
          <a:p>
            <a:r>
              <a:rPr lang="en-US" b="1" dirty="0">
                <a:solidFill>
                  <a:schemeClr val="bg2"/>
                </a:solidFill>
              </a:rPr>
              <a:t>Example Workflow File for GitHub Actions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000896-E150-EDB5-BDA9-66A1184C3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92" y="2949446"/>
            <a:ext cx="5253681" cy="24384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3429A9-812B-5776-0A02-5A91C88976AE}"/>
              </a:ext>
            </a:extLst>
          </p:cNvPr>
          <p:cNvSpPr txBox="1"/>
          <p:nvPr/>
        </p:nvSpPr>
        <p:spPr>
          <a:xfrm>
            <a:off x="411060" y="5372716"/>
            <a:ext cx="109653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2"/>
                </a:solidFill>
              </a:rPr>
              <a:t>Activity 2: Analyzing Pipeline Logs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Identify success and failure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Modify the pipeline to improve efficiency.</a:t>
            </a:r>
          </a:p>
        </p:txBody>
      </p:sp>
    </p:spTree>
    <p:extLst>
      <p:ext uri="{BB962C8B-B14F-4D97-AF65-F5344CB8AC3E}">
        <p14:creationId xmlns:p14="http://schemas.microsoft.com/office/powerpoint/2010/main" val="4241013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D6A6A5A9-3861-BBF5-DCA5-6AAFF7A2D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43EEE562-4055-89FC-3CEE-29598D0C95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7766907E-405B-B84A-A1EC-577A3E7E1E6E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E7D9115C-38F7-AD02-E7E9-8619A9251AB6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6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4AD6616A-DABF-D850-3A30-6DB004132E1A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Homework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D399E0-B5DD-1670-6E33-72F85744A0FE}"/>
              </a:ext>
            </a:extLst>
          </p:cNvPr>
          <p:cNvSpPr txBox="1"/>
          <p:nvPr/>
        </p:nvSpPr>
        <p:spPr>
          <a:xfrm>
            <a:off x="411061" y="855185"/>
            <a:ext cx="10817112" cy="2637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Set Up a Pipeline in GitHub Actions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Create a workflow that triggers on push to the main branch.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Include stages for building and testing the application.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Enhance the Workflow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Add notifications to the pipeline (e.g., email or Slack).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Include a deployment step to run the application in a container.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Debugging Practice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Intentionally introduce a pipeline error (e.g., a failing test) and troubleshoot it using logs.</a:t>
            </a:r>
          </a:p>
        </p:txBody>
      </p:sp>
    </p:spTree>
    <p:extLst>
      <p:ext uri="{BB962C8B-B14F-4D97-AF65-F5344CB8AC3E}">
        <p14:creationId xmlns:p14="http://schemas.microsoft.com/office/powerpoint/2010/main" val="2245367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92440" y="2007569"/>
            <a:ext cx="4007119" cy="400711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/>
          <p:nvPr/>
        </p:nvSpPr>
        <p:spPr>
          <a:xfrm>
            <a:off x="3305261" y="843312"/>
            <a:ext cx="634207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Քո կարծիքը </a:t>
            </a:r>
            <a:r>
              <a:rPr lang="en-US" sz="3600">
                <a:solidFill>
                  <a:srgbClr val="3A3E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կարևոր է</a:t>
            </a:r>
            <a:endParaRPr sz="3600">
              <a:solidFill>
                <a:srgbClr val="3A3E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565</Words>
  <Application>Microsoft Macintosh PowerPoint</Application>
  <PresentationFormat>Widescreen</PresentationFormat>
  <Paragraphs>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Montserrat Black</vt:lpstr>
      <vt:lpstr>Calibri</vt:lpstr>
      <vt:lpstr>Montserrat SemiBold</vt:lpstr>
      <vt:lpstr>Montserrat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Varsenik</dc:creator>
  <cp:lastModifiedBy>Grigoryan, Grigor (external - Project)</cp:lastModifiedBy>
  <cp:revision>3</cp:revision>
  <dcterms:created xsi:type="dcterms:W3CDTF">2024-08-30T07:18:33Z</dcterms:created>
  <dcterms:modified xsi:type="dcterms:W3CDTF">2025-01-22T13:29:31Z</dcterms:modified>
</cp:coreProperties>
</file>