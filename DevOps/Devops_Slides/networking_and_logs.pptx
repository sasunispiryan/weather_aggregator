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</p:sldIdLst>
  <p:sldSz cx="12192000" cy="6858000"/>
  <p:notesSz cx="6858000" cy="9144000"/>
  <p:embeddedFontLst>
    <p:embeddedFont>
      <p:font typeface="Montserrat" pitchFamily="2" charset="77"/>
      <p:regular r:id="rId12"/>
      <p:bold r:id="rId13"/>
      <p:italic r:id="rId14"/>
      <p:boldItalic r:id="rId15"/>
    </p:embeddedFont>
    <p:embeddedFont>
      <p:font typeface="Montserrat Black" panose="020F0502020204030204" pitchFamily="34" charset="0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wkR7Rr2iGqBA2Q0lEScORMrWr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7"/>
  </p:normalViewPr>
  <p:slideViewPr>
    <p:cSldViewPr snapToGrid="0">
      <p:cViewPr varScale="1">
        <p:scale>
          <a:sx n="155" d="100"/>
          <a:sy n="155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8A15DF3-E57F-63E9-171A-E0911A4F9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D4D32DE7-E2BE-0624-3C32-AE71A91CFC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C5E8650B-E19B-ADC8-6B71-F16D1F271A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060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9EE3458-D322-9A67-362C-A5F3B9D6C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24D67C0A-F151-70E1-1127-054BB67926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FDC9329D-ED37-BC1D-BEEB-8DBD4451D4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3952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BEBEC66-0A66-CC56-11DD-9046D9773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4D5C6DAC-773D-BA14-B360-B97341E184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9E2617E1-255B-45A7-27A9-A80ED077C6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4091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1ED72D6-5430-A5B5-1442-DC01A1F06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A867A008-3F51-AFE2-B9F5-F5342BC0C2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B08C62FC-D1CF-2110-AF5E-CCD659BA2F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1542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-26194"/>
            <a:ext cx="12192000" cy="228600"/>
          </a:xfrm>
          <a:prstGeom prst="rect">
            <a:avLst/>
          </a:prstGeom>
          <a:solidFill>
            <a:srgbClr val="7B8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59350" y="1220390"/>
            <a:ext cx="11377515" cy="4370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NETWORKING AND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LOGS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Objectives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EB850C-7C3F-2E29-A9A3-8A1F9C070A0E}"/>
              </a:ext>
            </a:extLst>
          </p:cNvPr>
          <p:cNvSpPr txBox="1"/>
          <p:nvPr/>
        </p:nvSpPr>
        <p:spPr>
          <a:xfrm>
            <a:off x="411061" y="853473"/>
            <a:ext cx="11113674" cy="32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Agenda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Introduction to Networking Fundamentals.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DNS, Routing, and Certificates.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Logging Basics and Log Rotation.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Hands-on with Network Configuration and Log Management.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Objectives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Understand core networking concepts used in DevOps.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about DNS, routing, and SSL/TLS certificates.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Configure and manage system logs effectively.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Networking Fundamentals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0CC0A5-0167-A9C8-5DB2-0D6EF03C2EE7}"/>
              </a:ext>
            </a:extLst>
          </p:cNvPr>
          <p:cNvSpPr txBox="1"/>
          <p:nvPr/>
        </p:nvSpPr>
        <p:spPr>
          <a:xfrm>
            <a:off x="328682" y="774791"/>
            <a:ext cx="11072486" cy="6007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Key Networking Concepts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IP Addressing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IPv4</a:t>
            </a:r>
            <a:r>
              <a:rPr lang="en-US" dirty="0"/>
              <a:t>: A 32-bit address system, represented in four decimal numbers (e.g., 192.168.1.1). Used for most networking but has limited address space.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IPv6</a:t>
            </a:r>
            <a:r>
              <a:rPr lang="en-US" dirty="0"/>
              <a:t>: A 128-bit address system, represented in hexadecimal (e.g., 2001:db8::1). Designed to replace IPv4 with a vastly larger address pool.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Private vs. Public IPs</a:t>
            </a:r>
            <a:r>
              <a:rPr lang="en-US" dirty="0"/>
              <a:t>: Private IPs are used within local networks (192.168.x.x, 10.x.x.x), while public IPs are globally routable.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Subnetting and CIDR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Subnetting</a:t>
            </a:r>
            <a:r>
              <a:rPr lang="en-US" dirty="0"/>
              <a:t>: Dividing a large network into smaller, manageable segments to optimize performance and security.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CIDR (Classless Inter-Domain Routing)</a:t>
            </a:r>
            <a:r>
              <a:rPr lang="en-US" dirty="0"/>
              <a:t>: A method for efficiently allocating IP addresses (e.g., 192.168.1.0/24 means 256 available addresses).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Ports and Protocols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Ports</a:t>
            </a:r>
            <a:r>
              <a:rPr lang="en-US" dirty="0"/>
              <a:t>: Numerical identifiers used by network services (e.g., HTTP - 80, HTTPS - 443, SSH - 22).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TCP (Transmission Control Protocol)</a:t>
            </a:r>
            <a:r>
              <a:rPr lang="en-US" dirty="0"/>
              <a:t>: Reliable, connection-oriented protocol used for most internet applications.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UDP (User Datagram Protocol)</a:t>
            </a:r>
            <a:r>
              <a:rPr lang="en-US" dirty="0"/>
              <a:t>: Faster but less reliable, used for streaming and real-time applications.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Firewalls and Security Groups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Firewalls</a:t>
            </a:r>
            <a:r>
              <a:rPr lang="en-US" dirty="0"/>
              <a:t>: Control traffic flow based on predefined security rules (e.g., iptables on Linux).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Security Groups</a:t>
            </a:r>
            <a:r>
              <a:rPr lang="en-US" dirty="0"/>
              <a:t>: Cloud-based firewalls in platforms like AWS, defining which traffic is allowed in/out of instances.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7D0F333-332E-0B94-5E4F-1E374A80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3C5D2DC9-7EEC-C14C-DC7F-78DF02C353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57C05F22-484D-EFB4-57F2-76CC5F699061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90A7D4D9-B4A3-71BC-E1A3-F9F27BA94CC6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890CA29-CB21-9BFF-0C4E-1996ED54E399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DNS, Routing and Certificates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7032EB-769F-E9FB-AFCE-1951322BF866}"/>
              </a:ext>
            </a:extLst>
          </p:cNvPr>
          <p:cNvSpPr txBox="1"/>
          <p:nvPr/>
        </p:nvSpPr>
        <p:spPr>
          <a:xfrm>
            <a:off x="411060" y="824219"/>
            <a:ext cx="11080723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Domain Name System (DNS)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What is DNS?</a:t>
            </a:r>
            <a:r>
              <a:rPr lang="en-US" dirty="0"/>
              <a:t>: A system that translates human-readable domain names (</a:t>
            </a:r>
            <a:r>
              <a:rPr lang="en-US" i="1" dirty="0" err="1"/>
              <a:t>example.com</a:t>
            </a:r>
            <a:r>
              <a:rPr lang="en-US" dirty="0"/>
              <a:t>) into IP addresses (93.184.216.34).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Key DNS Records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</a:t>
            </a:r>
            <a:r>
              <a:rPr lang="en-US" dirty="0"/>
              <a:t> Record: Maps a domain to an IPv4 address.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CNAME</a:t>
            </a:r>
            <a:r>
              <a:rPr lang="en-US" dirty="0"/>
              <a:t>: Alias record that points one domain to another.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MX</a:t>
            </a:r>
            <a:r>
              <a:rPr lang="en-US" dirty="0"/>
              <a:t>: Mail exchange record, defining email routing.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TXT</a:t>
            </a:r>
            <a:r>
              <a:rPr lang="en-US" dirty="0"/>
              <a:t>: Stores arbitrary text, often used for security verification (e.g., SPF, DKIM for email authentication).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Common DNS Tools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6"/>
                </a:solidFill>
              </a:rPr>
              <a:t>nslookup</a:t>
            </a:r>
            <a:r>
              <a:rPr lang="en-US" dirty="0"/>
              <a:t>: Queries DNS servers.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dig</a:t>
            </a:r>
            <a:r>
              <a:rPr lang="en-US" dirty="0"/>
              <a:t>: Provides detailed DNS information.</a:t>
            </a:r>
          </a:p>
          <a:p>
            <a:pPr algn="ctr"/>
            <a:r>
              <a:rPr lang="en-US" sz="2000" b="1" dirty="0">
                <a:solidFill>
                  <a:schemeClr val="bg2"/>
                </a:solidFill>
              </a:rPr>
              <a:t>Routing Basics</a:t>
            </a:r>
            <a:br>
              <a:rPr lang="en-US" sz="2000" b="1" dirty="0">
                <a:solidFill>
                  <a:schemeClr val="bg2"/>
                </a:solidFill>
              </a:rPr>
            </a:br>
            <a:endParaRPr lang="en-US" sz="2000" b="1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What is Routing?</a:t>
            </a:r>
            <a:r>
              <a:rPr lang="en-US" dirty="0"/>
              <a:t>: The process of directing network traffic from one network to another.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Default Gateway</a:t>
            </a:r>
            <a:r>
              <a:rPr lang="en-US" dirty="0"/>
              <a:t>: The router that connects local networks to external networks (e.g., the internet).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Routing Table</a:t>
            </a:r>
            <a:r>
              <a:rPr lang="en-US" dirty="0"/>
              <a:t>: A set of rules that define where data packets should be sent (</a:t>
            </a:r>
            <a:r>
              <a:rPr lang="en-US" dirty="0" err="1"/>
              <a:t>ip</a:t>
            </a:r>
            <a:r>
              <a:rPr lang="en-US" dirty="0"/>
              <a:t> route show on Linux).</a:t>
            </a:r>
            <a:br>
              <a:rPr lang="en-US" dirty="0"/>
            </a:br>
            <a:endParaRPr lang="en-US" dirty="0"/>
          </a:p>
          <a:p>
            <a:pPr algn="ctr"/>
            <a:r>
              <a:rPr lang="en-US" sz="2000" b="1" dirty="0">
                <a:solidFill>
                  <a:schemeClr val="bg2"/>
                </a:solidFill>
              </a:rPr>
              <a:t>SSL/TLS Certificates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Why Use Certificates?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Encrypt communication between clients and servers.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Ensure authentication and prevent man-in-the-middle attacks.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Types of SSL Certificates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Self-signed (for internal use/testing).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CA-signed (issued by trusted certificate authorities like Let's Encrypt).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Obtaining and Installing an SSL Certificate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Get a free SSL certificate using Let's Encrypt: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233226-EA52-39C9-C62C-33AC1A6CA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134" y="6278601"/>
            <a:ext cx="5332799" cy="40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98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5E64BAB-0519-12E3-B83D-F1DF9BD5F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5FEE7490-AFA5-7741-68A0-871D510A2B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2D9FD6D7-BDC2-109D-A204-D828A6564434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445750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80ED54AC-59A0-B8F2-2C34-4463645728AC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8A16937A-E21A-F49F-ADA7-08BB95C10B3E}"/>
              </a:ext>
            </a:extLst>
          </p:cNvPr>
          <p:cNvSpPr txBox="1"/>
          <p:nvPr/>
        </p:nvSpPr>
        <p:spPr>
          <a:xfrm>
            <a:off x="838900" y="270436"/>
            <a:ext cx="415323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Logging Basics and Log Rotation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4A966-D479-918C-9824-3BC444CBD163}"/>
              </a:ext>
            </a:extLst>
          </p:cNvPr>
          <p:cNvSpPr txBox="1"/>
          <p:nvPr/>
        </p:nvSpPr>
        <p:spPr>
          <a:xfrm>
            <a:off x="411061" y="775915"/>
            <a:ext cx="11113674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2"/>
                </a:solidFill>
              </a:rPr>
              <a:t>Why Logs Matter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 Monitor application and system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 Troubleshoot issues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 Maintain security and compliance.</a:t>
            </a:r>
          </a:p>
          <a:p>
            <a:pPr algn="ctr"/>
            <a:r>
              <a:rPr lang="en-US" sz="1800" b="1" dirty="0">
                <a:solidFill>
                  <a:schemeClr val="bg2"/>
                </a:solidFill>
              </a:rPr>
              <a:t>Types of Logs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 System Logs</a:t>
            </a:r>
            <a:r>
              <a:rPr lang="en-US" sz="12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b="1" dirty="0"/>
              <a:t>Linux Logs</a:t>
            </a:r>
            <a:r>
              <a:rPr lang="en-US" sz="1200" dirty="0"/>
              <a:t>: /var/log/syslog, /var/log/</a:t>
            </a:r>
            <a:r>
              <a:rPr lang="en-US" sz="1200" dirty="0" err="1"/>
              <a:t>auth.log</a:t>
            </a:r>
            <a:r>
              <a:rPr lang="en-US" sz="1200" dirty="0"/>
              <a:t> (for security events).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b="1" dirty="0"/>
              <a:t>Windows Logs</a:t>
            </a:r>
            <a:r>
              <a:rPr lang="en-US" sz="1200" dirty="0"/>
              <a:t>: Available in Event Viewer (Application, System, Security logs).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 Application Logs</a:t>
            </a:r>
            <a:r>
              <a:rPr lang="en-US" sz="12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b="1" dirty="0"/>
              <a:t>Web Server Logs</a:t>
            </a:r>
            <a:r>
              <a:rPr lang="en-US" sz="1200" dirty="0"/>
              <a:t>: Nginx (/var/log/nginx/</a:t>
            </a:r>
            <a:r>
              <a:rPr lang="en-US" sz="1200" dirty="0" err="1"/>
              <a:t>access.log</a:t>
            </a:r>
            <a:r>
              <a:rPr lang="en-US" sz="1200" dirty="0"/>
              <a:t>), Apache (/var/log/apache2/</a:t>
            </a:r>
            <a:r>
              <a:rPr lang="en-US" sz="1200" dirty="0" err="1"/>
              <a:t>access.log</a:t>
            </a:r>
            <a:r>
              <a:rPr lang="en-US" sz="1200" dirty="0"/>
              <a:t>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b="1" dirty="0"/>
              <a:t>Database Logs</a:t>
            </a:r>
            <a:r>
              <a:rPr lang="en-US" sz="1200" dirty="0"/>
              <a:t>: MySQL (/var/log/</a:t>
            </a:r>
            <a:r>
              <a:rPr lang="en-US" sz="1200" dirty="0" err="1"/>
              <a:t>mysql.log</a:t>
            </a:r>
            <a:r>
              <a:rPr lang="en-US" sz="1200" dirty="0"/>
              <a:t>), PostgreSQL (/var/log/</a:t>
            </a:r>
            <a:r>
              <a:rPr lang="en-US" sz="1200" dirty="0" err="1"/>
              <a:t>postgresql.log</a:t>
            </a:r>
            <a:r>
              <a:rPr lang="en-US" sz="1200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sz="1200" b="1" dirty="0"/>
              <a:t> Container Logs</a:t>
            </a:r>
            <a:r>
              <a:rPr lang="en-US" sz="12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b="1" dirty="0"/>
              <a:t>Docker Logs</a:t>
            </a:r>
            <a:r>
              <a:rPr lang="en-US" sz="1200" dirty="0"/>
              <a:t>: View logs for a running container:</a:t>
            </a:r>
            <a:br>
              <a:rPr lang="en-US" sz="1200" dirty="0"/>
            </a:br>
            <a:br>
              <a:rPr lang="en-US" sz="1200" dirty="0"/>
            </a:br>
            <a:endParaRPr lang="en-US" sz="1200" dirty="0"/>
          </a:p>
          <a:p>
            <a:pPr marL="457200" lvl="1"/>
            <a:endParaRPr lang="en-US" sz="1200" dirty="0"/>
          </a:p>
          <a:p>
            <a:pPr algn="ctr"/>
            <a:r>
              <a:rPr lang="en-US" sz="1800" b="1" dirty="0">
                <a:solidFill>
                  <a:schemeClr val="bg2"/>
                </a:solidFill>
              </a:rPr>
              <a:t>Log Rotation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 Why We Need to Rotate Logs?</a:t>
            </a:r>
            <a:r>
              <a:rPr lang="en-US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Prevent logs from consuming excessive disk space.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Ensure log files remain manageable and readable.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 Configuring Log Rotation with </a:t>
            </a:r>
            <a:r>
              <a:rPr lang="en-US" sz="1200" b="1" dirty="0" err="1"/>
              <a:t>logrotate</a:t>
            </a:r>
            <a:r>
              <a:rPr lang="en-US" sz="1200" dirty="0"/>
              <a:t>:</a:t>
            </a: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 Explanation of Configuration</a:t>
            </a:r>
            <a:r>
              <a:rPr lang="en-US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weekly: Logs will be rotated once per week.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rotate 4: Retains the last 4 log files before deleting older ones.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compress: Compresses old logs to save space.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missingok</a:t>
            </a:r>
            <a:r>
              <a:rPr lang="en-US" sz="1200" dirty="0"/>
              <a:t>: Prevents errors if a log file is missing when rotation is triggered.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7410B4-FD46-50ED-3F5D-9E67F0656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011" y="3429000"/>
            <a:ext cx="3311611" cy="4040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5A2672-C367-B536-BB94-F4D7FCB8C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63" y="4946001"/>
            <a:ext cx="3629183" cy="86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912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9001695-114E-D16C-DDC9-5DFE857B2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209D4364-A602-28A8-E21D-FC1AC01AAB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80699887-F980-AF59-C706-C6A50D267BAB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B319AD46-0A86-79D6-7B76-B421C5A3807F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0252423-3283-8556-0153-BD170D04921F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16497-0A59-F65B-985D-295633DCD855}"/>
              </a:ext>
            </a:extLst>
          </p:cNvPr>
          <p:cNvSpPr txBox="1"/>
          <p:nvPr/>
        </p:nvSpPr>
        <p:spPr>
          <a:xfrm>
            <a:off x="411060" y="853473"/>
            <a:ext cx="10965393" cy="522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Basic Networking Configuration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a</a:t>
            </a:r>
            <a:r>
              <a:rPr lang="en-US" dirty="0"/>
              <a:t> and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ip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route</a:t>
            </a:r>
            <a:r>
              <a:rPr lang="en-US" dirty="0"/>
              <a:t> </a:t>
            </a:r>
            <a:r>
              <a:rPr lang="en-US" i="1" dirty="0"/>
              <a:t>show</a:t>
            </a:r>
            <a:r>
              <a:rPr lang="en-US" dirty="0"/>
              <a:t> to check network settings.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Modify network settings with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ifconfig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DNS and Routing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Query DNS records using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nslookup</a:t>
            </a:r>
            <a:r>
              <a:rPr lang="en-US" dirty="0"/>
              <a:t> </a:t>
            </a:r>
            <a:r>
              <a:rPr lang="en-US" dirty="0" err="1"/>
              <a:t>example.com</a:t>
            </a:r>
            <a:r>
              <a:rPr lang="en-US" dirty="0"/>
              <a:t> 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dig</a:t>
            </a:r>
            <a:r>
              <a:rPr lang="en-US" dirty="0"/>
              <a:t> </a:t>
            </a:r>
            <a:r>
              <a:rPr lang="en-US" dirty="0" err="1"/>
              <a:t>example.com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Modify </a:t>
            </a:r>
            <a:r>
              <a:rPr lang="en-US" b="1" dirty="0"/>
              <a:t>/</a:t>
            </a:r>
            <a:r>
              <a:rPr lang="en-US" b="1" dirty="0" err="1"/>
              <a:t>etc</a:t>
            </a:r>
            <a:r>
              <a:rPr lang="en-US" b="1" dirty="0"/>
              <a:t>/hosts</a:t>
            </a:r>
            <a:r>
              <a:rPr lang="en-US" dirty="0"/>
              <a:t> to map a custom domain to an IP.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SSL/TLS Setup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Generate a self-signed SSL certificate: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Apply SSL to a simple Python HTTP server: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/>
              <a:t> Log </a:t>
            </a:r>
            <a:r>
              <a:rPr lang="en-US" b="1" dirty="0"/>
              <a:t>Management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View system logs using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journalctl</a:t>
            </a:r>
            <a:r>
              <a:rPr lang="en-US" dirty="0"/>
              <a:t> -</a:t>
            </a:r>
            <a:r>
              <a:rPr lang="en-US" dirty="0" err="1"/>
              <a:t>xe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Set up a log rotation policy using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logrotate</a:t>
            </a:r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621584-321F-BEB5-0231-0444F8806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499" y="3593760"/>
            <a:ext cx="4924167" cy="4103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8C078A-A3E0-0ACE-B103-8230699B2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832" y="4537202"/>
            <a:ext cx="5374755" cy="41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017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1AF442F-70F6-2295-1404-EF136AF4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51633F43-6D9A-5746-7207-C3C9DA6D51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EDBB065A-259E-D61E-901E-520ABC0184D9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9B061B45-E666-2A68-8DA2-0CCB22417C85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FEE7D5F-DF59-727E-F329-421ADCC8CABC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F61230-4EA4-D925-FDFE-45798DA062C6}"/>
              </a:ext>
            </a:extLst>
          </p:cNvPr>
          <p:cNvSpPr txBox="1"/>
          <p:nvPr/>
        </p:nvSpPr>
        <p:spPr>
          <a:xfrm>
            <a:off x="411061" y="853473"/>
            <a:ext cx="8065674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Networking Practice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Set up a basic web server and configure firewall rules with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ufw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tcpdump</a:t>
            </a:r>
            <a:r>
              <a:rPr lang="en-US" dirty="0"/>
              <a:t> to analyze network traffic.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DNS and SSL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Register a free subdomain (e.g., </a:t>
            </a:r>
            <a:r>
              <a:rPr lang="en-US" dirty="0" err="1"/>
              <a:t>yourname.freedns.com</a:t>
            </a:r>
            <a:r>
              <a:rPr lang="en-US" dirty="0"/>
              <a:t>).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Configure a free SSL certificate with Let's Encrypt.</a:t>
            </a:r>
          </a:p>
        </p:txBody>
      </p:sp>
    </p:spTree>
    <p:extLst>
      <p:ext uri="{BB962C8B-B14F-4D97-AF65-F5344CB8AC3E}">
        <p14:creationId xmlns:p14="http://schemas.microsoft.com/office/powerpoint/2010/main" val="2760049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974</Words>
  <Application>Microsoft Macintosh PowerPoint</Application>
  <PresentationFormat>Widescreen</PresentationFormat>
  <Paragraphs>105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Montserrat Black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Varsenik</dc:creator>
  <cp:lastModifiedBy>Grigoryan, Grigor (external - Project)</cp:lastModifiedBy>
  <cp:revision>3</cp:revision>
  <dcterms:created xsi:type="dcterms:W3CDTF">2024-08-30T07:18:33Z</dcterms:created>
  <dcterms:modified xsi:type="dcterms:W3CDTF">2025-04-24T10:28:32Z</dcterms:modified>
</cp:coreProperties>
</file>