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7" r:id="rId6"/>
    <p:sldId id="261" r:id="rId7"/>
    <p:sldId id="262" r:id="rId8"/>
    <p:sldId id="263" r:id="rId9"/>
    <p:sldId id="264" r:id="rId10"/>
    <p:sldId id="265" r:id="rId11"/>
    <p:sldId id="266" r:id="rId12"/>
    <p:sldId id="260" r:id="rId13"/>
  </p:sldIdLst>
  <p:sldSz cx="12192000" cy="6858000"/>
  <p:notesSz cx="6858000" cy="9144000"/>
  <p:embeddedFontLst>
    <p:embeddedFont>
      <p:font typeface="Montserrat" pitchFamily="2" charset="77"/>
      <p:regular r:id="rId15"/>
      <p:bold r:id="rId16"/>
      <p:italic r:id="rId17"/>
      <p:boldItalic r:id="rId18"/>
    </p:embeddedFont>
    <p:embeddedFont>
      <p:font typeface="Montserrat Black" panose="020F0502020204030204" pitchFamily="34" charset="0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iwkR7Rr2iGqBA2Q0lEScORMrWr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24"/>
    <p:restoredTop sz="94706"/>
  </p:normalViewPr>
  <p:slideViewPr>
    <p:cSldViewPr snapToGrid="0">
      <p:cViewPr varScale="1">
        <p:scale>
          <a:sx n="288" d="100"/>
          <a:sy n="288" d="100"/>
        </p:scale>
        <p:origin x="17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27A778C5-8984-C0DF-6C1C-AAA879C50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634FFADE-21BC-B8D5-38C8-39C6431AD1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55B30716-5C8D-FEAC-52F8-FB54E2DA83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1878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6034CF0-586B-8B9A-D8EC-13CEFA04E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A4BA82BD-189B-B160-C5C4-96A1DDD69E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7520112C-0A41-C8D2-2499-F5229C6C13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5975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CD15F79-5CA3-D9D9-A00C-5B1ABC92F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43642281-D511-31CD-4720-214541BCAE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1DF994A8-5A4C-2898-A719-562AF36048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03744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A1687718-1D0D-1729-9EC8-56FBB5B52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A11202A5-3732-E476-40E3-FC60080480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DC782F28-E409-5496-1C71-330EEA0E6C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78317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589824D2-E536-DC43-E303-EA572FC75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ED15FFDE-2EBE-0052-6D16-A574D81E80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ABC956D2-183A-D7B6-11ED-62570E0B55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3279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58DB2E50-1D44-6DD5-F3E4-ED8462F73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28983C17-3FE8-97D6-099B-A9E34AD62E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B76FBF11-093B-F4FA-7587-6B19AFE402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60795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56CD07D1-7E9E-26ED-1B19-228459D0B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9EB034B6-FB6B-5639-7643-6B6A73771F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5D0C701A-6AE2-7B76-A762-A1520CB789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72840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0" y="-26194"/>
            <a:ext cx="12192000" cy="228600"/>
          </a:xfrm>
          <a:prstGeom prst="rect">
            <a:avLst/>
          </a:prstGeom>
          <a:solidFill>
            <a:srgbClr val="7B8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459350" y="2274838"/>
            <a:ext cx="11377515" cy="28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>
                <a:solidFill>
                  <a:srgbClr val="3A3E4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CI/CD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>
                <a:solidFill>
                  <a:srgbClr val="3A3E47"/>
                </a:solidFill>
                <a:latin typeface="Montserrat Black"/>
                <a:cs typeface="Montserrat Black"/>
                <a:sym typeface="Montserrat Black"/>
              </a:rPr>
              <a:t>ADVANCED</a:t>
            </a:r>
            <a:endParaRPr dirty="0"/>
          </a:p>
        </p:txBody>
      </p:sp>
      <p:sp>
        <p:nvSpPr>
          <p:cNvPr id="92" name="Google Shape;92;p2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0949" y="-673873"/>
            <a:ext cx="3170099" cy="317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0949" y="-673873"/>
            <a:ext cx="3170099" cy="317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Agenda and Objectives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D619D3-0101-1CBC-9F08-5A52D8A4E4AD}"/>
              </a:ext>
            </a:extLst>
          </p:cNvPr>
          <p:cNvSpPr txBox="1"/>
          <p:nvPr/>
        </p:nvSpPr>
        <p:spPr>
          <a:xfrm>
            <a:off x="411060" y="824219"/>
            <a:ext cx="11133239" cy="3561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Agenda</a:t>
            </a:r>
            <a:endParaRPr lang="en-US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Review of CI/CD Basics.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Introduction to Multi-Stage Pipelines with Jenkins.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Advanced Testing Strategies in CI/CD.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Deployment to Production.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Integrating CI/CD with Jenkins and Other Tools.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Objectives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Build and manage advanced multi-stage pipelines using Jenkins.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Learn techniques for automating and scaling CI/CD workflows.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Understand how to deploy code to production environments.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Review of CI/CD Basics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7E1DAE-1A6A-4923-0AA2-79172AA80020}"/>
              </a:ext>
            </a:extLst>
          </p:cNvPr>
          <p:cNvSpPr txBox="1"/>
          <p:nvPr/>
        </p:nvSpPr>
        <p:spPr>
          <a:xfrm>
            <a:off x="411060" y="853473"/>
            <a:ext cx="11071693" cy="388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Key Concepts Recap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Continuous Integration (CI)</a:t>
            </a:r>
            <a:r>
              <a:rPr lang="en-US" dirty="0"/>
              <a:t>: Automating code integration and running tests.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Continuous Delivery (CD)</a:t>
            </a:r>
            <a:r>
              <a:rPr lang="en-US" dirty="0"/>
              <a:t>: Ensuring code is always in a deployable state.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Continuous Deployment</a:t>
            </a:r>
            <a:r>
              <a:rPr lang="en-US" dirty="0"/>
              <a:t>: Automatically deploying changes to production after testing.</a:t>
            </a:r>
            <a:br>
              <a:rPr lang="en-US" dirty="0"/>
            </a:br>
            <a:endParaRPr lang="en-US" dirty="0"/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Key Pipeline Stages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1. Source Code Management</a:t>
            </a:r>
            <a:r>
              <a:rPr lang="en-US" dirty="0"/>
              <a:t> (e.g., GitHub, GitLab).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2. Build Stage</a:t>
            </a:r>
            <a:r>
              <a:rPr lang="en-US" dirty="0"/>
              <a:t>: Compiling and artifact generation.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3. Testing Stage</a:t>
            </a:r>
            <a:r>
              <a:rPr lang="en-US" dirty="0"/>
              <a:t>: Automated unit and integration tests.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4. Deployment Stage</a:t>
            </a:r>
            <a:r>
              <a:rPr lang="en-US" dirty="0"/>
              <a:t>: Automated deployment to staging/production environments.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2C396E61-D07F-315E-9F50-DDA49147A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7616FF02-5B14-0075-563C-555B79C883B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72842639-B405-636D-A855-4159F626B184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E60ED872-C281-07FB-63E1-492EC8F89460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3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075FE471-51F5-AB13-0350-BBA4522D5FF4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Understanding Jenkins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5778E5-8EE4-485F-9BBA-12E5D74F6E48}"/>
              </a:ext>
            </a:extLst>
          </p:cNvPr>
          <p:cNvSpPr txBox="1"/>
          <p:nvPr/>
        </p:nvSpPr>
        <p:spPr>
          <a:xfrm>
            <a:off x="411061" y="853473"/>
            <a:ext cx="11106862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2"/>
                </a:solidFill>
              </a:rPr>
              <a:t>What is Jenkins?</a:t>
            </a:r>
            <a:br>
              <a:rPr lang="en-US" sz="2000" b="1" dirty="0">
                <a:solidFill>
                  <a:schemeClr val="bg2"/>
                </a:solidFill>
              </a:rPr>
            </a:br>
            <a:endParaRPr lang="en-US" sz="2000" b="1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Jenkins</a:t>
            </a:r>
            <a:r>
              <a:rPr lang="en-US" dirty="0"/>
              <a:t>: An open-source automation server designed to build, test, and deploy software.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Why Jenkins?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Extensible through plugins.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Supports complex, highly customizable pipelines.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Integrates with various tools and platforms.</a:t>
            </a:r>
            <a:br>
              <a:rPr lang="en-US" dirty="0"/>
            </a:br>
            <a:endParaRPr lang="en-US" dirty="0"/>
          </a:p>
          <a:p>
            <a:pPr algn="ctr"/>
            <a:r>
              <a:rPr lang="en-US" sz="2000" b="1" dirty="0">
                <a:solidFill>
                  <a:schemeClr val="bg2"/>
                </a:solidFill>
              </a:rPr>
              <a:t>Comparing Jenkins with GitHub Actions and GitLab CI</a:t>
            </a:r>
            <a:br>
              <a:rPr lang="en-US" sz="2000" b="1" dirty="0">
                <a:solidFill>
                  <a:schemeClr val="bg2"/>
                </a:solidFill>
              </a:rPr>
            </a:br>
            <a:endParaRPr lang="en-US" sz="2000" b="1" dirty="0">
              <a:solidFill>
                <a:schemeClr val="bg2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b="1" dirty="0"/>
              <a:t> Jenkins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Highly flexible and configurable.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Requires manual setup and maintenance.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Ideal for enterprise-level workflows with multiple integrations.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GitHub Actions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Built into GitHub; seamless for GitHub repositories.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Limited to GitHub-hosted projects.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Simpler for smaller teams and projects.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GitLab CI/CD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Integrated into GitLab; tight coupling with GitLab repositories.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Offers extensive DevOps lifecycle features.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Self-hosted and SaaS options.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ECB916A-020D-B858-B8FA-249E9729CA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35128" y="3454185"/>
            <a:ext cx="21463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632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D74C9AA-4948-6825-9AB4-13698648A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158E821F-04B5-F3F7-9E18-8E9DA5A45EA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B20B1B8D-9066-1E44-77AC-891708237569}"/>
              </a:ext>
            </a:extLst>
          </p:cNvPr>
          <p:cNvCxnSpPr>
            <a:cxnSpLocks/>
          </p:cNvCxnSpPr>
          <p:nvPr/>
        </p:nvCxnSpPr>
        <p:spPr>
          <a:xfrm>
            <a:off x="411061" y="746620"/>
            <a:ext cx="454780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F8FB8353-DF4D-AB8A-8228-B0E880DAD477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4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79C72ADF-F97C-A76D-8EC6-BF56B281891E}"/>
              </a:ext>
            </a:extLst>
          </p:cNvPr>
          <p:cNvSpPr txBox="1"/>
          <p:nvPr/>
        </p:nvSpPr>
        <p:spPr>
          <a:xfrm>
            <a:off x="838900" y="270436"/>
            <a:ext cx="422805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Multi-Stage Pipelines with Jenkins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C58D36-C65D-D484-A405-2A962F369537}"/>
              </a:ext>
            </a:extLst>
          </p:cNvPr>
          <p:cNvSpPr txBox="1"/>
          <p:nvPr/>
        </p:nvSpPr>
        <p:spPr>
          <a:xfrm>
            <a:off x="411061" y="889991"/>
            <a:ext cx="11091826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2"/>
                </a:solidFill>
              </a:rPr>
              <a:t>What are Multi-Stage Pipelines?</a:t>
            </a:r>
            <a:br>
              <a:rPr lang="en-US" sz="2000" b="1" dirty="0">
                <a:solidFill>
                  <a:schemeClr val="bg2"/>
                </a:solidFill>
              </a:rPr>
            </a:br>
            <a:endParaRPr lang="en-US" sz="2000" b="1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Pipelines that separate and organize tasks into distinct stages (e.g., build, test, deploy).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Benefits: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Better organization and clarity.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Easier debugging and monitoring.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Parallel execution for faster workflows.</a:t>
            </a:r>
            <a:br>
              <a:rPr lang="en-US" dirty="0"/>
            </a:br>
            <a:endParaRPr lang="en-US" dirty="0"/>
          </a:p>
          <a:p>
            <a:pPr algn="ctr"/>
            <a:r>
              <a:rPr lang="en-US" sz="2000" b="1" dirty="0">
                <a:solidFill>
                  <a:schemeClr val="bg2"/>
                </a:solidFill>
              </a:rPr>
              <a:t>Setting Up a Multi-Stage Pipeline in Jenkins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Install Plugins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Pipeline Plugin.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Git Plugin.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Create a </a:t>
            </a:r>
            <a:r>
              <a:rPr lang="en-US" b="1" dirty="0" err="1"/>
              <a:t>Jenkinsfile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Define pipeline stages in Groovy syntax.</a:t>
            </a:r>
          </a:p>
          <a:p>
            <a:r>
              <a:rPr lang="en-US" b="1" dirty="0"/>
              <a:t>Example </a:t>
            </a:r>
            <a:r>
              <a:rPr lang="en-US" b="1" dirty="0" err="1"/>
              <a:t>Jenkinsfile</a:t>
            </a:r>
            <a:r>
              <a:rPr lang="en-US" b="1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042037-90E4-CDB2-9262-DF2F3C113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40" y="4415587"/>
            <a:ext cx="2614852" cy="2201230"/>
          </a:xfrm>
          <a:prstGeom prst="rect">
            <a:avLst/>
          </a:prstGeom>
        </p:spPr>
      </p:pic>
      <p:pic>
        <p:nvPicPr>
          <p:cNvPr id="2050" name="Picture 2" descr="jenkins - How to build a pipeline as shown in blue oceans beta project page  - Stack Overflow">
            <a:extLst>
              <a:ext uri="{FF2B5EF4-FFF2-40B4-BE49-F238E27FC236}">
                <a16:creationId xmlns:a16="http://schemas.microsoft.com/office/drawing/2014/main" id="{DDB0F0DC-C8B0-568C-29C9-7A3AFA833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512" y="3429000"/>
            <a:ext cx="4964942" cy="2983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9164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67CC5C9A-4A7D-368B-B5AD-75996193F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6A5524C0-8A0B-5A7F-CC55-A14E344410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EFA2643C-B267-B41C-DB9E-AC33124546A8}"/>
              </a:ext>
            </a:extLst>
          </p:cNvPr>
          <p:cNvCxnSpPr>
            <a:cxnSpLocks/>
          </p:cNvCxnSpPr>
          <p:nvPr/>
        </p:nvCxnSpPr>
        <p:spPr>
          <a:xfrm>
            <a:off x="411061" y="746620"/>
            <a:ext cx="4574177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0B905DFD-6A8C-43A4-B229-334BAFE9D31E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5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295F42B8-17F5-255F-BCDC-05D0D19B1CBB}"/>
              </a:ext>
            </a:extLst>
          </p:cNvPr>
          <p:cNvSpPr txBox="1"/>
          <p:nvPr/>
        </p:nvSpPr>
        <p:spPr>
          <a:xfrm>
            <a:off x="838900" y="270436"/>
            <a:ext cx="435735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Advanced CI/CD Testing Strategies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8AD915-6089-55DB-B178-67B0C027A36C}"/>
              </a:ext>
            </a:extLst>
          </p:cNvPr>
          <p:cNvSpPr txBox="1"/>
          <p:nvPr/>
        </p:nvSpPr>
        <p:spPr>
          <a:xfrm>
            <a:off x="411061" y="885625"/>
            <a:ext cx="1102114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2"/>
                </a:solidFill>
              </a:rPr>
              <a:t>Types of Tests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Unit Tests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Focus on individual components or functions.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Example: Using </a:t>
            </a:r>
            <a:r>
              <a:rPr lang="en-US" dirty="0" err="1"/>
              <a:t>pytest</a:t>
            </a:r>
            <a:r>
              <a:rPr lang="en-US" dirty="0"/>
              <a:t> or JUnit.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Integration Tests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Test interactions between components.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Example: Testing API endpoints.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End-to-End (E2E) Tests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Simulate real user workflows.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Tools: Selenium, Cypress.</a:t>
            </a:r>
          </a:p>
          <a:p>
            <a:pPr algn="ctr"/>
            <a:r>
              <a:rPr lang="en-US" sz="2000" b="1" dirty="0">
                <a:solidFill>
                  <a:schemeClr val="bg2"/>
                </a:solidFill>
              </a:rPr>
              <a:t>Automating Tests in Jenkins Pipelines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Add testing stages to the </a:t>
            </a:r>
            <a:r>
              <a:rPr lang="en-US" dirty="0" err="1"/>
              <a:t>Jenkinsfile</a:t>
            </a:r>
            <a:r>
              <a:rPr lang="en-US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F71F20-AE51-A141-92A2-8E1564DB56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61" y="3713271"/>
            <a:ext cx="7772400" cy="198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203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62CE053-3D29-A57F-76E5-92F384A71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1A2E343E-D649-4027-218D-3354EC970B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76B1A9AE-FD13-5FC5-4E88-C92720C641DA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82FF529B-0FB0-815A-6493-FE8544BED206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6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77C54D46-E9B8-4F18-F74E-6B93CCB3F833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Deployment to Production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7444FE-95A3-9D61-D6DF-5187C6AC53C5}"/>
              </a:ext>
            </a:extLst>
          </p:cNvPr>
          <p:cNvSpPr txBox="1"/>
          <p:nvPr/>
        </p:nvSpPr>
        <p:spPr>
          <a:xfrm>
            <a:off x="411061" y="853473"/>
            <a:ext cx="11065322" cy="3099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Strategies for Safe Deployment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Blue-Green Deployments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Deploy new code to a separate environment (blue) while old code (green) remains live.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Switch traffic to blue after validation.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Canary Releases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Gradually roll out changes to a subset of users.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Rolling Updates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Incrementally update instances to the new version.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Example Deployment in Jenkins: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0C1C3B-5D8B-355D-3B5F-5DD0B7D57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61" y="3952848"/>
            <a:ext cx="70993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298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7D08174-EFAF-902A-5CDA-E272287B1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5393F9C4-C3B8-C841-B448-D9F31A7D37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9559DFC4-F44A-6475-60D9-7F97C301A93C}"/>
              </a:ext>
            </a:extLst>
          </p:cNvPr>
          <p:cNvCxnSpPr>
            <a:cxnSpLocks/>
          </p:cNvCxnSpPr>
          <p:nvPr/>
        </p:nvCxnSpPr>
        <p:spPr>
          <a:xfrm>
            <a:off x="411061" y="746620"/>
            <a:ext cx="4701666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C0758514-43A1-8996-0D89-18D4409F9518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7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CE350602-1E56-2197-C6C8-CFC592BEB215}"/>
              </a:ext>
            </a:extLst>
          </p:cNvPr>
          <p:cNvSpPr txBox="1"/>
          <p:nvPr/>
        </p:nvSpPr>
        <p:spPr>
          <a:xfrm>
            <a:off x="838900" y="270436"/>
            <a:ext cx="435735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Integrating Jenkins with other tools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17A20A-6B27-413C-E656-7E128B3235B8}"/>
              </a:ext>
            </a:extLst>
          </p:cNvPr>
          <p:cNvSpPr txBox="1"/>
          <p:nvPr/>
        </p:nvSpPr>
        <p:spPr>
          <a:xfrm>
            <a:off x="411060" y="853513"/>
            <a:ext cx="11153669" cy="388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Popular Integrations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Infrastructure as Code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 Terraform or Ansible to provision and configure infrastructure.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Monitoring and Alerting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Integrate Jenkins with Prometheus and Grafana to track pipeline performance.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Container Orchestration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Deploy Docker containers using Jenkins pipelines.</a:t>
            </a:r>
            <a:endParaRPr lang="en-US" b="1" dirty="0"/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Benefits of Integrations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Streamline workflows.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Gain better insights into pipeline performance.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Improve deployment automation.</a:t>
            </a:r>
          </a:p>
        </p:txBody>
      </p:sp>
    </p:spTree>
    <p:extLst>
      <p:ext uri="{BB962C8B-B14F-4D97-AF65-F5344CB8AC3E}">
        <p14:creationId xmlns:p14="http://schemas.microsoft.com/office/powerpoint/2010/main" val="2865307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DBD1B62-97C4-5056-8CEC-7168660D4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05932E8D-07AF-D7CE-98F8-FF39E28126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C9DDA777-EC5D-DE1B-1D73-A99CB5BB5E1F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27F3F592-EBA6-155C-7752-3911FBB5B068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8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5990345E-E0BB-B1E9-A26C-7A86A3A32B16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Hands-On with Jenkins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7D6119-B802-B461-FA19-95FEF082DF65}"/>
              </a:ext>
            </a:extLst>
          </p:cNvPr>
          <p:cNvSpPr txBox="1"/>
          <p:nvPr/>
        </p:nvSpPr>
        <p:spPr>
          <a:xfrm>
            <a:off x="411060" y="1010965"/>
            <a:ext cx="11038817" cy="2637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Create a Multi-Stage Pipeline in Jenkins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Add stages for building, testing, and deploying an application.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Use a </a:t>
            </a:r>
            <a:r>
              <a:rPr lang="en-US" dirty="0" err="1"/>
              <a:t>Jenkinsfile</a:t>
            </a:r>
            <a:r>
              <a:rPr lang="en-US" dirty="0"/>
              <a:t> to define the pipeline.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Enhance Testing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Add unit and integration tests to the pipeline.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Use a testing framework like </a:t>
            </a:r>
            <a:r>
              <a:rPr lang="en-US" dirty="0" err="1"/>
              <a:t>pytest</a:t>
            </a:r>
            <a:r>
              <a:rPr lang="en-US" dirty="0"/>
              <a:t> or JUnit.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Deploy Safely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Implement a blue-green deployment using a script or a deployment tool.</a:t>
            </a:r>
          </a:p>
        </p:txBody>
      </p:sp>
    </p:spTree>
    <p:extLst>
      <p:ext uri="{BB962C8B-B14F-4D97-AF65-F5344CB8AC3E}">
        <p14:creationId xmlns:p14="http://schemas.microsoft.com/office/powerpoint/2010/main" val="3112718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11B9B52-FD48-FAC4-F12B-199BC12A6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1ED2E64C-D432-912E-DC38-D1691090E5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45FFD3D4-64AF-BDC6-3C1E-B9CA1E54AC5B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7FCD8782-863C-4B5B-3754-D156B8D3EED4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9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D83B1512-3C51-490C-F7D2-43E21F84BE49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Homework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256169-7F4E-1E16-197C-6D1918506032}"/>
              </a:ext>
            </a:extLst>
          </p:cNvPr>
          <p:cNvSpPr txBox="1"/>
          <p:nvPr/>
        </p:nvSpPr>
        <p:spPr>
          <a:xfrm>
            <a:off x="411061" y="930797"/>
            <a:ext cx="11136000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Advanced Pipeline Creation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Build a multi-stage pipeline in Jenkins.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Include build, test, and deployment stages.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Test Integration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Automate tests for a sample application in Jenkins.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Deployment Practice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Simulate a rolling update or blue-green deployment in a test environment.</a:t>
            </a:r>
          </a:p>
        </p:txBody>
      </p:sp>
    </p:spTree>
    <p:extLst>
      <p:ext uri="{BB962C8B-B14F-4D97-AF65-F5344CB8AC3E}">
        <p14:creationId xmlns:p14="http://schemas.microsoft.com/office/powerpoint/2010/main" val="2567674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738</Words>
  <Application>Microsoft Macintosh PowerPoint</Application>
  <PresentationFormat>Widescreen</PresentationFormat>
  <Paragraphs>120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Montserrat Black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Varsenik</dc:creator>
  <cp:lastModifiedBy>Grigoryan, Grigor (external - Project)</cp:lastModifiedBy>
  <cp:revision>1</cp:revision>
  <dcterms:created xsi:type="dcterms:W3CDTF">2024-08-30T07:18:33Z</dcterms:created>
  <dcterms:modified xsi:type="dcterms:W3CDTF">2025-01-25T07:13:31Z</dcterms:modified>
</cp:coreProperties>
</file>