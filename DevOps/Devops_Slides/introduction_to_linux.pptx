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0" r:id="rId13"/>
    <p:sldId id="261" r:id="rId14"/>
  </p:sldIdLst>
  <p:sldSz cx="12192000" cy="6858000"/>
  <p:notesSz cx="6858000" cy="9144000"/>
  <p:embeddedFontLst>
    <p:embeddedFont>
      <p:font typeface="Montserrat" pitchFamily="2" charset="77"/>
      <p:regular r:id="rId16"/>
      <p:bold r:id="rId17"/>
      <p:italic r:id="rId18"/>
      <p:boldItalic r:id="rId19"/>
    </p:embeddedFont>
    <p:embeddedFont>
      <p:font typeface="Montserrat Black" panose="020F0502020204030204" pitchFamily="34" charset="0"/>
      <p:bold r:id="rId20"/>
      <p:italic r:id="rId21"/>
      <p:boldItalic r:id="rId22"/>
    </p:embeddedFont>
    <p:embeddedFont>
      <p:font typeface="Montserrat SemiBold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NL8pbwwZrNCbTtm7lRLch0r2u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4"/>
    <p:restoredTop sz="94676"/>
  </p:normalViewPr>
  <p:slideViewPr>
    <p:cSldViewPr snapToGrid="0">
      <p:cViewPr>
        <p:scale>
          <a:sx n="281" d="100"/>
          <a:sy n="281" d="100"/>
        </p:scale>
        <p:origin x="165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5E227DD-5FF7-6AB3-1BFE-FD85E0E9B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DF312C6F-D4A3-790E-4715-78BA9001F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A915C408-C5E9-10F8-02E5-FE72101C7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1569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F4E92DE-7AED-46F3-D4A6-8790DFEB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547CCB3-844B-668E-BC2C-7AAF041375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8FEEEB29-583A-EE16-C6DF-C4E64A029E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3916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5900D2-B994-9DDC-27D6-A73191205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6F2AFE59-4D49-2664-35A5-D13335E24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CB2DE89B-6B49-05CA-3961-A39072DA1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515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54134B9-0B30-64D8-F7FF-D2FC4A5C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740721ED-A6F2-AF04-F109-292F4C77A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BFAA0BB-FF92-2713-34DC-13B100F2A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0755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8789FC3-2582-B6C0-98CA-15880876D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AEB46D60-E4B0-B612-9542-9CB7100E5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747B5A0-F314-F34B-BB19-31AADD214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3607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4CF9176-288B-6860-63BA-4E0B0A79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3DD9DAF4-936C-093D-9B9D-D6528FAA1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6362475B-7B78-63F8-BD06-F4CFDC9B0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200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DF8E034-BCEC-F488-50B7-BC5BBDD4F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DBAF1958-67CC-AB5C-DE5F-2CC8CE09D3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88995699-7BB3-CCD7-703D-DD2BDE2AD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4912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07240" y="1594692"/>
            <a:ext cx="11377515" cy="437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INTRODUCTION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cs typeface="Montserrat Black"/>
                <a:sym typeface="Montserrat Black"/>
              </a:rPr>
              <a:t>TO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cs typeface="Montserrat Black"/>
                <a:sym typeface="Montserrat Black"/>
              </a:rPr>
              <a:t>LINUX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Linux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4E16A6-8DC8-4F23-7CD7-372AFA657256}"/>
              </a:ext>
            </a:extLst>
          </p:cNvPr>
          <p:cNvSpPr txBox="1"/>
          <p:nvPr/>
        </p:nvSpPr>
        <p:spPr>
          <a:xfrm>
            <a:off x="505558" y="914400"/>
            <a:ext cx="1049374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AGENDA</a:t>
            </a:r>
            <a:endParaRPr lang="en-US" sz="2800" dirty="0">
              <a:solidFill>
                <a:schemeClr val="bg2"/>
              </a:solidFill>
            </a:endParaRP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000" dirty="0"/>
              <a:t> Basics of Linux and Unix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000" dirty="0"/>
              <a:t> Linux File System Hierarchy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000" dirty="0"/>
              <a:t> Hands-on Practice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000" dirty="0"/>
              <a:t> Permissions and Ownership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000" dirty="0"/>
              <a:t> Q&amp;A and Homework</a:t>
            </a:r>
          </a:p>
          <a:p>
            <a:pPr algn="ctr"/>
            <a:endParaRPr lang="en-US" dirty="0"/>
          </a:p>
        </p:txBody>
      </p:sp>
      <p:pic>
        <p:nvPicPr>
          <p:cNvPr id="4" name="Picture 3" descr="A cartoon of a duck&#10;&#10;Description automatically generated">
            <a:extLst>
              <a:ext uri="{FF2B5EF4-FFF2-40B4-BE49-F238E27FC236}">
                <a16:creationId xmlns:a16="http://schemas.microsoft.com/office/drawing/2014/main" id="{78FA9FD3-0D8F-F053-3CDA-C291A025E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085" y="1816131"/>
            <a:ext cx="2695393" cy="32671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Linux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D60484-560F-CF13-527D-5E80AABDFA75}"/>
              </a:ext>
            </a:extLst>
          </p:cNvPr>
          <p:cNvSpPr txBox="1"/>
          <p:nvPr/>
        </p:nvSpPr>
        <p:spPr>
          <a:xfrm>
            <a:off x="472661" y="839304"/>
            <a:ext cx="11003722" cy="59400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What Are Linux and Unix?</a:t>
            </a:r>
          </a:p>
          <a:p>
            <a:pPr algn="ctr"/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History and Evolution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Unix: Developed in the 1970s by AT&amp;T Bell Labs, Unix set the standard for file and process management. It is the basis for modern OS architectures.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Linux: A free and open-source OS kernel created by Linus Torvalds in 1991, combined with GNU utilities to form a complete operating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Key Features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Multi-user and multitasking capabilities.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Portability: Runs on multiple hardware platforms.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Stability, security, and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Open-source: Thousands of contributors worldwide ensure constant improvement.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Popular Linux Distributions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pPr marL="742950" lvl="4" indent="-285750" fontAlgn="ctr">
              <a:buSzPct val="350000"/>
              <a:buBlip>
                <a:blip r:embed="rId4"/>
              </a:buBlip>
            </a:pPr>
            <a:r>
              <a:rPr lang="en-US" b="1" dirty="0"/>
              <a:t>	Ubuntu</a:t>
            </a:r>
            <a:r>
              <a:rPr lang="en-US" dirty="0"/>
              <a:t>: Beginner-friendly, often used for desktops and servers.</a:t>
            </a:r>
            <a:br>
              <a:rPr lang="en-US" dirty="0"/>
            </a:br>
            <a:endParaRPr lang="en-US" dirty="0"/>
          </a:p>
          <a:p>
            <a:pPr marL="742950" lvl="4" indent="-285750" fontAlgn="ctr">
              <a:buSzPct val="350000"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en-US" b="1" dirty="0"/>
              <a:t>	CentOS/RHEL</a:t>
            </a:r>
            <a:r>
              <a:rPr lang="en-US" dirty="0"/>
              <a:t>: Preferred for enterprise environments.</a:t>
            </a:r>
            <a:br>
              <a:rPr lang="en-US" dirty="0"/>
            </a:br>
            <a:endParaRPr lang="en-US" dirty="0"/>
          </a:p>
          <a:p>
            <a:pPr marL="742950" lvl="4" indent="-285750" fontAlgn="ctr">
              <a:buSzPct val="300000"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en-US" b="1" dirty="0"/>
              <a:t>	Debian</a:t>
            </a:r>
            <a:r>
              <a:rPr lang="en-US" dirty="0"/>
              <a:t>: Base for many distributions, valued for stability.</a:t>
            </a:r>
            <a:br>
              <a:rPr lang="en-US" dirty="0"/>
            </a:br>
            <a:endParaRPr lang="en-US" dirty="0"/>
          </a:p>
          <a:p>
            <a:pPr marL="742950" lvl="4" indent="-285750" fontAlgn="ctr">
              <a:buSzPct val="300000"/>
              <a:buBlip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</a:buBlip>
            </a:pPr>
            <a:r>
              <a:rPr lang="en-US" b="1" dirty="0"/>
              <a:t>	Fedora</a:t>
            </a:r>
            <a:r>
              <a:rPr lang="en-US" dirty="0"/>
              <a:t>: Focused on innovation and development tools.</a:t>
            </a:r>
            <a:br>
              <a:rPr lang="en-US" dirty="0"/>
            </a:br>
            <a:endParaRPr lang="en-US" dirty="0"/>
          </a:p>
          <a:p>
            <a:pPr marL="742950" lvl="4" indent="-285750" fontAlgn="ctr">
              <a:buSzPct val="300000"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</a:pPr>
            <a:r>
              <a:rPr lang="en-US" b="1" dirty="0"/>
              <a:t>	Arch Linux</a:t>
            </a:r>
            <a:r>
              <a:rPr lang="en-US" dirty="0"/>
              <a:t>: Minimalist, allows customization but requires expertise.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Discussion</a:t>
            </a:r>
            <a:r>
              <a:rPr lang="en-US" dirty="0"/>
              <a:t>: Why do you think open-source systems are significant for technology innovation?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BC6210A-F6E7-3CF2-FFF3-3D7DA334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1F4DC86-C0A8-1F88-4416-C9F1C7AD14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283D868C-A3E6-F45E-9D7B-84012330C87D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3479ADC4-43B3-C838-12B6-79524B17A7C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DF92E07-D02B-F559-6648-7A191C11D45B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Linux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C706C-733E-86E8-DB86-F42F02344E45}"/>
              </a:ext>
            </a:extLst>
          </p:cNvPr>
          <p:cNvSpPr txBox="1"/>
          <p:nvPr/>
        </p:nvSpPr>
        <p:spPr>
          <a:xfrm>
            <a:off x="411061" y="923235"/>
            <a:ext cx="1101231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Why Learn Linux?</a:t>
            </a:r>
          </a:p>
          <a:p>
            <a:pPr algn="ctr"/>
            <a:endParaRPr lang="en-US" sz="2400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Importance in DevOps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Linux powers most server infrastructures, cloud platforms, and DevOps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Tools like Docker, Kubernetes, and CI/CD pipelines rely heavily on Linux.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Statistics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Over 90% of public clouds run on Linux (AWS, Azure, Google Cloud).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powers Android devices, IoT, supercomputers, and the majority of web servers.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Real-World Usage Examples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Facebook, Google, Amazon rely on Linux servers.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NASA uses Linux for research and simulations.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Linux is standard in high-performance computing.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Quote</a:t>
            </a:r>
            <a:r>
              <a:rPr lang="en-US" dirty="0"/>
              <a:t>: "</a:t>
            </a:r>
            <a:r>
              <a:rPr lang="en-US" i="1" dirty="0"/>
              <a:t>Linux is the foundation of the modern digital ecosystem</a:t>
            </a:r>
            <a:r>
              <a:rPr lang="en-US" dirty="0"/>
              <a:t>.”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Engagement</a:t>
            </a:r>
            <a:r>
              <a:rPr lang="en-US" dirty="0"/>
              <a:t>: Ask learners where they’ve seen or used Linux in real life.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5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7B2426-1C37-5AC5-E2DE-AE39A68E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0D82C5A3-DA39-0942-1EC0-A1ECA6B0D5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84733B12-154C-42D1-B035-467B6B7DEFB7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7D58D81D-03D6-3C0F-263E-2CE3171AD15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8935476-E99B-6E4F-1843-0E69FEDF8B6E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Linux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3AE3C4-A7AD-B217-0DEF-EFD844E0B9E6}"/>
              </a:ext>
            </a:extLst>
          </p:cNvPr>
          <p:cNvSpPr txBox="1"/>
          <p:nvPr/>
        </p:nvSpPr>
        <p:spPr>
          <a:xfrm>
            <a:off x="411061" y="923235"/>
            <a:ext cx="1101231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Linux File System Overview</a:t>
            </a:r>
          </a:p>
          <a:p>
            <a:pPr algn="ctr"/>
            <a:endParaRPr lang="en-US" sz="2400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What is the File System?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structure for managing data storage and retrieval on a disk.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Hierarchical organization with directories containing files or subdirectories.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Key Characteristics of Linux File Systems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Case-sensitive naming.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Unified tree structure: Everything starts at /.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Logical and physical separation: Logical directories don’t directly map to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Common File Systems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Ext4</a:t>
            </a:r>
            <a:r>
              <a:rPr lang="en-US" dirty="0"/>
              <a:t>: Default for many Linux distributions.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XFS</a:t>
            </a:r>
            <a:r>
              <a:rPr lang="en-US" dirty="0"/>
              <a:t>: High-performance journaling.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Btrfs</a:t>
            </a:r>
            <a:r>
              <a:rPr lang="en-US" dirty="0"/>
              <a:t>: Advanced features like snapshots.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Structure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Root Directory (/)</a:t>
            </a:r>
            <a:r>
              <a:rPr lang="en-US" dirty="0"/>
              <a:t>: The origin of all directories.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Important Subdirectories</a:t>
            </a:r>
            <a:r>
              <a:rPr lang="en-US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/bin: Core executable programs like ls, cat.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: Configuration files such as passwd and system settings.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/home: Personal directories for users.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/var: Dynamic files like logs and cache.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/</a:t>
            </a:r>
            <a:r>
              <a:rPr lang="en-US" dirty="0" err="1"/>
              <a:t>tmp</a:t>
            </a:r>
            <a:r>
              <a:rPr lang="en-US" dirty="0"/>
              <a:t>: Temporary file storage, cleared after reboot.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: User applications, documentation, and libraries.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Interactive Exercise</a:t>
            </a:r>
            <a:r>
              <a:rPr lang="en-US" dirty="0"/>
              <a:t>: Use the tree command to illustrate this hierarchy visually.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37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B419F7F-B9F0-A6F5-6DDB-5DAE3D3DB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632DC8D3-41F4-3CE5-1F75-C52E40DCC9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8AAD3C59-9944-F505-F98C-608E95E53E2F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E9981C9-E227-36A5-93F7-C58850AFCEA3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DE83147-AD9E-B238-3121-9666483389B0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Linux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7CDFB-47BF-B9F8-DF7B-9B474F29A313}"/>
              </a:ext>
            </a:extLst>
          </p:cNvPr>
          <p:cNvSpPr txBox="1"/>
          <p:nvPr/>
        </p:nvSpPr>
        <p:spPr>
          <a:xfrm>
            <a:off x="516835" y="887896"/>
            <a:ext cx="992587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/>
                </a:solidFill>
              </a:rPr>
              <a:t>Hands-On: Navigating the File System</a:t>
            </a:r>
          </a:p>
          <a:p>
            <a:pPr algn="ctr"/>
            <a:endParaRPr lang="en-US" sz="2800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Essential Commands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 err="1">
                <a:solidFill>
                  <a:schemeClr val="accent6"/>
                </a:solidFill>
              </a:rPr>
              <a:t>pwd</a:t>
            </a:r>
            <a:r>
              <a:rPr lang="en-US" dirty="0"/>
              <a:t>: Print the current working directory.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accent6"/>
                </a:solidFill>
              </a:rPr>
              <a:t>ls</a:t>
            </a:r>
            <a:r>
              <a:rPr lang="en-US" dirty="0"/>
              <a:t>: List files in the current directory.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Use options like </a:t>
            </a:r>
            <a:r>
              <a:rPr lang="en-US" b="1" dirty="0">
                <a:solidFill>
                  <a:schemeClr val="accent6"/>
                </a:solidFill>
              </a:rPr>
              <a:t>ls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-a</a:t>
            </a:r>
            <a:r>
              <a:rPr lang="en-US" dirty="0"/>
              <a:t> (all files) and </a:t>
            </a:r>
            <a:r>
              <a:rPr lang="en-US" b="1" dirty="0">
                <a:solidFill>
                  <a:schemeClr val="accent6"/>
                </a:solidFill>
              </a:rPr>
              <a:t>ls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-l</a:t>
            </a:r>
            <a:r>
              <a:rPr lang="en-US" dirty="0"/>
              <a:t> (detailed view).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accent6"/>
                </a:solidFill>
              </a:rPr>
              <a:t>cd</a:t>
            </a:r>
            <a:r>
              <a:rPr lang="en-US" dirty="0"/>
              <a:t>: Change the directory.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Navigate with absolute (/</a:t>
            </a:r>
            <a:r>
              <a:rPr lang="en-US" dirty="0" err="1"/>
              <a:t>etc</a:t>
            </a:r>
            <a:r>
              <a:rPr lang="en-US" dirty="0"/>
              <a:t>) and relative (../) paths.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Activity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Open a terminal and explore the current directory using </a:t>
            </a:r>
            <a:r>
              <a:rPr lang="en-US" dirty="0" err="1"/>
              <a:t>pwd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ls to list the contents of </a:t>
            </a:r>
            <a:r>
              <a:rPr lang="en-US" i="1" dirty="0"/>
              <a:t>/home</a:t>
            </a:r>
            <a:r>
              <a:rPr lang="en-US" dirty="0"/>
              <a:t>, </a:t>
            </a:r>
            <a:r>
              <a:rPr lang="en-US" i="1" dirty="0"/>
              <a:t>/</a:t>
            </a:r>
            <a:r>
              <a:rPr lang="en-US" i="1" dirty="0" err="1"/>
              <a:t>etc</a:t>
            </a:r>
            <a:r>
              <a:rPr lang="en-US" dirty="0"/>
              <a:t>, and </a:t>
            </a:r>
            <a:r>
              <a:rPr lang="en-US" i="1" dirty="0"/>
              <a:t>/</a:t>
            </a:r>
            <a:r>
              <a:rPr lang="en-US" i="1" dirty="0" err="1"/>
              <a:t>usr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 to </a:t>
            </a:r>
            <a:r>
              <a:rPr lang="en-US" i="1" dirty="0"/>
              <a:t>/var/log </a:t>
            </a:r>
            <a:r>
              <a:rPr lang="en-US" dirty="0"/>
              <a:t>and view its contents.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i="1" dirty="0">
                <a:solidFill>
                  <a:schemeClr val="accent6"/>
                </a:solidFill>
              </a:rPr>
              <a:t>ls</a:t>
            </a:r>
            <a:r>
              <a:rPr lang="en-US" i="1" dirty="0"/>
              <a:t> </a:t>
            </a:r>
            <a:r>
              <a:rPr lang="en-US" i="1" dirty="0">
                <a:solidFill>
                  <a:srgbClr val="C00000"/>
                </a:solidFill>
              </a:rPr>
              <a:t>-</a:t>
            </a:r>
            <a:r>
              <a:rPr lang="en-US" i="1" dirty="0" err="1">
                <a:solidFill>
                  <a:srgbClr val="C00000"/>
                </a:solidFill>
              </a:rPr>
              <a:t>lh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dirty="0"/>
              <a:t>to view file sizes in human-readable format.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Pro Tip</a:t>
            </a:r>
            <a:r>
              <a:rPr lang="en-US" dirty="0"/>
              <a:t>: Combine commands like </a:t>
            </a:r>
            <a:r>
              <a:rPr lang="en-US" b="1" i="1" dirty="0">
                <a:solidFill>
                  <a:schemeClr val="accent6"/>
                </a:solidFill>
              </a:rPr>
              <a:t>cd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..</a:t>
            </a:r>
            <a:r>
              <a:rPr lang="en-US" dirty="0"/>
              <a:t> &amp;&amp; </a:t>
            </a:r>
            <a:r>
              <a:rPr lang="en-US" b="1" i="1" dirty="0">
                <a:solidFill>
                  <a:schemeClr val="accent6"/>
                </a:solidFill>
              </a:rPr>
              <a:t>ls</a:t>
            </a:r>
            <a:r>
              <a:rPr lang="en-US" dirty="0"/>
              <a:t> to explore hierarchically.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17A8936-9A0C-730A-BD5C-29E9CFEC2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4568601"/>
            <a:ext cx="11388035" cy="138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881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74A2333-17E4-31F1-C9E5-C378813A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1B5AEC3-F6DD-ECB5-FA04-A51C21C8DA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8CF49ABA-59A0-A363-B48F-F3885C10E71A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06FB363-2147-2655-E457-AC46AC38F6DB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44FA534-440F-194B-1EB8-ED9A973F7EBF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Linux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C7960-EA33-6E4F-1DB3-E7539906A1B7}"/>
              </a:ext>
            </a:extLst>
          </p:cNvPr>
          <p:cNvSpPr txBox="1"/>
          <p:nvPr/>
        </p:nvSpPr>
        <p:spPr>
          <a:xfrm>
            <a:off x="411061" y="821635"/>
            <a:ext cx="1099022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Understanding Permissions</a:t>
            </a:r>
          </a:p>
          <a:p>
            <a:pPr algn="ctr"/>
            <a:endParaRPr lang="en-US" sz="2400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What Are File Permissions?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Control access levels to files and directories.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Represented as </a:t>
            </a:r>
            <a:r>
              <a:rPr lang="en-US" i="1" dirty="0" err="1"/>
              <a:t>rwx</a:t>
            </a:r>
            <a:r>
              <a:rPr lang="en-US" dirty="0"/>
              <a:t> (read, write, execute) for </a:t>
            </a:r>
            <a:r>
              <a:rPr lang="en-US" b="1" dirty="0"/>
              <a:t>owner</a:t>
            </a:r>
            <a:r>
              <a:rPr lang="en-US" dirty="0"/>
              <a:t>, </a:t>
            </a:r>
            <a:r>
              <a:rPr lang="en-US" b="1" dirty="0"/>
              <a:t>group</a:t>
            </a:r>
            <a:r>
              <a:rPr lang="en-US" dirty="0"/>
              <a:t>, and </a:t>
            </a:r>
            <a:r>
              <a:rPr lang="en-US" b="1" dirty="0"/>
              <a:t>others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User Types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Owner</a:t>
            </a:r>
            <a:r>
              <a:rPr lang="en-US" dirty="0"/>
              <a:t>: The user who created the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Group</a:t>
            </a:r>
            <a:r>
              <a:rPr lang="en-US" dirty="0"/>
              <a:t>: Users in the same group as the owner.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Others</a:t>
            </a:r>
            <a:r>
              <a:rPr lang="en-US" dirty="0"/>
              <a:t>: Everyone else.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Permission Representation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Numerical mode: </a:t>
            </a:r>
            <a:r>
              <a:rPr lang="en-US" dirty="0" err="1">
                <a:solidFill>
                  <a:schemeClr val="accent6"/>
                </a:solidFill>
              </a:rPr>
              <a:t>chmod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755</a:t>
            </a:r>
            <a:r>
              <a:rPr lang="en-US" dirty="0"/>
              <a:t> file translates to: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Owner: </a:t>
            </a:r>
            <a:r>
              <a:rPr lang="en-US" i="1" dirty="0" err="1"/>
              <a:t>rwx</a:t>
            </a:r>
            <a:r>
              <a:rPr lang="en-US" dirty="0"/>
              <a:t> (7)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Group: </a:t>
            </a:r>
            <a:r>
              <a:rPr lang="en-US" i="1" dirty="0"/>
              <a:t>r-x</a:t>
            </a:r>
            <a:r>
              <a:rPr lang="en-US" dirty="0"/>
              <a:t> (5)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Others: </a:t>
            </a:r>
            <a:r>
              <a:rPr lang="en-US" i="1" dirty="0"/>
              <a:t>r-x</a:t>
            </a:r>
            <a:r>
              <a:rPr lang="en-US" dirty="0"/>
              <a:t> (5)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Commands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6"/>
                </a:solidFill>
              </a:rPr>
              <a:t>chmod</a:t>
            </a:r>
            <a:r>
              <a:rPr lang="en-US" dirty="0"/>
              <a:t>: Modify file permissions.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6"/>
                </a:solidFill>
              </a:rPr>
              <a:t>chown</a:t>
            </a:r>
            <a:r>
              <a:rPr lang="en-US" dirty="0"/>
              <a:t>: Change file ownership.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/>
                </a:solidFill>
              </a:rPr>
              <a:t>ls </a:t>
            </a:r>
            <a:r>
              <a:rPr lang="en-US" b="1" dirty="0">
                <a:solidFill>
                  <a:srgbClr val="C00000"/>
                </a:solidFill>
              </a:rPr>
              <a:t>-l</a:t>
            </a:r>
            <a:r>
              <a:rPr lang="en-US" dirty="0"/>
              <a:t>: Display detailed file information, including permissions.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Detailed Example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Owner: </a:t>
            </a:r>
            <a:r>
              <a:rPr lang="en-US" b="1" dirty="0" err="1"/>
              <a:t>alice</a:t>
            </a:r>
            <a:r>
              <a:rPr lang="en-US" dirty="0"/>
              <a:t> has </a:t>
            </a:r>
            <a:r>
              <a:rPr lang="en-US" i="1" dirty="0"/>
              <a:t>read</a:t>
            </a:r>
            <a:r>
              <a:rPr lang="en-US" dirty="0"/>
              <a:t> and </a:t>
            </a:r>
            <a:r>
              <a:rPr lang="en-US" i="1" dirty="0"/>
              <a:t>write</a:t>
            </a:r>
            <a:r>
              <a:rPr lang="en-US" dirty="0"/>
              <a:t> access.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Group: </a:t>
            </a:r>
            <a:r>
              <a:rPr lang="en-US" b="1" dirty="0"/>
              <a:t>developers</a:t>
            </a:r>
            <a:r>
              <a:rPr lang="en-US" dirty="0"/>
              <a:t> have </a:t>
            </a:r>
            <a:r>
              <a:rPr lang="en-US" i="1" dirty="0"/>
              <a:t>read</a:t>
            </a:r>
            <a:r>
              <a:rPr lang="en-US" dirty="0"/>
              <a:t> access.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Others: Can only </a:t>
            </a:r>
            <a:r>
              <a:rPr lang="en-US" i="1" dirty="0"/>
              <a:t>read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C5682-75EC-2AAA-23FB-0CB9A52DD2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98" t="27866" r="9884" b="27001"/>
          <a:stretch/>
        </p:blipFill>
        <p:spPr>
          <a:xfrm>
            <a:off x="6427304" y="3083339"/>
            <a:ext cx="4271618" cy="84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69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3F4F9CF-EC3C-9CF2-39DB-73867AD3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7FF5108B-2CFA-BA4D-96C9-343E02AD97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81E86BB1-BA6C-6C14-8999-CE61432D6192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19EC2B77-37C1-4CEA-26DC-1C8CDCD09D1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AC2C295-6827-61C7-2DEF-F790C6F8DA4B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Linux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CC0C9-97A9-1677-30B4-ED11E1131E90}"/>
              </a:ext>
            </a:extLst>
          </p:cNvPr>
          <p:cNvSpPr txBox="1"/>
          <p:nvPr/>
        </p:nvSpPr>
        <p:spPr>
          <a:xfrm>
            <a:off x="411061" y="951588"/>
            <a:ext cx="1061033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Hands-On: Modifying Permissions</a:t>
            </a:r>
          </a:p>
          <a:p>
            <a:pPr algn="ctr"/>
            <a:endParaRPr lang="en-US" sz="2400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Activity 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a file: </a:t>
            </a:r>
            <a:r>
              <a:rPr lang="en-US" dirty="0">
                <a:solidFill>
                  <a:schemeClr val="accent6"/>
                </a:solidFill>
              </a:rPr>
              <a:t>touch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practice.txt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Check initial permissions using </a:t>
            </a:r>
            <a:r>
              <a:rPr lang="en-US" dirty="0">
                <a:solidFill>
                  <a:schemeClr val="accent6"/>
                </a:solidFill>
              </a:rPr>
              <a:t>ls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-l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Restrict write access for others: </a:t>
            </a:r>
            <a:r>
              <a:rPr lang="en-US" dirty="0" err="1">
                <a:solidFill>
                  <a:schemeClr val="accent6"/>
                </a:solidFill>
              </a:rPr>
              <a:t>chmod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o-w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practice.txt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Verify changes with </a:t>
            </a:r>
            <a:r>
              <a:rPr lang="en-US" dirty="0">
                <a:solidFill>
                  <a:schemeClr val="accent6"/>
                </a:solidFill>
              </a:rPr>
              <a:t>ls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-l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a group (if </a:t>
            </a:r>
            <a:r>
              <a:rPr lang="en-US" dirty="0" err="1"/>
              <a:t>sudo</a:t>
            </a:r>
            <a:r>
              <a:rPr lang="en-US" dirty="0"/>
              <a:t> available): </a:t>
            </a:r>
            <a:r>
              <a:rPr lang="en-US" dirty="0" err="1">
                <a:solidFill>
                  <a:srgbClr val="C00000"/>
                </a:solidFill>
              </a:rPr>
              <a:t>sudo</a:t>
            </a:r>
            <a:r>
              <a:rPr lang="en-US" dirty="0"/>
              <a:t> </a:t>
            </a:r>
            <a:r>
              <a:rPr lang="en-US" dirty="0" err="1">
                <a:solidFill>
                  <a:schemeClr val="accent6"/>
                </a:solidFill>
              </a:rPr>
              <a:t>groupadd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learners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 group ownership: </a:t>
            </a:r>
            <a:r>
              <a:rPr lang="en-US" dirty="0" err="1">
                <a:solidFill>
                  <a:srgbClr val="C00000"/>
                </a:solidFill>
              </a:rPr>
              <a:t>sudo</a:t>
            </a:r>
            <a:r>
              <a:rPr lang="en-US" dirty="0"/>
              <a:t> </a:t>
            </a:r>
            <a:r>
              <a:rPr lang="en-US" dirty="0" err="1">
                <a:solidFill>
                  <a:schemeClr val="accent6"/>
                </a:solidFill>
              </a:rPr>
              <a:t>chown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:learners </a:t>
            </a:r>
            <a:r>
              <a:rPr lang="en-US" dirty="0" err="1">
                <a:solidFill>
                  <a:schemeClr val="accent1"/>
                </a:solidFill>
              </a:rPr>
              <a:t>practice.txt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write access to the group: </a:t>
            </a:r>
            <a:r>
              <a:rPr lang="en-US" dirty="0" err="1">
                <a:solidFill>
                  <a:schemeClr val="accent6"/>
                </a:solidFill>
              </a:rPr>
              <a:t>chmod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g+w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practice.txt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Discussion Questions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would you secure sensitive configuration files?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What permissions would you set for shared project files?</a:t>
            </a:r>
          </a:p>
        </p:txBody>
      </p:sp>
    </p:spTree>
    <p:extLst>
      <p:ext uri="{BB962C8B-B14F-4D97-AF65-F5344CB8AC3E}">
        <p14:creationId xmlns:p14="http://schemas.microsoft.com/office/powerpoint/2010/main" val="349762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7425F1C-C613-04DE-FAEC-10B019F9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809534AB-E562-2AE5-21F7-9A74532E6A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A57A9030-7831-3362-476E-63093DDCC650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6FFDE890-EBF5-3EAD-5D9B-B5A185FCCFD9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8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3CFAE88-738B-A773-368B-88F0B5EE32BC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Linux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206F0-D125-F14B-870E-FEC2EFE485B9}"/>
              </a:ext>
            </a:extLst>
          </p:cNvPr>
          <p:cNvSpPr txBox="1"/>
          <p:nvPr/>
        </p:nvSpPr>
        <p:spPr>
          <a:xfrm>
            <a:off x="411060" y="1036216"/>
            <a:ext cx="1067659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2"/>
                </a:solidFill>
              </a:rPr>
              <a:t>Recap and Q&amp;A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Key Takeaways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Linux and Unix are foundational technologies.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Linux file system is hierarchical and logical, designed for efficiency.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Permissions and ownership enhance security and collaboration.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Interactive Q&amp;A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Invite learners to share their observations.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Clarify doubts with practical examples or live demonstrations.</a:t>
            </a:r>
          </a:p>
        </p:txBody>
      </p:sp>
    </p:spTree>
    <p:extLst>
      <p:ext uri="{BB962C8B-B14F-4D97-AF65-F5344CB8AC3E}">
        <p14:creationId xmlns:p14="http://schemas.microsoft.com/office/powerpoint/2010/main" val="2379946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F81DC44-3AE7-0C19-C954-985FE2443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40CD63E3-BFD9-BAFC-B2D7-093D181451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E2E68A6A-5684-C598-25A6-8CC866D84F71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126322C6-9CA0-F81F-79C1-AC6C7B12D1C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9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18852B67-8A7E-C7C6-0D80-B5AEE4143067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Linux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7DFFB-0C77-5ACB-A58B-454865BD28EC}"/>
              </a:ext>
            </a:extLst>
          </p:cNvPr>
          <p:cNvSpPr txBox="1"/>
          <p:nvPr/>
        </p:nvSpPr>
        <p:spPr>
          <a:xfrm>
            <a:off x="411061" y="1053188"/>
            <a:ext cx="111625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Homework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Tasks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Research and summarize the roles of </a:t>
            </a:r>
            <a:r>
              <a:rPr lang="en-US" dirty="0">
                <a:solidFill>
                  <a:schemeClr val="accent1"/>
                </a:solidFill>
              </a:rPr>
              <a:t>/bin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/</a:t>
            </a:r>
            <a:r>
              <a:rPr lang="en-US" dirty="0" err="1">
                <a:solidFill>
                  <a:schemeClr val="accent1"/>
                </a:solidFill>
              </a:rPr>
              <a:t>etc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/home</a:t>
            </a:r>
            <a:r>
              <a:rPr lang="en-US" dirty="0"/>
              <a:t>, and </a:t>
            </a:r>
            <a:r>
              <a:rPr lang="en-US" dirty="0">
                <a:solidFill>
                  <a:schemeClr val="accent1"/>
                </a:solidFill>
              </a:rPr>
              <a:t>/var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Practice commands (</a:t>
            </a:r>
            <a:r>
              <a:rPr lang="en-US" dirty="0">
                <a:solidFill>
                  <a:schemeClr val="accent6"/>
                </a:solidFill>
              </a:rPr>
              <a:t>ls</a:t>
            </a:r>
            <a:r>
              <a:rPr lang="en-US" dirty="0"/>
              <a:t>, </a:t>
            </a:r>
            <a:r>
              <a:rPr lang="en-US" dirty="0">
                <a:solidFill>
                  <a:schemeClr val="accent6"/>
                </a:solidFill>
              </a:rPr>
              <a:t>cd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6"/>
                </a:solidFill>
              </a:rPr>
              <a:t>pwd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6"/>
                </a:solidFill>
              </a:rPr>
              <a:t>chmod</a:t>
            </a:r>
            <a:r>
              <a:rPr lang="en-US" dirty="0"/>
              <a:t>) in various directories.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Experiment with creating and modifying directories under </a:t>
            </a:r>
            <a:r>
              <a:rPr lang="en-US" dirty="0">
                <a:solidFill>
                  <a:schemeClr val="accent1"/>
                </a:solidFill>
              </a:rPr>
              <a:t>/</a:t>
            </a:r>
            <a:r>
              <a:rPr lang="en-US" dirty="0" err="1">
                <a:solidFill>
                  <a:schemeClr val="accent1"/>
                </a:solidFill>
              </a:rPr>
              <a:t>tmp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Advanced: Explore the </a:t>
            </a:r>
            <a:r>
              <a:rPr lang="en-US" dirty="0">
                <a:solidFill>
                  <a:schemeClr val="accent6"/>
                </a:solidFill>
              </a:rPr>
              <a:t>man</a:t>
            </a:r>
            <a:r>
              <a:rPr lang="en-US" dirty="0"/>
              <a:t> command to learn about </a:t>
            </a:r>
            <a:r>
              <a:rPr lang="en-US" dirty="0" err="1">
                <a:solidFill>
                  <a:schemeClr val="accent6"/>
                </a:solidFill>
              </a:rPr>
              <a:t>chmod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6"/>
                </a:solidFill>
              </a:rPr>
              <a:t>chown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a directory named </a:t>
            </a:r>
            <a:r>
              <a:rPr lang="en-US" dirty="0">
                <a:solidFill>
                  <a:schemeClr val="accent1"/>
                </a:solidFill>
              </a:rPr>
              <a:t>test</a:t>
            </a:r>
            <a:r>
              <a:rPr lang="en-US" dirty="0"/>
              <a:t> under </a:t>
            </a:r>
            <a:r>
              <a:rPr lang="en-US" dirty="0">
                <a:solidFill>
                  <a:schemeClr val="accent1"/>
                </a:solidFill>
              </a:rPr>
              <a:t>/</a:t>
            </a:r>
            <a:r>
              <a:rPr lang="en-US" dirty="0" err="1">
                <a:solidFill>
                  <a:schemeClr val="accent1"/>
                </a:solidFill>
              </a:rPr>
              <a:t>tmp</a:t>
            </a:r>
            <a:r>
              <a:rPr lang="en-US" dirty="0"/>
              <a:t>, change its ownership to your username, and set permissions to allow only you to </a:t>
            </a:r>
            <a:r>
              <a:rPr lang="en-US" i="1" dirty="0"/>
              <a:t>read</a:t>
            </a:r>
            <a:r>
              <a:rPr lang="en-US" dirty="0"/>
              <a:t>, </a:t>
            </a:r>
            <a:r>
              <a:rPr lang="en-US" i="1" dirty="0"/>
              <a:t>write</a:t>
            </a:r>
            <a:r>
              <a:rPr lang="en-US" dirty="0"/>
              <a:t>, and </a:t>
            </a:r>
            <a:r>
              <a:rPr lang="en-US" i="1" dirty="0"/>
              <a:t>execute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Write a short explanation of the difference between </a:t>
            </a:r>
            <a:r>
              <a:rPr lang="en-US" i="1" dirty="0"/>
              <a:t>absolute</a:t>
            </a:r>
            <a:r>
              <a:rPr lang="en-US" dirty="0"/>
              <a:t> and </a:t>
            </a:r>
            <a:r>
              <a:rPr lang="en-US" i="1" dirty="0"/>
              <a:t>relative</a:t>
            </a:r>
            <a:r>
              <a:rPr lang="en-US" dirty="0"/>
              <a:t> paths.</a:t>
            </a:r>
          </a:p>
        </p:txBody>
      </p:sp>
    </p:spTree>
    <p:extLst>
      <p:ext uri="{BB962C8B-B14F-4D97-AF65-F5344CB8AC3E}">
        <p14:creationId xmlns:p14="http://schemas.microsoft.com/office/powerpoint/2010/main" val="189965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2440" y="2007569"/>
            <a:ext cx="4007119" cy="400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305261" y="843312"/>
            <a:ext cx="63420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Քո կարծիքը </a:t>
            </a:r>
            <a:r>
              <a:rPr lang="en-US" sz="3600">
                <a:solidFill>
                  <a:srgbClr val="3A3E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կարևոր է</a:t>
            </a:r>
            <a:endParaRPr sz="3600">
              <a:solidFill>
                <a:srgbClr val="3A3E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1125</Words>
  <Application>Microsoft Macintosh PowerPoint</Application>
  <PresentationFormat>Widescreen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Montserrat SemiBold</vt:lpstr>
      <vt:lpstr>Montserrat Black</vt:lpstr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5</cp:revision>
  <dcterms:created xsi:type="dcterms:W3CDTF">2024-08-30T07:18:33Z</dcterms:created>
  <dcterms:modified xsi:type="dcterms:W3CDTF">2024-12-20T10:57:50Z</dcterms:modified>
</cp:coreProperties>
</file>