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embeddedFontLst>
    <p:embeddedFont>
      <p:font typeface="Montserrat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94677"/>
  </p:normalViewPr>
  <p:slideViewPr>
    <p:cSldViewPr snapToGrid="0">
      <p:cViewPr varScale="1">
        <p:scale>
          <a:sx n="124" d="100"/>
          <a:sy n="124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F092C9E-753C-B3E1-15F5-0C3E5D14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BAC1EC54-587C-ACCF-451A-A8F3B7B7C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2F0F2BD-F614-D1E8-A204-0A4266D89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694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C2BC605-AB4E-BCEA-4EC6-907C9A30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304A8C4-9311-42BE-5DB9-C2B4A4CD5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6350882-473A-6372-B729-DD653426F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4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E81CA8-DBCB-788B-498B-EFBA3FBF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D4087B2-59AC-D76A-1762-CC4922CD0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80B6FF5-A97E-010E-C2D9-99D8A0610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6867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C47394-FF7F-B33C-1B58-95F9DBE8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CC533751-77A3-4BDF-8173-475777B3F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9933E46-E0A7-0EB1-136E-51AAC6946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50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lukemillerdev.medium.com/aws-cloudformation-capabilities-parameter-ab73a37327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opensenselabs.com/blog/articles/terraform-drupal" TargetMode="External"/><Relationship Id="rId10" Type="http://schemas.openxmlformats.org/officeDocument/2006/relationships/hyperlink" Target="https://www.svgrepo.com/svg/353399/ansible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terraform.i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85A2DE-DFA2-43DD-991D-BE8BAC3EDFF0}"/>
              </a:ext>
            </a:extLst>
          </p:cNvPr>
          <p:cNvSpPr txBox="1"/>
          <p:nvPr/>
        </p:nvSpPr>
        <p:spPr>
          <a:xfrm>
            <a:off x="82379" y="1997839"/>
            <a:ext cx="120272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INFRASTRUCTURE AS CODE </a:t>
            </a:r>
          </a:p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WITH </a:t>
            </a:r>
          </a:p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TERRAFORM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B7284-5B77-E5EB-41BC-AF656D74AC36}"/>
              </a:ext>
            </a:extLst>
          </p:cNvPr>
          <p:cNvSpPr txBox="1"/>
          <p:nvPr/>
        </p:nvSpPr>
        <p:spPr>
          <a:xfrm>
            <a:off x="411061" y="853473"/>
            <a:ext cx="11113674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Infrastructure as Code (</a:t>
            </a:r>
            <a:r>
              <a:rPr lang="en-US" dirty="0" err="1"/>
              <a:t>IaC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Overview of Terraform and its Benefits.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Terraform Configuration and State Management.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Deploying AWS Resources with Terraform.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fundamentals of Infrastructure as Code.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Terraform automates cloud infrastructure deployment.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Write and apply basic Terraform configurations.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</a:t>
            </a:r>
            <a:r>
              <a:rPr lang="en-US" sz="1800" dirty="0" err="1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IaC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ADF15-A071-CBC0-503D-970BC8BD46FC}"/>
              </a:ext>
            </a:extLst>
          </p:cNvPr>
          <p:cNvSpPr txBox="1"/>
          <p:nvPr/>
        </p:nvSpPr>
        <p:spPr>
          <a:xfrm>
            <a:off x="411060" y="853473"/>
            <a:ext cx="11072485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Infrastructure as Code?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Managing and provisioning cloud infrastructure using code instead of manual processes.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Enables automation, version control, and consistency.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 tools: </a:t>
            </a:r>
            <a:r>
              <a:rPr lang="en-US" b="1" dirty="0"/>
              <a:t>Terraform, AWS CloudFormation, Ansible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Use </a:t>
            </a:r>
            <a:r>
              <a:rPr lang="en-US" sz="2000" b="1" dirty="0" err="1">
                <a:solidFill>
                  <a:schemeClr val="bg2"/>
                </a:solidFill>
              </a:rPr>
              <a:t>IaC</a:t>
            </a:r>
            <a:r>
              <a:rPr lang="en-US" sz="2000" b="1" dirty="0">
                <a:solidFill>
                  <a:schemeClr val="bg2"/>
                </a:solidFill>
              </a:rPr>
              <a:t>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Automation</a:t>
            </a:r>
            <a:r>
              <a:rPr lang="en-US" dirty="0"/>
              <a:t>: Reduces manual effort and errors.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Scalability</a:t>
            </a:r>
            <a:r>
              <a:rPr lang="en-US" dirty="0"/>
              <a:t>: Infrastructure can be replicated easily.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Version Control</a:t>
            </a:r>
            <a:r>
              <a:rPr lang="en-US" dirty="0"/>
              <a:t>: Infrastructure definitions can be tracked in Git.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Faster Deployments</a:t>
            </a:r>
            <a:r>
              <a:rPr lang="en-US" dirty="0"/>
              <a:t>: Reduces setup time.</a:t>
            </a:r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9DDF9E49-BD78-5624-0A64-B8808245D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1060" y="4275798"/>
            <a:ext cx="2344251" cy="2288602"/>
          </a:xfrm>
          <a:prstGeom prst="rect">
            <a:avLst/>
          </a:prstGeom>
        </p:spPr>
      </p:pic>
      <p:pic>
        <p:nvPicPr>
          <p:cNvPr id="10" name="Picture 9" descr="A green cube with black text&#10;&#10;AI-generated content may be incorrect.">
            <a:extLst>
              <a:ext uri="{FF2B5EF4-FFF2-40B4-BE49-F238E27FC236}">
                <a16:creationId xmlns:a16="http://schemas.microsoft.com/office/drawing/2014/main" id="{84E8CB38-9979-220F-F4B3-4504CB738E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40190" y="4275797"/>
            <a:ext cx="4001926" cy="228860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91B0F2A-19CE-B6A2-7849-25FA57E385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162157" y="4091347"/>
            <a:ext cx="2473051" cy="2473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5EACB75-B81D-7623-4BFD-25187C26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857CA78-3CF6-DB14-582E-D0DB738E68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3101A75-8DD9-5086-B51C-88C61D8C255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C2D117A-E206-A24F-EF2D-772A70798B3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B0E7B3C-1BE3-7B1E-E854-B53AC49F351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Terraform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13114-EF74-946B-679E-4BA896A2EB43}"/>
              </a:ext>
            </a:extLst>
          </p:cNvPr>
          <p:cNvSpPr txBox="1"/>
          <p:nvPr/>
        </p:nvSpPr>
        <p:spPr>
          <a:xfrm>
            <a:off x="411061" y="853473"/>
            <a:ext cx="11113674" cy="346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What is Terraform?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Open-source </a:t>
            </a:r>
            <a:r>
              <a:rPr lang="en-US" dirty="0" err="1"/>
              <a:t>IaC</a:t>
            </a:r>
            <a:r>
              <a:rPr lang="en-US" dirty="0"/>
              <a:t> tool by </a:t>
            </a:r>
            <a:r>
              <a:rPr lang="en-US" b="1" dirty="0" err="1"/>
              <a:t>HashiCorp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Uses a declarative configuration language called </a:t>
            </a:r>
            <a:r>
              <a:rPr lang="en-US" b="1" dirty="0"/>
              <a:t>HCL (</a:t>
            </a:r>
            <a:r>
              <a:rPr lang="en-US" b="1" dirty="0" err="1"/>
              <a:t>HashiCorp</a:t>
            </a:r>
            <a:r>
              <a:rPr lang="en-US" b="1" dirty="0"/>
              <a:t> Configuration Language)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multiple cloud providers (AWS, Azure, GCP, etc.).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Benefits of Terraform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Multi-cloud support</a:t>
            </a:r>
            <a:r>
              <a:rPr lang="en-US" dirty="0"/>
              <a:t>: Works across cloud platforms.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State Management</a:t>
            </a:r>
            <a:r>
              <a:rPr lang="en-US" dirty="0"/>
              <a:t>: Tracks changes to infrastructure.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Reusable Modules</a:t>
            </a:r>
            <a:r>
              <a:rPr lang="en-US" dirty="0"/>
              <a:t>: Helps organize and simplify complex configurations.</a:t>
            </a:r>
          </a:p>
          <a:p>
            <a:pPr>
              <a:lnSpc>
                <a:spcPct val="150000"/>
              </a:lnSpc>
            </a:pPr>
            <a:br>
              <a:rPr lang="en-US" b="1" dirty="0"/>
            </a:br>
            <a:r>
              <a:rPr lang="en-US" b="1" dirty="0"/>
              <a:t>Terraform vs. Other </a:t>
            </a:r>
            <a:r>
              <a:rPr lang="en-US" b="1" dirty="0" err="1"/>
              <a:t>IaC</a:t>
            </a:r>
            <a:r>
              <a:rPr lang="en-US" b="1" dirty="0"/>
              <a:t> Tools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F6D1CC-0A89-B7D0-4E45-8259E8311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38450"/>
              </p:ext>
            </p:extLst>
          </p:nvPr>
        </p:nvGraphicFramePr>
        <p:xfrm>
          <a:off x="411061" y="4429031"/>
          <a:ext cx="8128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5568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73296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65764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31808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Terraform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AWS Cloud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9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Cloud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AWS-only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2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JSON/YAML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YAML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95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Configuration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Procedural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62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44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FB7FA95-6F77-1FA2-B018-A9C2E35E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B31E915-EEC0-E7A1-B4BF-079F5A1BFA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A6131C3-C49E-3ACB-2023-0292C6FC9165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801F1A6-F847-7491-6741-056C4EBAC8E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99789C-6138-B592-417A-CA5C2E5EB0EB}"/>
              </a:ext>
            </a:extLst>
          </p:cNvPr>
          <p:cNvSpPr txBox="1"/>
          <p:nvPr/>
        </p:nvSpPr>
        <p:spPr>
          <a:xfrm>
            <a:off x="838900" y="270436"/>
            <a:ext cx="42280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Terraform Configuration and State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ABEA6-657B-9A6D-C50F-FBB42BC05B78}"/>
              </a:ext>
            </a:extLst>
          </p:cNvPr>
          <p:cNvSpPr txBox="1"/>
          <p:nvPr/>
        </p:nvSpPr>
        <p:spPr>
          <a:xfrm>
            <a:off x="411061" y="872078"/>
            <a:ext cx="11130150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Terraform Workflow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Write Configuration</a:t>
            </a:r>
            <a:r>
              <a:rPr lang="en-US" dirty="0"/>
              <a:t> (.</a:t>
            </a:r>
            <a:r>
              <a:rPr lang="en-US" dirty="0" err="1"/>
              <a:t>tf</a:t>
            </a:r>
            <a:r>
              <a:rPr lang="en-US" dirty="0"/>
              <a:t> files define resources).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Initialize Terraform</a:t>
            </a:r>
            <a:r>
              <a:rPr lang="en-US" dirty="0"/>
              <a:t> (terraform </a:t>
            </a:r>
            <a:r>
              <a:rPr lang="en-US" dirty="0" err="1"/>
              <a:t>init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Plan Execution</a:t>
            </a:r>
            <a:r>
              <a:rPr lang="en-US" dirty="0"/>
              <a:t> (terraform plan previews changes).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Apply Changes</a:t>
            </a:r>
            <a:r>
              <a:rPr lang="en-US" dirty="0"/>
              <a:t> (terraform apply deploys infrastructure).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Terraform State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Maintains a </a:t>
            </a:r>
            <a:r>
              <a:rPr lang="en-US" b="1" dirty="0"/>
              <a:t>state file</a:t>
            </a:r>
            <a:r>
              <a:rPr lang="en-US" dirty="0"/>
              <a:t> (</a:t>
            </a:r>
            <a:r>
              <a:rPr lang="en-US" dirty="0" err="1"/>
              <a:t>terraform.tfstate</a:t>
            </a:r>
            <a:r>
              <a:rPr lang="en-US" dirty="0"/>
              <a:t>) that tracks infrastructure changes.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Used to compare real-world resources with the declared configuration.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 state commands: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05715-03B4-0503-F653-4AE0BA23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8" r="1385"/>
          <a:stretch/>
        </p:blipFill>
        <p:spPr>
          <a:xfrm>
            <a:off x="581305" y="4109952"/>
            <a:ext cx="754586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6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EBF538-CFF3-CA20-B100-9BD00CC4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5DD0A6CD-FC01-81BC-8FD4-9F43ED5908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6D81E94-977F-5C45-BC1C-3F40E520782E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C9370C8-7849-AA9E-5FF1-C0193E1F67A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7E36964-2FE9-42C1-ADD3-F51DDBF1758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0B085-A637-E421-3650-0629C3498012}"/>
              </a:ext>
            </a:extLst>
          </p:cNvPr>
          <p:cNvSpPr txBox="1"/>
          <p:nvPr/>
        </p:nvSpPr>
        <p:spPr>
          <a:xfrm>
            <a:off x="411061" y="9534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Step 1: Install Terraform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Download from </a:t>
            </a:r>
            <a:r>
              <a:rPr lang="en-US" dirty="0">
                <a:hlinkClick r:id="rId4"/>
              </a:rPr>
              <a:t>terraform.io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Verify installation: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8D743-AEEE-3773-C95B-9F79BD40F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88" y="1859843"/>
            <a:ext cx="3691382" cy="404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8EDCC-8C3C-C0E9-824B-1850F465DC5B}"/>
              </a:ext>
            </a:extLst>
          </p:cNvPr>
          <p:cNvSpPr txBox="1"/>
          <p:nvPr/>
        </p:nvSpPr>
        <p:spPr>
          <a:xfrm>
            <a:off x="411061" y="226437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Step 2: Write a Simple Terraform Configuration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00FA46-FA81-6CEB-5002-654DC9461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88" y="2572155"/>
            <a:ext cx="2892312" cy="1314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F810C9-95B8-A7B0-E7D9-E99817106DDE}"/>
              </a:ext>
            </a:extLst>
          </p:cNvPr>
          <p:cNvSpPr txBox="1"/>
          <p:nvPr/>
        </p:nvSpPr>
        <p:spPr>
          <a:xfrm>
            <a:off x="411061" y="400814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Step 3: Initialize, Plan, and Apply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8CD871-230D-49C0-FDFD-D5F58F4196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88" y="4367439"/>
            <a:ext cx="3040593" cy="7075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9FA68E-AE41-12CB-10AC-DD6059386B76}"/>
              </a:ext>
            </a:extLst>
          </p:cNvPr>
          <p:cNvSpPr txBox="1"/>
          <p:nvPr/>
        </p:nvSpPr>
        <p:spPr>
          <a:xfrm>
            <a:off x="411061" y="512389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Step 4: Destroy Resources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DD76F0-4B7A-6FA8-E767-828E7B4A2A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99" y="5485402"/>
            <a:ext cx="3775663" cy="4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ABC17C-447F-CFC5-BED3-C101E2BC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2CC6955-3530-DBA4-2404-9F5A16C390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BEA8588-A67F-737E-A376-4646615E5FC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4BC0E43-00E3-B95B-31BF-B05D833B5E6D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C794830-B274-A8BB-6606-D12E3EB4DA8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454E2-3AAA-843E-027B-9787E5A0C125}"/>
              </a:ext>
            </a:extLst>
          </p:cNvPr>
          <p:cNvSpPr txBox="1"/>
          <p:nvPr/>
        </p:nvSpPr>
        <p:spPr>
          <a:xfrm>
            <a:off x="411061" y="853472"/>
            <a:ext cx="11097198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Create a Terraform Configuration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a </a:t>
            </a:r>
            <a:r>
              <a:rPr lang="en-US" b="1" dirty="0"/>
              <a:t>VPC, Subnets, and an EC2 instance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and validate the infrastructure.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Modify Terraform Resources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Update the instance type and reapply the configuration.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Explore Terraform Modules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a module from </a:t>
            </a:r>
            <a:r>
              <a:rPr lang="en-US" b="1" dirty="0"/>
              <a:t>Terraform Registry</a:t>
            </a:r>
            <a:r>
              <a:rPr lang="en-US" dirty="0"/>
              <a:t> to deploy a web server.</a:t>
            </a:r>
          </a:p>
        </p:txBody>
      </p:sp>
    </p:spTree>
    <p:extLst>
      <p:ext uri="{BB962C8B-B14F-4D97-AF65-F5344CB8AC3E}">
        <p14:creationId xmlns:p14="http://schemas.microsoft.com/office/powerpoint/2010/main" val="341756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430</Words>
  <Application>Microsoft Macintosh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2025-02-22T07:25:05Z</dcterms:modified>
</cp:coreProperties>
</file>