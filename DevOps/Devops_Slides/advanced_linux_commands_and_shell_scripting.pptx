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1" r:id="rId12"/>
  </p:sldIdLst>
  <p:sldSz cx="12192000" cy="6858000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Montserrat Black" panose="020F0502020204030204" pitchFamily="34" charset="0"/>
      <p:bold r:id="rId18"/>
      <p:italic r:id="rId19"/>
      <p:boldItalic r:id="rId20"/>
    </p:embeddedFont>
    <p:embeddedFont>
      <p:font typeface="Montserrat SemiBold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>
      <p:cViewPr varScale="1">
        <p:scale>
          <a:sx n="155" d="100"/>
          <a:sy n="155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0FD7789-989C-C809-D162-045A892A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D8AE96A-C224-393D-FE30-388220082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02020B0-BD30-E25A-FBC2-EC26BEAA5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1447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B999193-63C9-C09A-4C11-6506BDCE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3678BC7A-67A7-9945-CD31-892C0C499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9001105-E472-4B7F-A3D3-3ADA4FD66A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026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89C348-FAF7-5CEC-1996-B9745545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EDCFAA3-6DDB-BC4B-E802-477D626A1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254C149-791F-207D-E3DD-FFA09C0D9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4048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2EFBA0D-E0B3-D358-DDA0-105D7E9E7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45A7FD1-3B92-1CAF-721F-30D11735D0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10B1AED-7116-0D0C-A6E3-89F9BE0D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138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DDDF0FF-3BFD-8AB2-DA85-B4DFD4CA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D715D9C4-1800-A6E5-BCC8-12C9A8F27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5E38F254-A969-DFE0-7846-E76305B001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1210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0" y="1171406"/>
            <a:ext cx="12192000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ADVANCED LINUX COMMANDS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SHELL SCRIPTING </a:t>
            </a:r>
            <a:endParaRPr lang="en-US" sz="105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54344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advanced Linux commands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84179B-C1D3-336D-3168-F607D70D0140}"/>
              </a:ext>
            </a:extLst>
          </p:cNvPr>
          <p:cNvSpPr txBox="1"/>
          <p:nvPr/>
        </p:nvSpPr>
        <p:spPr>
          <a:xfrm>
            <a:off x="411061" y="830873"/>
            <a:ext cx="11067297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Why we need advanced commands?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Efficiency</a:t>
            </a:r>
            <a:r>
              <a:rPr lang="en-US" sz="1800" dirty="0"/>
              <a:t>: Save time with powerful one-liners.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Versatility</a:t>
            </a:r>
            <a:r>
              <a:rPr lang="en-US" sz="1800" dirty="0"/>
              <a:t>: Perform complex tasks directly from the shell.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Real-world Applications</a:t>
            </a:r>
            <a:r>
              <a:rPr lang="en-US" sz="1800" dirty="0"/>
              <a:t>: Used extensively in automation and troubleshooting.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Key Focus Areas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Process Management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Disk Usage and Monitoring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Package Management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Shell Scripting Basics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433537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Process Management Commands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25F39-0A67-02FA-B60C-C895BA2E1869}"/>
              </a:ext>
            </a:extLst>
          </p:cNvPr>
          <p:cNvSpPr txBox="1"/>
          <p:nvPr/>
        </p:nvSpPr>
        <p:spPr>
          <a:xfrm>
            <a:off x="411061" y="824219"/>
            <a:ext cx="11168408" cy="521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Viewing Processes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ps</a:t>
            </a:r>
            <a:r>
              <a:rPr lang="en-US" sz="1600" dirty="0"/>
              <a:t>: Displays active processes.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i="1" dirty="0" err="1">
                <a:solidFill>
                  <a:schemeClr val="accent6">
                    <a:lumMod val="75000"/>
                  </a:schemeClr>
                </a:solidFill>
              </a:rPr>
              <a:t>ps</a:t>
            </a:r>
            <a:r>
              <a:rPr lang="en-US" sz="1600" i="1" dirty="0"/>
              <a:t> </a:t>
            </a:r>
            <a:r>
              <a:rPr lang="en-US" sz="1600" i="1" dirty="0">
                <a:solidFill>
                  <a:srgbClr val="FF0000"/>
                </a:solidFill>
              </a:rPr>
              <a:t>aux</a:t>
            </a:r>
            <a:r>
              <a:rPr lang="en-US" sz="1600" i="1" dirty="0"/>
              <a:t> </a:t>
            </a:r>
            <a:r>
              <a:rPr lang="en-US" sz="1600" dirty="0"/>
              <a:t>(shows detailed information about all processes).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top</a:t>
            </a:r>
            <a:r>
              <a:rPr lang="en-US" sz="1600" dirty="0"/>
              <a:t>: An interactive tool to monitor processes in real time.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Run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top</a:t>
            </a:r>
            <a:r>
              <a:rPr lang="en-US" sz="1600" dirty="0"/>
              <a:t> and press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q</a:t>
            </a:r>
            <a:r>
              <a:rPr lang="en-US" sz="1600" dirty="0"/>
              <a:t> to exit when done.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err="1"/>
              <a:t>htop</a:t>
            </a:r>
            <a:r>
              <a:rPr lang="en-US" sz="1600" dirty="0"/>
              <a:t> (optional): A user-friendly and colorful version of top (if installed).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Managing Processes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kill</a:t>
            </a:r>
            <a:r>
              <a:rPr lang="en-US" sz="1600" dirty="0"/>
              <a:t>: Sends signals to processes, such as termination or pause.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i="1" dirty="0">
                <a:solidFill>
                  <a:schemeClr val="accent6">
                    <a:lumMod val="75000"/>
                  </a:schemeClr>
                </a:solidFill>
              </a:rPr>
              <a:t>kill</a:t>
            </a:r>
            <a:r>
              <a:rPr lang="en-US" sz="1600" i="1" dirty="0"/>
              <a:t> </a:t>
            </a:r>
            <a:r>
              <a:rPr lang="en-US" sz="1600" i="1" dirty="0">
                <a:solidFill>
                  <a:srgbClr val="FF0000"/>
                </a:solidFill>
              </a:rPr>
              <a:t>-9</a:t>
            </a:r>
            <a:r>
              <a:rPr lang="en-US" sz="1600" i="1" dirty="0"/>
              <a:t> </a:t>
            </a:r>
            <a:r>
              <a:rPr lang="en-US" sz="1600" i="1" dirty="0">
                <a:solidFill>
                  <a:schemeClr val="accent1"/>
                </a:solidFill>
              </a:rPr>
              <a:t>&lt;PID&gt; </a:t>
            </a:r>
            <a:r>
              <a:rPr lang="en-US" sz="1600" dirty="0"/>
              <a:t>(forcefully stops a process identified by its PID).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jobs</a:t>
            </a:r>
            <a:r>
              <a:rPr lang="en-US" sz="1600" dirty="0"/>
              <a:t>: Lists processes running in the background.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Run </a:t>
            </a:r>
            <a:r>
              <a:rPr lang="en-US" sz="1600" i="1" dirty="0">
                <a:solidFill>
                  <a:schemeClr val="accent6">
                    <a:lumMod val="75000"/>
                  </a:schemeClr>
                </a:solidFill>
              </a:rPr>
              <a:t>sleep</a:t>
            </a:r>
            <a:r>
              <a:rPr lang="en-US" sz="1600" i="1" dirty="0"/>
              <a:t> </a:t>
            </a:r>
            <a:r>
              <a:rPr lang="en-US" sz="1600" i="1" dirty="0">
                <a:solidFill>
                  <a:srgbClr val="FF0000"/>
                </a:solidFill>
              </a:rPr>
              <a:t>100</a:t>
            </a:r>
            <a:r>
              <a:rPr lang="en-US" sz="1600" i="1" dirty="0"/>
              <a:t> &amp; </a:t>
            </a:r>
            <a:r>
              <a:rPr lang="en-US" sz="1600" dirty="0"/>
              <a:t>to start a job, then use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jobs</a:t>
            </a:r>
            <a:r>
              <a:rPr lang="en-US" sz="1600" dirty="0"/>
              <a:t> to see it.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fg</a:t>
            </a:r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bg</a:t>
            </a:r>
            <a:r>
              <a:rPr lang="en-US" sz="1600" dirty="0"/>
              <a:t>: Controls background processes.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Use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fg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%1</a:t>
            </a:r>
            <a:r>
              <a:rPr lang="en-US" sz="1600" dirty="0"/>
              <a:t> to bring a job to the foreground or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bg</a:t>
            </a:r>
            <a:r>
              <a:rPr lang="en-US" sz="1600" dirty="0"/>
              <a:t> to resume it in the background.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D0648DA-CDEE-633A-1F51-1A5EC224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5197090D-0844-F694-9A93-6EC0911E7B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69632E55-B0E8-87B3-73BE-A1E0D0C3B695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CE45E03-89DB-99A2-30BA-C0D118F1E8A1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2D790A1-F60F-3C15-C754-DEAF484B63C9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Disk Usage and Monitoring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72D0A-5993-CFBC-8C8E-1B521EE8C484}"/>
              </a:ext>
            </a:extLst>
          </p:cNvPr>
          <p:cNvSpPr txBox="1"/>
          <p:nvPr/>
        </p:nvSpPr>
        <p:spPr>
          <a:xfrm>
            <a:off x="411061" y="835269"/>
            <a:ext cx="1111125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</a:rPr>
              <a:t>Disk Space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df</a:t>
            </a:r>
            <a:r>
              <a:rPr lang="en-US" sz="1600" dirty="0"/>
              <a:t>: Displays disk usage statistics for file systems.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df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-h</a:t>
            </a:r>
            <a:r>
              <a:rPr lang="en-US" sz="1600" dirty="0"/>
              <a:t> (provides human-readable output).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du</a:t>
            </a:r>
            <a:r>
              <a:rPr lang="en-US" sz="1600" dirty="0"/>
              <a:t>: Shows file and directory sizes.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du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-</a:t>
            </a:r>
            <a:r>
              <a:rPr lang="en-US" sz="1600" dirty="0" err="1">
                <a:solidFill>
                  <a:srgbClr val="FF0000"/>
                </a:solidFill>
              </a:rPr>
              <a:t>sh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chemeClr val="accent1"/>
                </a:solidFill>
              </a:rPr>
              <a:t>/var/log</a:t>
            </a:r>
            <a:r>
              <a:rPr lang="en-US" sz="1600" dirty="0"/>
              <a:t> (summarizes the size of the /var/log directory).</a:t>
            </a:r>
          </a:p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chemeClr val="bg2"/>
                </a:solidFill>
              </a:rPr>
              <a:t>Inodes</a:t>
            </a:r>
            <a:endParaRPr lang="en-US" sz="16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df</a:t>
            </a:r>
            <a:r>
              <a:rPr lang="en-US" sz="1600" dirty="0"/>
              <a:t> -</a:t>
            </a:r>
            <a:r>
              <a:rPr lang="en-US" sz="1600" dirty="0" err="1"/>
              <a:t>i</a:t>
            </a:r>
            <a:r>
              <a:rPr lang="en-US" sz="1600" dirty="0"/>
              <a:t>: Displays </a:t>
            </a:r>
            <a:r>
              <a:rPr lang="en-US" sz="1600" dirty="0" err="1"/>
              <a:t>inode</a:t>
            </a:r>
            <a:r>
              <a:rPr lang="en-US" sz="1600" dirty="0"/>
              <a:t> usage, which is crucial when "disk full" errors occur despite space being available.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df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-</a:t>
            </a:r>
            <a:r>
              <a:rPr lang="en-US" sz="1600" dirty="0" err="1">
                <a:solidFill>
                  <a:srgbClr val="FF0000"/>
                </a:solidFill>
              </a:rPr>
              <a:t>i</a:t>
            </a:r>
            <a:r>
              <a:rPr lang="en-US" sz="1600" dirty="0"/>
              <a:t> (checks </a:t>
            </a:r>
            <a:r>
              <a:rPr lang="en-US" sz="1600" dirty="0" err="1"/>
              <a:t>inode</a:t>
            </a:r>
            <a:r>
              <a:rPr lang="en-US" sz="1600" dirty="0"/>
              <a:t> usage for all partitions).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78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D530C3-178C-DBEE-DB29-CD59C395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2B7A6416-E25B-3724-BD04-8B0EA4244D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D55575A-7839-64C4-0DD9-14BDF24020BD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AFE461B-1CCE-5846-3A2A-F75D85E19B21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15DD4DB2-9D2B-2090-51F5-B7737034FB46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Package Management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52EDD-9ABF-86B0-9C1D-8039963C339F}"/>
              </a:ext>
            </a:extLst>
          </p:cNvPr>
          <p:cNvSpPr txBox="1"/>
          <p:nvPr/>
        </p:nvSpPr>
        <p:spPr>
          <a:xfrm>
            <a:off x="411061" y="833630"/>
            <a:ext cx="11100288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</a:rPr>
              <a:t>Debian-based Systems (e.g., Ubuntu)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apt</a:t>
            </a:r>
            <a:r>
              <a:rPr lang="en-US" sz="1600" dirty="0"/>
              <a:t>: A package manager for systems like Ubuntu or Debian.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sudo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apt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update</a:t>
            </a:r>
            <a:r>
              <a:rPr lang="en-US" sz="1600" dirty="0"/>
              <a:t> (updates the list of available packages).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sudo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apt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install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&lt;</a:t>
            </a:r>
            <a:r>
              <a:rPr lang="en-US" sz="1600" dirty="0" err="1">
                <a:solidFill>
                  <a:schemeClr val="accent1"/>
                </a:solidFill>
              </a:rPr>
              <a:t>package_name</a:t>
            </a:r>
            <a:r>
              <a:rPr lang="en-US" sz="1600" dirty="0">
                <a:solidFill>
                  <a:schemeClr val="accent1"/>
                </a:solidFill>
              </a:rPr>
              <a:t>&gt; </a:t>
            </a:r>
            <a:r>
              <a:rPr lang="en-US" sz="1600" dirty="0"/>
              <a:t>(installs the specified package).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</a:rPr>
              <a:t>Red Hat-based Systems (e.g., CentOS)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yum</a:t>
            </a:r>
            <a:r>
              <a:rPr lang="en-US" sz="1600" dirty="0"/>
              <a:t> or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dnf</a:t>
            </a:r>
            <a:r>
              <a:rPr lang="en-US" sz="1600" dirty="0"/>
              <a:t>: Package managers for Red Hat-based systems.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sudo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yum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update</a:t>
            </a:r>
            <a:r>
              <a:rPr lang="en-US" sz="1600" dirty="0"/>
              <a:t> (updates the list of available packages).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sudo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yum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install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&lt;</a:t>
            </a:r>
            <a:r>
              <a:rPr lang="en-US" sz="1600" dirty="0" err="1">
                <a:solidFill>
                  <a:schemeClr val="accent1"/>
                </a:solidFill>
              </a:rPr>
              <a:t>package_name</a:t>
            </a:r>
            <a:r>
              <a:rPr lang="en-US" sz="1600" dirty="0">
                <a:solidFill>
                  <a:schemeClr val="accent1"/>
                </a:solidFill>
              </a:rPr>
              <a:t>&gt; </a:t>
            </a:r>
            <a:r>
              <a:rPr lang="en-US" sz="1600" dirty="0"/>
              <a:t>(installs the specified package).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4574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D809FF5-99D7-09E8-E9A6-AE1C425C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FFE42033-51D6-A50B-1D23-AA591374B7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C261DD6-DED9-95E1-6D0C-9CAA3F107D98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EF919C5-A25B-D27B-927C-C4EF9781ABB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51146A6-9DA5-866F-E5BD-5D93771D3272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Shell Scripting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1CB746-585A-6F2F-F579-7D12EBEF4680}"/>
              </a:ext>
            </a:extLst>
          </p:cNvPr>
          <p:cNvSpPr txBox="1"/>
          <p:nvPr/>
        </p:nvSpPr>
        <p:spPr>
          <a:xfrm>
            <a:off x="411061" y="835269"/>
            <a:ext cx="10684831" cy="595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</a:rPr>
              <a:t>What is Shell Scripting?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 Definition</a:t>
            </a:r>
            <a:r>
              <a:rPr lang="en-US" sz="1600" dirty="0"/>
              <a:t>: A shell script is a file containing a sequence of commands to automate tasks.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 Purpose</a:t>
            </a:r>
            <a:r>
              <a:rPr lang="en-US" sz="1600" dirty="0"/>
              <a:t>: Saves time by automating repetitive tasks and enables more complex workflows.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</a:rPr>
              <a:t>Creating a Shell Script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Create a new file with a .</a:t>
            </a:r>
            <a:r>
              <a:rPr lang="en-US" sz="1600" dirty="0" err="1"/>
              <a:t>sh</a:t>
            </a:r>
            <a:r>
              <a:rPr lang="en-US" sz="1600" dirty="0"/>
              <a:t> extension to indicate it’s a script.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Example: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touch</a:t>
            </a:r>
            <a:r>
              <a:rPr lang="en-US" sz="1600" dirty="0"/>
              <a:t> </a:t>
            </a:r>
            <a:r>
              <a:rPr lang="en-US" sz="1600" dirty="0" err="1"/>
              <a:t>script.sh</a:t>
            </a:r>
            <a:endParaRPr lang="en-US" sz="16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Add a "shebang" at the top to define the interpreter (e.g., Bash).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Example: </a:t>
            </a:r>
            <a:r>
              <a:rPr lang="en-US" sz="1600" dirty="0">
                <a:solidFill>
                  <a:srgbClr val="FF0000"/>
                </a:solidFill>
              </a:rPr>
              <a:t>#!/bin/bash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Write your commands inside the script file.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Example: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#!/bin/bash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echo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1"/>
                </a:solidFill>
              </a:rPr>
              <a:t>"Hello, World!"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Make the script executable so it can run.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Example: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chmod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+x</a:t>
            </a:r>
            <a:r>
              <a:rPr lang="en-US" sz="1600" dirty="0"/>
              <a:t> </a:t>
            </a:r>
            <a:r>
              <a:rPr lang="en-US" sz="1600" dirty="0" err="1">
                <a:solidFill>
                  <a:schemeClr val="accent1"/>
                </a:solidFill>
              </a:rPr>
              <a:t>script.sh</a:t>
            </a:r>
            <a:endParaRPr lang="en-US" sz="16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Execute the script to see the results.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Example: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./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script.sh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691C7A-A692-1A97-0153-F5C7EB60BF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710" t="22935" r="18631" b="22650"/>
          <a:stretch/>
        </p:blipFill>
        <p:spPr>
          <a:xfrm>
            <a:off x="7156940" y="3365725"/>
            <a:ext cx="3376246" cy="241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25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DAAFF24-F186-DB71-23EA-530055EC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A26F4A2C-8A4A-D30F-1D35-6A2F085B1A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1F73F39-7137-64D8-4E46-3D874E5DBCA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ABB4ACA-B1A4-5309-433E-DEE8CF7A4FC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F844F2F-5104-3CAD-BB05-885235023575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356CA-AA41-F9C4-B302-A6D719531EEE}"/>
              </a:ext>
            </a:extLst>
          </p:cNvPr>
          <p:cNvSpPr txBox="1"/>
          <p:nvPr/>
        </p:nvSpPr>
        <p:spPr>
          <a:xfrm>
            <a:off x="411061" y="835269"/>
            <a:ext cx="1115082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 Process Management</a:t>
            </a:r>
            <a:r>
              <a:rPr lang="en-US" dirty="0">
                <a:solidFill>
                  <a:schemeClr val="bg2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Start a background job: Run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sleep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 &amp;.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List running background jobs using jobs.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Bring the background process to the foreground using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fg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Pause the process using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Ctrl+Z</a:t>
            </a:r>
            <a:r>
              <a:rPr lang="en-US" dirty="0"/>
              <a:t> and resume it with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bg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Terminate the process using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kill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-9</a:t>
            </a:r>
            <a:r>
              <a:rPr lang="en-US" dirty="0"/>
              <a:t> &lt;PID&gt;.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 Disk Monitoring</a:t>
            </a:r>
            <a:r>
              <a:rPr lang="en-US" dirty="0">
                <a:solidFill>
                  <a:schemeClr val="bg2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df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-h</a:t>
            </a:r>
            <a:r>
              <a:rPr lang="en-US" dirty="0"/>
              <a:t> to check overall disk usage.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du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sh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tmp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to get the size of the /</a:t>
            </a:r>
            <a:r>
              <a:rPr lang="en-US" dirty="0" err="1"/>
              <a:t>tmp</a:t>
            </a:r>
            <a:r>
              <a:rPr lang="en-US" dirty="0"/>
              <a:t> directory.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Inspect </a:t>
            </a:r>
            <a:r>
              <a:rPr lang="en-US" dirty="0" err="1"/>
              <a:t>inode</a:t>
            </a:r>
            <a:r>
              <a:rPr lang="en-US" dirty="0"/>
              <a:t> usage using </a:t>
            </a:r>
            <a:r>
              <a:rPr lang="en-US" dirty="0" err="1"/>
              <a:t>df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/>
              <a:t> and identify if any partition is running low.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 Package Management</a:t>
            </a:r>
            <a:r>
              <a:rPr lang="en-US" dirty="0">
                <a:solidFill>
                  <a:schemeClr val="bg2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Update the package list using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sudo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apt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update</a:t>
            </a:r>
            <a:r>
              <a:rPr lang="en-US" dirty="0"/>
              <a:t> (or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sudo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yum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update</a:t>
            </a:r>
            <a:r>
              <a:rPr lang="en-US" dirty="0"/>
              <a:t> for Red Hat systems).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Install a simple package like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cowsay</a:t>
            </a:r>
            <a:r>
              <a:rPr lang="en-US" dirty="0"/>
              <a:t> or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htop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Test the installed package (e.g., run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cowsay</a:t>
            </a:r>
            <a:r>
              <a:rPr lang="en-US" dirty="0"/>
              <a:t> Hello! or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htop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bg2"/>
                </a:solidFill>
              </a:rPr>
              <a:t> Shell Scripting</a:t>
            </a:r>
            <a:r>
              <a:rPr lang="en-US" dirty="0">
                <a:solidFill>
                  <a:schemeClr val="bg2"/>
                </a:solidFill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Write a script that: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Creates a directory named </a:t>
            </a:r>
            <a:r>
              <a:rPr lang="en-US" dirty="0" err="1">
                <a:solidFill>
                  <a:schemeClr val="accent1"/>
                </a:solidFill>
              </a:rPr>
              <a:t>test_dir</a:t>
            </a:r>
            <a:r>
              <a:rPr lang="en-US" dirty="0"/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Writes "Hello, World!" into a file called </a:t>
            </a:r>
            <a:r>
              <a:rPr lang="en-US" dirty="0" err="1"/>
              <a:t>hello.txt</a:t>
            </a:r>
            <a:r>
              <a:rPr lang="en-US" dirty="0"/>
              <a:t> inside the directory.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Displays the file's contents using cat.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Cleans up by deleting the directory and its contents using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rm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-r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Execute the script and debug any errors together.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61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952A68D-287E-8209-C160-0D7D8E5D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3019405-183A-2879-5A9B-493E5A9004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D4A2876-38BF-EEE9-1A6E-A9FBFD9EC233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DC13273-7CBA-8CCF-396B-F78924A66C4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92F5621-46D8-FBEF-340D-137175B5487C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E5852D-A239-CB52-45DD-45FF1BBA9D60}"/>
              </a:ext>
            </a:extLst>
          </p:cNvPr>
          <p:cNvSpPr txBox="1"/>
          <p:nvPr/>
        </p:nvSpPr>
        <p:spPr>
          <a:xfrm>
            <a:off x="411061" y="860007"/>
            <a:ext cx="10847489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Practice process management commands (</a:t>
            </a:r>
            <a:r>
              <a:rPr lang="en-US" sz="1600" dirty="0" err="1"/>
              <a:t>ps</a:t>
            </a:r>
            <a:r>
              <a:rPr lang="en-US" sz="1600" dirty="0"/>
              <a:t>, top, kill) to get familiar with them.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Create a script that: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Finds all </a:t>
            </a:r>
            <a:r>
              <a:rPr lang="en-US" sz="1600" dirty="0">
                <a:solidFill>
                  <a:schemeClr val="accent1"/>
                </a:solidFill>
              </a:rPr>
              <a:t>.log</a:t>
            </a:r>
            <a:r>
              <a:rPr lang="en-US" sz="1600" dirty="0"/>
              <a:t> files in a specific directory.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Archives these files into a 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  <a:r>
              <a:rPr lang="en-US" sz="1600" dirty="0" err="1">
                <a:solidFill>
                  <a:schemeClr val="accent1"/>
                </a:solidFill>
              </a:rPr>
              <a:t>tar.gz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archive using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tar</a:t>
            </a:r>
            <a:r>
              <a:rPr lang="en-US" sz="1600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Deletes the original </a:t>
            </a:r>
            <a:r>
              <a:rPr lang="en-US" sz="1600" dirty="0">
                <a:solidFill>
                  <a:schemeClr val="accent1"/>
                </a:solidFill>
              </a:rPr>
              <a:t>.log </a:t>
            </a:r>
            <a:r>
              <a:rPr lang="en-US" sz="1600" dirty="0"/>
              <a:t>files after archiving.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Checks and logs the number of </a:t>
            </a:r>
            <a:r>
              <a:rPr lang="en-US" sz="1600" dirty="0" err="1"/>
              <a:t>inodes</a:t>
            </a:r>
            <a:r>
              <a:rPr lang="en-US" sz="1600" dirty="0"/>
              <a:t> used before and after the operation using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df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-</a:t>
            </a:r>
            <a:r>
              <a:rPr lang="en-US" sz="1600" dirty="0" err="1">
                <a:solidFill>
                  <a:srgbClr val="FF0000"/>
                </a:solidFill>
              </a:rPr>
              <a:t>i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49135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872</Words>
  <Application>Microsoft Macintosh PowerPoint</Application>
  <PresentationFormat>Widescreen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</vt:lpstr>
      <vt:lpstr>Arial</vt:lpstr>
      <vt:lpstr>Montserrat Black</vt:lpstr>
      <vt:lpstr>Calibri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6</cp:revision>
  <dcterms:created xsi:type="dcterms:W3CDTF">2024-08-30T07:18:33Z</dcterms:created>
  <dcterms:modified xsi:type="dcterms:W3CDTF">2024-12-28T18:52:06Z</dcterms:modified>
</cp:coreProperties>
</file>