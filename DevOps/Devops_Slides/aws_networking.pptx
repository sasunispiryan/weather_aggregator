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0" r:id="rId11"/>
  </p:sldIdLst>
  <p:sldSz cx="12192000" cy="6858000"/>
  <p:notesSz cx="6858000" cy="9144000"/>
  <p:embeddedFontLst>
    <p:embeddedFont>
      <p:font typeface="Montserrat" pitchFamily="2" charset="77"/>
      <p:regular r:id="rId13"/>
      <p:bold r:id="rId14"/>
      <p:italic r:id="rId15"/>
      <p:boldItalic r:id="rId16"/>
    </p:embeddedFont>
    <p:embeddedFont>
      <p:font typeface="Montserrat Black" pitchFamily="2" charset="77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iwkR7Rr2iGqBA2Q0lEScORMrWr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7"/>
  </p:normalViewPr>
  <p:slideViewPr>
    <p:cSldViewPr snapToGrid="0">
      <p:cViewPr varScale="1">
        <p:scale>
          <a:sx n="155" d="100"/>
          <a:sy n="155" d="100"/>
        </p:scale>
        <p:origin x="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C02FDF71-F53F-47BF-A5A8-B8777177F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6BF5621B-808A-3EBF-862F-0F41760E04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21361C42-E14E-CDAE-41EA-F1DA1C68D6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9778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159187B8-56BB-A314-352E-CF175FBFD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2852E8AF-1F24-3CB3-4E1C-51D79187DB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AA9AC214-9D87-D153-05D3-8BEDF9777F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6167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A613EE9F-9DAE-664B-7FC0-696F5F6CC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A7D66A41-59E6-6134-83E1-5888A58A05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9F60964E-6230-084C-3D4D-BCA7AED906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31216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12064DCA-8005-F510-E213-DC808B243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7C73A830-A525-A394-8C1C-A98C76DDD0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944C8BF6-9BDF-967A-927E-A691B0AF34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34003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C4A33AFD-6230-001D-E1DF-891088BEE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5E459AA3-5D85-0ABC-0405-B5AEDE92FD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2EBBF587-9CE1-D8A5-601F-F179A014FC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50345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282116" y="5965079"/>
            <a:ext cx="18859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bdg.am</a:t>
            </a:r>
            <a:endParaRPr/>
          </a:p>
        </p:txBody>
      </p:sp>
      <p:pic>
        <p:nvPicPr>
          <p:cNvPr id="85" name="Google Shape;85;p1"/>
          <p:cNvPicPr preferRelativeResize="0"/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снимок экрана, текст, белый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1D382426-30CA-4FD9-AD51-B1218D04B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23FDBD-2D11-B657-2F16-CE3A0848E373}"/>
              </a:ext>
            </a:extLst>
          </p:cNvPr>
          <p:cNvSpPr txBox="1"/>
          <p:nvPr/>
        </p:nvSpPr>
        <p:spPr>
          <a:xfrm>
            <a:off x="78259" y="1351508"/>
            <a:ext cx="1203548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>
                <a:solidFill>
                  <a:srgbClr val="3A3E4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AWS NETWORKING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>
                <a:solidFill>
                  <a:srgbClr val="3A3E47"/>
                </a:solidFill>
                <a:latin typeface="Montserrat Black"/>
                <a:sym typeface="Montserrat Black"/>
              </a:rPr>
              <a:t>VPC SUBNETS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>
                <a:solidFill>
                  <a:srgbClr val="3A3E47"/>
                </a:solidFill>
                <a:latin typeface="Montserrat Black"/>
                <a:sym typeface="Montserrat Black"/>
              </a:rPr>
              <a:t>AND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>
                <a:solidFill>
                  <a:srgbClr val="3A3E47"/>
                </a:solidFill>
                <a:latin typeface="Montserrat Black"/>
                <a:sym typeface="Montserrat Black"/>
              </a:rPr>
              <a:t>LOAD BALANCING</a:t>
            </a:r>
            <a:endParaRPr lang="en-US" sz="6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3"/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" name="Google Shape;101;p3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Agenda and Objectives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29958F-0324-3C94-EF82-25C702CECBDC}"/>
              </a:ext>
            </a:extLst>
          </p:cNvPr>
          <p:cNvSpPr txBox="1"/>
          <p:nvPr/>
        </p:nvSpPr>
        <p:spPr>
          <a:xfrm>
            <a:off x="411060" y="853473"/>
            <a:ext cx="11064247" cy="3561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Agenda</a:t>
            </a:r>
            <a:endParaRPr lang="en-US" b="1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Introduction to AWS Networking.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Understanding Virtual Private Cloud (VPC).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Configuring Subnets, Route Tables, and Internet Gateways.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AWS Load Balancing and Auto Scaling.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Hands-on: Setting Up a Custom VPC and Load Balancer.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Objectives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Understand AWS networking concepts and best practices.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Learn how to configure a VPC with subnets and routing.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Deploy a load balancer for high availability.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/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838900" y="270436"/>
            <a:ext cx="402966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AWS Networking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ED2293-15FC-928E-2333-FA13854D01DD}"/>
              </a:ext>
            </a:extLst>
          </p:cNvPr>
          <p:cNvSpPr txBox="1"/>
          <p:nvPr/>
        </p:nvSpPr>
        <p:spPr>
          <a:xfrm>
            <a:off x="411060" y="853514"/>
            <a:ext cx="11072485" cy="4207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Why is Networking Important in AWS?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Ensures secure and scalable cloud architectures.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Controls how resources communicate internally and externally.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Enables efficient traffic management with load balancing and auto-scaling.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Key AWS Networking Components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Virtual Private Cloud (VPC)</a:t>
            </a:r>
            <a:r>
              <a:rPr lang="en-US" dirty="0"/>
              <a:t> - A logically isolated network for AWS resources.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Subnets</a:t>
            </a:r>
            <a:r>
              <a:rPr lang="en-US" dirty="0"/>
              <a:t> - Network partitions inside a VPC.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Route Tables</a:t>
            </a:r>
            <a:r>
              <a:rPr lang="en-US" dirty="0"/>
              <a:t> - Defines rules for traffic routing.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Internet Gateway (IGW)</a:t>
            </a:r>
            <a:r>
              <a:rPr lang="en-US" dirty="0"/>
              <a:t> - Enables internet access for public subnets.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NAT Gateway</a:t>
            </a:r>
            <a:r>
              <a:rPr lang="en-US" dirty="0"/>
              <a:t> - Allows private subnets to access the internet securely.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Security Groups &amp; NACLs</a:t>
            </a:r>
            <a:r>
              <a:rPr lang="en-US" dirty="0"/>
              <a:t> - Control inbound and outbound traffic.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Elastic Load Balancer (ELB)</a:t>
            </a:r>
            <a:r>
              <a:rPr lang="en-US" dirty="0"/>
              <a:t> - Distributes traffic across multiple instances.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BC27DF86-07A2-D5B4-658B-5C9DB567D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F119035F-44E4-00B2-5C7A-28F306E665F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E6E9497F-D7FE-4767-32CE-2C1849198022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8ADECDEB-D01B-2EB7-FF9B-6094D5E2C5DC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3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09BBEBF1-0390-75D6-A6DE-E905BF10839D}"/>
              </a:ext>
            </a:extLst>
          </p:cNvPr>
          <p:cNvSpPr txBox="1"/>
          <p:nvPr/>
        </p:nvSpPr>
        <p:spPr>
          <a:xfrm>
            <a:off x="838900" y="270436"/>
            <a:ext cx="402966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Understanding VPC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FDCAE4-8998-7E7E-7193-00FCD81B7AC3}"/>
              </a:ext>
            </a:extLst>
          </p:cNvPr>
          <p:cNvSpPr txBox="1"/>
          <p:nvPr/>
        </p:nvSpPr>
        <p:spPr>
          <a:xfrm>
            <a:off x="411060" y="853514"/>
            <a:ext cx="11204157" cy="1928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What is a VPC?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A logically isolated section of AWS where you can launch resources securely.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Provides full control over networking (IP addressing, routing, gateways).</a:t>
            </a:r>
            <a:br>
              <a:rPr lang="en-US" dirty="0"/>
            </a:br>
            <a:endParaRPr lang="en-US" dirty="0"/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Default vs. Custom VPCs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D1A70DB-ECF5-7FBD-8601-38C8C693E7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887113"/>
              </p:ext>
            </p:extLst>
          </p:nvPr>
        </p:nvGraphicFramePr>
        <p:xfrm>
          <a:off x="2032000" y="2781671"/>
          <a:ext cx="8127999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40175150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3039299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1697394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Default VPC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Custom VPC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340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Subnets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Preconfigured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User-defined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381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Internet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Must be manually added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98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Open by 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More customizable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47451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558E083-76F3-248E-915B-2E74054B0BB5}"/>
              </a:ext>
            </a:extLst>
          </p:cNvPr>
          <p:cNvSpPr txBox="1"/>
          <p:nvPr/>
        </p:nvSpPr>
        <p:spPr>
          <a:xfrm>
            <a:off x="411059" y="4268710"/>
            <a:ext cx="11097199" cy="1483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Creating a Custom VPC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Define an IP range using CIDR (e.g., 10.0.0.0/16).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Create subnets (public &amp; private).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Attach route tables and gateways.</a:t>
            </a:r>
          </a:p>
        </p:txBody>
      </p:sp>
    </p:spTree>
    <p:extLst>
      <p:ext uri="{BB962C8B-B14F-4D97-AF65-F5344CB8AC3E}">
        <p14:creationId xmlns:p14="http://schemas.microsoft.com/office/powerpoint/2010/main" val="2786308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6B1780AC-8CF8-6B02-EB74-AE4EDFB2D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0CB5440B-7088-A3BF-1697-3E1360D9C2B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E4976EC7-E7D4-6FD9-3936-1CDB977AE9F0}"/>
              </a:ext>
            </a:extLst>
          </p:cNvPr>
          <p:cNvCxnSpPr>
            <a:cxnSpLocks/>
          </p:cNvCxnSpPr>
          <p:nvPr/>
        </p:nvCxnSpPr>
        <p:spPr>
          <a:xfrm>
            <a:off x="411061" y="746620"/>
            <a:ext cx="5857934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8623C3C3-2880-7DB4-CACD-CDE533C463BA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4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AB7CFF3E-0F14-18DB-ED3F-900EED532B76}"/>
              </a:ext>
            </a:extLst>
          </p:cNvPr>
          <p:cNvSpPr txBox="1"/>
          <p:nvPr/>
        </p:nvSpPr>
        <p:spPr>
          <a:xfrm>
            <a:off x="838899" y="270436"/>
            <a:ext cx="573489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Subnets, Route Tables, and Internet Gateways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D908CB-6773-3FDF-3AF2-91DBBB6851AD}"/>
              </a:ext>
            </a:extLst>
          </p:cNvPr>
          <p:cNvSpPr txBox="1"/>
          <p:nvPr/>
        </p:nvSpPr>
        <p:spPr>
          <a:xfrm>
            <a:off x="411060" y="880568"/>
            <a:ext cx="11080723" cy="2268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Subnet Types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Public Subnets</a:t>
            </a:r>
            <a:r>
              <a:rPr lang="en-US" dirty="0"/>
              <a:t>: Connected to the internet via an </a:t>
            </a:r>
            <a:r>
              <a:rPr lang="en-US" b="1" dirty="0"/>
              <a:t>Internet Gateway (IGW)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Private Subnets</a:t>
            </a:r>
            <a:r>
              <a:rPr lang="en-US" dirty="0"/>
              <a:t>: No direct internet access but can use a </a:t>
            </a:r>
            <a:r>
              <a:rPr lang="en-US" b="1" dirty="0"/>
              <a:t>NAT Gateway</a:t>
            </a:r>
            <a:r>
              <a:rPr lang="en-US" dirty="0"/>
              <a:t> for outbound access.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Route Tables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Defines where network traffic is directed.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Example Route Table: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597CE8E-99FE-F297-9D66-1F0D59FE42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20350"/>
              </p:ext>
            </p:extLst>
          </p:nvPr>
        </p:nvGraphicFramePr>
        <p:xfrm>
          <a:off x="475049" y="3148946"/>
          <a:ext cx="8128000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94865670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421057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Destination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480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0.0.0.0/0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Internet Gateway(for public subnets)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11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10.0.0.0/16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Local(for internal traffic)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34166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E9D99AE-B0F5-5816-95EA-3B753E15133C}"/>
              </a:ext>
            </a:extLst>
          </p:cNvPr>
          <p:cNvSpPr txBox="1"/>
          <p:nvPr/>
        </p:nvSpPr>
        <p:spPr>
          <a:xfrm>
            <a:off x="411060" y="4405755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Setting Up an Internet Gateway: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F32AD0-AC46-754A-CA4F-C353C168DD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838" y="4774555"/>
            <a:ext cx="7772400" cy="74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975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C368BA6B-1624-9A6C-A308-FC24AA199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FF790881-FFD5-E6BE-B097-E0D350F23D6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7DC9303A-D3D1-1835-335A-D9F3CAF8F224}"/>
              </a:ext>
            </a:extLst>
          </p:cNvPr>
          <p:cNvCxnSpPr>
            <a:cxnSpLocks/>
          </p:cNvCxnSpPr>
          <p:nvPr/>
        </p:nvCxnSpPr>
        <p:spPr>
          <a:xfrm>
            <a:off x="411061" y="746620"/>
            <a:ext cx="5042388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6A5E737F-013E-9505-D1D2-7E528FA5E724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5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BD438C01-E932-4218-002F-14F5CA8B67BA}"/>
              </a:ext>
            </a:extLst>
          </p:cNvPr>
          <p:cNvSpPr txBox="1"/>
          <p:nvPr/>
        </p:nvSpPr>
        <p:spPr>
          <a:xfrm>
            <a:off x="838900" y="270436"/>
            <a:ext cx="474635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AWS Load Balancing and Auto-Scaling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B2E200-F590-B0B7-C489-44E582789A5F}"/>
              </a:ext>
            </a:extLst>
          </p:cNvPr>
          <p:cNvSpPr txBox="1"/>
          <p:nvPr/>
        </p:nvSpPr>
        <p:spPr>
          <a:xfrm>
            <a:off x="411060" y="853513"/>
            <a:ext cx="11080723" cy="4022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Elastic Load Balancer (ELB)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Distributes traffic across multiple EC2 instances.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Supports </a:t>
            </a:r>
            <a:r>
              <a:rPr lang="en-US" b="1" dirty="0"/>
              <a:t>Application Load Balancer (ALB)</a:t>
            </a:r>
            <a:r>
              <a:rPr lang="en-US" dirty="0"/>
              <a:t>, </a:t>
            </a:r>
            <a:r>
              <a:rPr lang="en-US" b="1" dirty="0"/>
              <a:t>Network Load Balancer (NLB)</a:t>
            </a:r>
            <a:r>
              <a:rPr lang="en-US" dirty="0"/>
              <a:t>, and </a:t>
            </a:r>
            <a:r>
              <a:rPr lang="en-US" b="1" dirty="0"/>
              <a:t>Classic Load Balancer</a:t>
            </a:r>
            <a:r>
              <a:rPr lang="en-US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Auto Scaling Groups (ASG)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Automatically adjusts the number of instances based on demand.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Works with ELB to ensure high availability.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Configuring an ALB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Create a </a:t>
            </a:r>
            <a:r>
              <a:rPr lang="en-US" b="1" dirty="0"/>
              <a:t>Target Group</a:t>
            </a:r>
            <a:r>
              <a:rPr lang="en-US" dirty="0"/>
              <a:t> (register EC2 instances).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Create an </a:t>
            </a:r>
            <a:r>
              <a:rPr lang="en-US" b="1" dirty="0"/>
              <a:t>Application Load Balancer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Attach the ALB to the </a:t>
            </a:r>
            <a:r>
              <a:rPr lang="en-US" b="1" dirty="0"/>
              <a:t>Auto Scaling Group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Configure health checks and routing rules.</a:t>
            </a:r>
          </a:p>
        </p:txBody>
      </p:sp>
    </p:spTree>
    <p:extLst>
      <p:ext uri="{BB962C8B-B14F-4D97-AF65-F5344CB8AC3E}">
        <p14:creationId xmlns:p14="http://schemas.microsoft.com/office/powerpoint/2010/main" val="2860586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7B016487-8C62-2DF1-308C-BFECB48CB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4F0A8F49-F447-F003-3A5C-B0349CF0534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CBADCAC1-1AB2-FCB5-793E-576CCECDE48B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0918F97B-A6CE-6DE6-33EF-58D5CED61619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6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500253A5-3029-C94F-3BCB-4967E5AC4B6A}"/>
              </a:ext>
            </a:extLst>
          </p:cNvPr>
          <p:cNvSpPr txBox="1"/>
          <p:nvPr/>
        </p:nvSpPr>
        <p:spPr>
          <a:xfrm>
            <a:off x="838900" y="270436"/>
            <a:ext cx="402966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Hands-on Activities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2EF960-3B33-CFD3-EF40-C0016E09BAAD}"/>
              </a:ext>
            </a:extLst>
          </p:cNvPr>
          <p:cNvSpPr txBox="1"/>
          <p:nvPr/>
        </p:nvSpPr>
        <p:spPr>
          <a:xfrm>
            <a:off x="411061" y="966787"/>
            <a:ext cx="11121912" cy="3607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Create a Custom VPC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Define a </a:t>
            </a:r>
            <a:r>
              <a:rPr lang="en-US" b="1" dirty="0"/>
              <a:t>CIDR block</a:t>
            </a:r>
            <a:r>
              <a:rPr lang="en-US" dirty="0"/>
              <a:t>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Create </a:t>
            </a:r>
            <a:r>
              <a:rPr lang="en-US" b="1" dirty="0"/>
              <a:t>public and private subnets</a:t>
            </a:r>
            <a:r>
              <a:rPr lang="en-US" dirty="0"/>
              <a:t>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Attach an </a:t>
            </a:r>
            <a:r>
              <a:rPr lang="en-US" b="1" dirty="0"/>
              <a:t>Internet Gateway</a:t>
            </a:r>
            <a:r>
              <a:rPr lang="en-US" dirty="0"/>
              <a:t> to allow internet access.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Configure Routing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Create a </a:t>
            </a:r>
            <a:r>
              <a:rPr lang="en-US" b="1" dirty="0"/>
              <a:t>Route Table</a:t>
            </a:r>
            <a:r>
              <a:rPr lang="en-US" dirty="0"/>
              <a:t>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Assign subnets and define routes.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Set Up an Application Load Balancer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Launch multiple EC2 instances.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Register instances in a </a:t>
            </a:r>
            <a:r>
              <a:rPr lang="en-US" b="1" dirty="0"/>
              <a:t>Target Group</a:t>
            </a:r>
            <a:r>
              <a:rPr lang="en-US" dirty="0"/>
              <a:t>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Create an </a:t>
            </a:r>
            <a:r>
              <a:rPr lang="en-US" b="1" dirty="0"/>
              <a:t>Application Load Balancer</a:t>
            </a:r>
            <a:r>
              <a:rPr lang="en-US" dirty="0"/>
              <a:t> to distribute traffic.</a:t>
            </a:r>
          </a:p>
        </p:txBody>
      </p:sp>
    </p:spTree>
    <p:extLst>
      <p:ext uri="{BB962C8B-B14F-4D97-AF65-F5344CB8AC3E}">
        <p14:creationId xmlns:p14="http://schemas.microsoft.com/office/powerpoint/2010/main" val="2879385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6B4FA0AB-C858-004C-864C-3BAE2C642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4D360689-E5B3-50FB-CF22-E426E66E8DB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9B8DD76E-C30E-03F8-3914-94834613B191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E51CED84-848D-B0A4-DDDE-DEEA1087226B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7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02DE13D1-ADEC-0D62-CDAC-086F59EA6D0B}"/>
              </a:ext>
            </a:extLst>
          </p:cNvPr>
          <p:cNvSpPr txBox="1"/>
          <p:nvPr/>
        </p:nvSpPr>
        <p:spPr>
          <a:xfrm>
            <a:off x="838900" y="270436"/>
            <a:ext cx="402966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Homework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310776-EFDA-2B13-5554-C872A906ED0E}"/>
              </a:ext>
            </a:extLst>
          </p:cNvPr>
          <p:cNvSpPr txBox="1"/>
          <p:nvPr/>
        </p:nvSpPr>
        <p:spPr>
          <a:xfrm>
            <a:off x="411061" y="918000"/>
            <a:ext cx="11006582" cy="199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VPC Configuration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Create a custom VPC and define public/private subnets.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Set up route tables and an internet gateway.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Load Balancer Setup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Deploy an EC2 instance behind an </a:t>
            </a:r>
            <a:r>
              <a:rPr lang="en-US" b="1" dirty="0"/>
              <a:t>Application Load Balancer</a:t>
            </a:r>
            <a:r>
              <a:rPr lang="en-US" dirty="0"/>
              <a:t>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Configure a </a:t>
            </a:r>
            <a:r>
              <a:rPr lang="en-US" b="1" dirty="0"/>
              <a:t>health check</a:t>
            </a:r>
            <a:r>
              <a:rPr lang="en-US" dirty="0"/>
              <a:t> for the instances.</a:t>
            </a:r>
          </a:p>
        </p:txBody>
      </p:sp>
    </p:spTree>
    <p:extLst>
      <p:ext uri="{BB962C8B-B14F-4D97-AF65-F5344CB8AC3E}">
        <p14:creationId xmlns:p14="http://schemas.microsoft.com/office/powerpoint/2010/main" val="367443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B2EF4175-80FB-49A1-A042-D35D0E8F1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626</Words>
  <Application>Microsoft Macintosh PowerPoint</Application>
  <PresentationFormat>Widescreen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Montserrat</vt:lpstr>
      <vt:lpstr>Montserrat Black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Varsenik</dc:creator>
  <cp:lastModifiedBy>Grigoryan, Grigor (external - Project)</cp:lastModifiedBy>
  <cp:revision>2</cp:revision>
  <dcterms:created xsi:type="dcterms:W3CDTF">2024-08-30T07:18:33Z</dcterms:created>
  <dcterms:modified xsi:type="dcterms:W3CDTF">2025-02-19T12:51:13Z</dcterms:modified>
</cp:coreProperties>
</file>