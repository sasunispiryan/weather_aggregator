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0" r:id="rId11"/>
  </p:sldIdLst>
  <p:sldSz cx="12192000" cy="6858000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  <p:embeddedFont>
      <p:font typeface="Montserrat Black" panose="020F0502020204030204" pitchFamily="34" charset="0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677"/>
  </p:normalViewPr>
  <p:slideViewPr>
    <p:cSldViewPr snapToGrid="0">
      <p:cViewPr varScale="1">
        <p:scale>
          <a:sx n="155" d="100"/>
          <a:sy n="155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A80C8F2-C9EE-1D7B-4771-31F64591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555D7C66-F285-9A99-FAD4-AF84F80A9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93A24010-B8DE-E214-EC2E-754F17C51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0466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36BC788-9087-016A-9061-EFAC0071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D3982CD0-F1EC-A44D-4597-D89551500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A570350-9B5F-ADAB-8B30-B3BA4D1A7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3714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E2D95449-F5A5-473E-6CDB-81A05895D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6BE213CE-B716-A069-A56E-20F491862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AF197CF-9E78-021E-96AC-DA66FD9AB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8926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39E94BF8-3642-F00C-BD52-16A694B7A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A227FF26-D800-BCB1-8913-D3D26C157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7B2CB64-50EC-0C7C-94A5-FA162DFF8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622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67F83464-AB16-2283-09DC-6492AA02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E488135B-9397-1403-00F3-19902D9CB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0000CAC1-44E6-80B5-7BF5-C7F37B153E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4248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523905E-A561-8BC8-3C60-CD7FE76D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3C15374E-8D4C-CB69-8B54-544B895B3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3A066B24-5F69-7D00-4908-C50B57ABC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0140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hyperlink" Target="https://blog.gelin.ru/2018/01/azure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hyperlink" Target="https://www.hackplayers.com/2018/07/arsenal-de-herramientas-de-seguridad-aws.html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logo-marque.com/google-cloud-logo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bkomputer.com/aws-episode-41-understanding-ec2-instance-types-introduction-to-different-ec2-instance-types/" TargetMode="Externa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hyperlink" Target="https://aws.amazon.com/consol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59350" y="1541665"/>
            <a:ext cx="11377515" cy="400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CLOUD COMPUTING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AWS BASICS</a:t>
            </a:r>
            <a:endParaRPr sz="12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2D26C-102F-4B7C-4F95-7F5F8AECEEDF}"/>
              </a:ext>
            </a:extLst>
          </p:cNvPr>
          <p:cNvSpPr txBox="1"/>
          <p:nvPr/>
        </p:nvSpPr>
        <p:spPr>
          <a:xfrm>
            <a:off x="411061" y="853473"/>
            <a:ext cx="11105436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Cloud Computing.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Understanding Cloud Service Models (IaaS, PaaS, SaaS).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Overview of AWS and its Core Services.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Setting Up and Managing EC2 Instances.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Launching and Configuring EC2.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the fundamentals of cloud computing.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about AWS and its key services.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Deploy and configure an EC2 instance.</a:t>
            </a:r>
          </a:p>
        </p:txBody>
      </p:sp>
      <p:pic>
        <p:nvPicPr>
          <p:cNvPr id="12" name="Picture 11" descr="A logo with a smile&#10;&#10;Description automatically generated">
            <a:extLst>
              <a:ext uri="{FF2B5EF4-FFF2-40B4-BE49-F238E27FC236}">
                <a16:creationId xmlns:a16="http://schemas.microsoft.com/office/drawing/2014/main" id="{42B79B48-4F0A-468F-2847-39463BAC6B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083299" y="4823024"/>
            <a:ext cx="1522930" cy="1446014"/>
          </a:xfrm>
          <a:prstGeom prst="rect">
            <a:avLst/>
          </a:prstGeom>
        </p:spPr>
      </p:pic>
      <p:pic>
        <p:nvPicPr>
          <p:cNvPr id="15" name="Picture 14" descr="A blue triangle with white text&#10;&#10;Description automatically generated">
            <a:extLst>
              <a:ext uri="{FF2B5EF4-FFF2-40B4-BE49-F238E27FC236}">
                <a16:creationId xmlns:a16="http://schemas.microsoft.com/office/drawing/2014/main" id="{02AC1F54-C4DD-81E9-D1D9-50B7509580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53223" y="4917381"/>
            <a:ext cx="1905000" cy="1257300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D538B77E-7276-91A6-6FC7-0CFB67BFAE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389412" y="4521364"/>
            <a:ext cx="3655306" cy="2056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6D113B45-5F0D-0880-1207-FEBD35D4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6FA77DE4-0F29-86FC-88FC-FD534926B3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B0C95BAC-ABB0-1AA8-88F6-FD9806DA998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018E9B9-CF9A-DCE3-88EF-844B8462442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2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35FB468B-D7B2-A69C-E957-3945AF574B28}"/>
              </a:ext>
            </a:extLst>
          </p:cNvPr>
          <p:cNvSpPr txBox="1"/>
          <p:nvPr/>
        </p:nvSpPr>
        <p:spPr>
          <a:xfrm>
            <a:off x="838900" y="270436"/>
            <a:ext cx="40955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Cloud Computing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71BC3-4D67-AFB6-17F4-C04D0420722A}"/>
              </a:ext>
            </a:extLst>
          </p:cNvPr>
          <p:cNvSpPr txBox="1"/>
          <p:nvPr/>
        </p:nvSpPr>
        <p:spPr>
          <a:xfrm>
            <a:off x="411060" y="853513"/>
            <a:ext cx="11106269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Cloud Computing?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The delivery of computing services (servers, storage, databases, networking, software) over the internet.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Enables </a:t>
            </a:r>
            <a:r>
              <a:rPr lang="en-US" b="1" dirty="0"/>
              <a:t>on-demand access</a:t>
            </a:r>
            <a:r>
              <a:rPr lang="en-US" dirty="0"/>
              <a:t> to IT resources without owning hardware.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Key features: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Resources can be scaled up or down as needed.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Flexibility</a:t>
            </a:r>
            <a:r>
              <a:rPr lang="en-US" dirty="0"/>
              <a:t>: Pay only for what you use (pay-as-you-go model).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Reliability</a:t>
            </a:r>
            <a:r>
              <a:rPr lang="en-US" dirty="0"/>
              <a:t>: High availability and disaster recovery solutions.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Use Cloud Solutions?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Cost Efficiency</a:t>
            </a:r>
            <a:r>
              <a:rPr lang="en-US" dirty="0"/>
              <a:t>: No upfront infrastructure investment.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High Availability</a:t>
            </a:r>
            <a:r>
              <a:rPr lang="en-US" dirty="0"/>
              <a:t>: Global data centers ensure uptime.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Security</a:t>
            </a:r>
            <a:r>
              <a:rPr lang="en-US" dirty="0"/>
              <a:t>: Advanced security controls and compliance support.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Performance Optimization</a:t>
            </a:r>
            <a:r>
              <a:rPr lang="en-US" dirty="0"/>
              <a:t>: Load balancing and automated scaling.</a:t>
            </a:r>
          </a:p>
        </p:txBody>
      </p:sp>
    </p:spTree>
    <p:extLst>
      <p:ext uri="{BB962C8B-B14F-4D97-AF65-F5344CB8AC3E}">
        <p14:creationId xmlns:p14="http://schemas.microsoft.com/office/powerpoint/2010/main" val="146662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8ABD34B3-59D9-E628-7F57-4C2A5607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9AA012F3-0D8A-0E7A-EF67-233A1C9AA7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6A2DAA95-ACCC-3B33-80DA-D6D1532963E8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3804C119-EA84-0BF1-DD25-6B75E07C7BBB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D2B32974-151C-4E5D-2234-8C2EB1FD9E75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Cloud Service Models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9611D-F415-CE81-E319-63BAF77E67BC}"/>
              </a:ext>
            </a:extLst>
          </p:cNvPr>
          <p:cNvSpPr txBox="1"/>
          <p:nvPr/>
        </p:nvSpPr>
        <p:spPr>
          <a:xfrm>
            <a:off x="411060" y="824219"/>
            <a:ext cx="11106269" cy="434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Infrastructure as a Service (IaaS)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Provides virtualized computing resources over the internet.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Users manage operating systems, applications, and configurations.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Examples</a:t>
            </a:r>
            <a:r>
              <a:rPr lang="en-US" dirty="0"/>
              <a:t>: AWS EC2, Azure Virtual Machines, Google Compute Engine.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Platform as a Service (PaaS)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Provides a development platform that abstracts infrastructure management.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Developers focus on code while the provider manages runtime, databases, and scaling.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Examples</a:t>
            </a:r>
            <a:r>
              <a:rPr lang="en-US" dirty="0"/>
              <a:t>: AWS Elastic Beanstalk, Google App Engine, Heroku.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Software as a Service (SaaS)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Cloud-based software applications accessible via the internet.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Fully managed by the provider, users only consume the service.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Examples</a:t>
            </a:r>
            <a:r>
              <a:rPr lang="en-US" dirty="0"/>
              <a:t>: Google Workspace, Dropbox, Salesforce.</a:t>
            </a:r>
          </a:p>
        </p:txBody>
      </p:sp>
    </p:spTree>
    <p:extLst>
      <p:ext uri="{BB962C8B-B14F-4D97-AF65-F5344CB8AC3E}">
        <p14:creationId xmlns:p14="http://schemas.microsoft.com/office/powerpoint/2010/main" val="4093530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B48184FC-4CC8-5E9C-CC05-97558ACA4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057DAA5A-556C-58DA-0235-4CE2867A98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53429D49-51C2-4AE0-8F0C-6612C63204BC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BF8E344-EA9E-797D-30D0-42553BEA99A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4373CA12-BD31-D630-DD4E-6422690455E8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AWS Core Services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54D13-1F15-4881-71C2-80C372CEEF48}"/>
              </a:ext>
            </a:extLst>
          </p:cNvPr>
          <p:cNvSpPr txBox="1"/>
          <p:nvPr/>
        </p:nvSpPr>
        <p:spPr>
          <a:xfrm>
            <a:off x="411060" y="853473"/>
            <a:ext cx="11095995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AWS?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Amazon Web Services (AWS) is the leading cloud platform providing a vast array of cloud services.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AWS operates across multiple global regions and availability zones.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Core AWS Services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Compute</a:t>
            </a:r>
            <a:r>
              <a:rPr lang="en-US" dirty="0"/>
              <a:t>: EC2 (virtual machines), Lambda (serverless functions), ECS (container management).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Storage</a:t>
            </a:r>
            <a:r>
              <a:rPr lang="en-US" dirty="0"/>
              <a:t>: S3 (object storage), EBS (block storage), Glacier (archival storage).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Networking</a:t>
            </a:r>
            <a:r>
              <a:rPr lang="en-US" dirty="0"/>
              <a:t>: VPC (Virtual Private Cloud), Route 53 (DNS), Elastic Load Balancer.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Databases</a:t>
            </a:r>
            <a:r>
              <a:rPr lang="en-US" dirty="0"/>
              <a:t>: RDS (managed relational databases), DynamoDB (NoSQL), Redshift (data warehouse).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Security &amp; Identity</a:t>
            </a:r>
            <a:r>
              <a:rPr lang="en-US" dirty="0"/>
              <a:t>: IAM (Identity &amp; Access Management), KMS (encryption), AWS Shield (DDoS protection).</a:t>
            </a:r>
          </a:p>
        </p:txBody>
      </p:sp>
    </p:spTree>
    <p:extLst>
      <p:ext uri="{BB962C8B-B14F-4D97-AF65-F5344CB8AC3E}">
        <p14:creationId xmlns:p14="http://schemas.microsoft.com/office/powerpoint/2010/main" val="3384742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FE15B2EB-CADC-4F57-CCA5-C09F58F3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96A07B62-2CA9-FA65-E20B-8525A4047D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AD69C3E4-8FF0-7E98-4A78-4E6E425A4F4D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0BA2975-EE74-897A-9A7F-819AF600FE9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F716508B-19C8-E421-6158-DFDC4F99F971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Amazon EC2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2891D-FDF2-06EC-101A-7D587D87A0C7}"/>
              </a:ext>
            </a:extLst>
          </p:cNvPr>
          <p:cNvSpPr txBox="1"/>
          <p:nvPr/>
        </p:nvSpPr>
        <p:spPr>
          <a:xfrm>
            <a:off x="411060" y="853473"/>
            <a:ext cx="11106269" cy="434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EC2 (Elastic Compute Cloud)?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Virtual servers in the cloud that allow users to run applications.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Provides various instance types optimized for compute, memory, or storage needs.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EC2 Features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Scalability</a:t>
            </a:r>
            <a:r>
              <a:rPr lang="en-US" dirty="0"/>
              <a:t>: Adjust capacity as needed.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Security</a:t>
            </a:r>
            <a:r>
              <a:rPr lang="en-US" dirty="0"/>
              <a:t>: IAM roles, Security Groups, Key Pair authentication.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Storage Options</a:t>
            </a:r>
            <a:r>
              <a:rPr lang="en-US" dirty="0"/>
              <a:t>: EBS (persistent storage), Instance Store (ephemeral storage).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EC2 Pricing Models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On-Demand</a:t>
            </a:r>
            <a:r>
              <a:rPr lang="en-US" dirty="0"/>
              <a:t>: Pay for compute capacity by the second or hour.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Reserved Instances</a:t>
            </a:r>
            <a:r>
              <a:rPr lang="en-US" dirty="0"/>
              <a:t>: Commit for 1-3 years for discounts.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Spot Instances</a:t>
            </a:r>
            <a:r>
              <a:rPr lang="en-US" dirty="0"/>
              <a:t>: Purchase spare capacity at a lower price.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Savings Plans</a:t>
            </a:r>
            <a:r>
              <a:rPr lang="en-US" dirty="0"/>
              <a:t>: Flexible pricing model for long-term usage.</a:t>
            </a:r>
          </a:p>
        </p:txBody>
      </p:sp>
      <p:pic>
        <p:nvPicPr>
          <p:cNvPr id="5" name="Picture 4" descr="A diagram of different types of computer components&#10;&#10;Description automatically generated">
            <a:extLst>
              <a:ext uri="{FF2B5EF4-FFF2-40B4-BE49-F238E27FC236}">
                <a16:creationId xmlns:a16="http://schemas.microsoft.com/office/drawing/2014/main" id="{26D2FE9B-CC6A-6B9C-9721-B074420B2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96000" y="3847018"/>
            <a:ext cx="5168121" cy="270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6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ED0BA979-8296-8784-92D7-8D4288F4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5F094E62-779E-FCC1-B29C-2DE739DE8D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E180F2A2-7493-292D-9DF5-1CC8E1D58AEF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DB1D5C1-4EE3-851D-C3DC-46729DCE07EE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3505F67E-DA7F-FFAE-5D78-10B2DCBD2D47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with AWS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E06F9-B7DA-CA73-8882-220D75CD7E28}"/>
              </a:ext>
            </a:extLst>
          </p:cNvPr>
          <p:cNvSpPr txBox="1"/>
          <p:nvPr/>
        </p:nvSpPr>
        <p:spPr>
          <a:xfrm>
            <a:off x="411061" y="951798"/>
            <a:ext cx="11126818" cy="432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Step 1: Sign into AWS and Navigate to EC2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Go to </a:t>
            </a:r>
            <a:r>
              <a:rPr lang="en-US" dirty="0">
                <a:hlinkClick r:id="rId4"/>
              </a:rPr>
              <a:t>AWS Management Console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Open the EC2 Dashboard.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Step 2: Launch an EC2 Instance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Click </a:t>
            </a:r>
            <a:r>
              <a:rPr lang="en-US" b="1" dirty="0"/>
              <a:t>Launch Instance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Select an </a:t>
            </a:r>
            <a:r>
              <a:rPr lang="en-US" b="1" dirty="0"/>
              <a:t>Amazon Machine Image (AMI)</a:t>
            </a:r>
            <a:r>
              <a:rPr lang="en-US" dirty="0"/>
              <a:t> (e.g., Ubuntu, Amazon Linux).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Choose an </a:t>
            </a:r>
            <a:r>
              <a:rPr lang="en-US" b="1" dirty="0"/>
              <a:t>Instance Type</a:t>
            </a:r>
            <a:r>
              <a:rPr lang="en-US" dirty="0"/>
              <a:t> (e.g., t2.micro for free-tier eligible users).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Configure instance details (networking, IAM roles).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Attach storage (EBS volume, default 8GB for Ubuntu).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Configure Security Groups (Allow SSH, HTTP, HTTPS traffic).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Generate or select an SSH key pair for secure access.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Step 3: Connect to the Instance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B06DD-0E1E-EF26-C262-E4C7FACBFF9D}"/>
              </a:ext>
            </a:extLst>
          </p:cNvPr>
          <p:cNvSpPr txBox="1"/>
          <p:nvPr/>
        </p:nvSpPr>
        <p:spPr>
          <a:xfrm>
            <a:off x="616449" y="5373384"/>
            <a:ext cx="10500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Via SSH: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9B8908-BA42-6A69-DA88-8054C8CF8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49" y="5812930"/>
            <a:ext cx="67310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20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3403763D-9A4F-F7AF-2EF1-147132BD6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93FB83A2-1E94-6180-AB36-0592DC4094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6001C353-B13E-EFFD-5F36-20B5545F5167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6EBA46C-E669-EAF7-8C4B-15098A32F1EE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9390850E-65E1-7A88-3E15-5EDEA17961A1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3DC01-BB19-4158-0184-D7F22510EBB0}"/>
              </a:ext>
            </a:extLst>
          </p:cNvPr>
          <p:cNvSpPr txBox="1"/>
          <p:nvPr/>
        </p:nvSpPr>
        <p:spPr>
          <a:xfrm>
            <a:off x="411061" y="853472"/>
            <a:ext cx="11003528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Launch an EC2 Instance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an AWS account (if not done already).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Launch a t2.micro instance and connect via SSH.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Configure a Web Server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Install and start Nginx or Apache on your instance.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Open necessary ports in the security group.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Look for options to expose your web server to internet</a:t>
            </a:r>
          </a:p>
        </p:txBody>
      </p:sp>
    </p:spTree>
    <p:extLst>
      <p:ext uri="{BB962C8B-B14F-4D97-AF65-F5344CB8AC3E}">
        <p14:creationId xmlns:p14="http://schemas.microsoft.com/office/powerpoint/2010/main" val="107365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799</Words>
  <Application>Microsoft Macintosh PowerPoint</Application>
  <PresentationFormat>Widescreen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 Black</vt:lpstr>
      <vt:lpstr>Calibri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3</cp:revision>
  <dcterms:created xsi:type="dcterms:W3CDTF">2024-08-30T07:18:33Z</dcterms:created>
  <dcterms:modified xsi:type="dcterms:W3CDTF">2025-02-05T11:55:11Z</dcterms:modified>
</cp:coreProperties>
</file>